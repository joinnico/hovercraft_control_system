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3130346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651"/>
                </a:lnTo>
                <a:lnTo>
                  <a:pt x="1919973" y="109651"/>
                </a:lnTo>
                <a:lnTo>
                  <a:pt x="191997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919973" y="3130346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651"/>
                </a:lnTo>
                <a:lnTo>
                  <a:pt x="1919973" y="109651"/>
                </a:lnTo>
                <a:lnTo>
                  <a:pt x="1919973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3839946" y="3130346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651"/>
                </a:lnTo>
                <a:lnTo>
                  <a:pt x="1919973" y="109651"/>
                </a:lnTo>
                <a:lnTo>
                  <a:pt x="191997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66145" y="824101"/>
            <a:ext cx="1633509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98016" y="2290278"/>
            <a:ext cx="3369767" cy="36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667" y="553653"/>
            <a:ext cx="2397125" cy="2233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55751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962" y="492415"/>
            <a:ext cx="4793875" cy="1769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70870" y="3128314"/>
            <a:ext cx="629920" cy="109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54139" y="3128314"/>
            <a:ext cx="812165" cy="109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5782" y="3135783"/>
            <a:ext cx="27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2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23.xml"/><Relationship Id="rId8" Type="http://schemas.openxmlformats.org/officeDocument/2006/relationships/slide" Target="slide19.xml"/><Relationship Id="rId7" Type="http://schemas.openxmlformats.org/officeDocument/2006/relationships/slide" Target="slide13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.xml"/><Relationship Id="rId4" Type="http://schemas.openxmlformats.org/officeDocument/2006/relationships/slide" Target="slide7.xml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6.xml"/><Relationship Id="rId7" Type="http://schemas.openxmlformats.org/officeDocument/2006/relationships/slide" Target="slide7.xml"/><Relationship Id="rId6" Type="http://schemas.openxmlformats.org/officeDocument/2006/relationships/slide" Target="slide8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slide" Target="slide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0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slide" Target="slide1.xml"/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36.png"/><Relationship Id="rId4" Type="http://schemas.openxmlformats.org/officeDocument/2006/relationships/image" Target="../media/image35.jpe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4.png"/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9.png"/><Relationship Id="rId7" Type="http://schemas.openxmlformats.org/officeDocument/2006/relationships/image" Target="../media/image4.png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44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3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14.png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1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34377"/>
            <a:ext cx="5635625" cy="744220"/>
            <a:chOff x="87743" y="634377"/>
            <a:chExt cx="5635625" cy="744220"/>
          </a:xfrm>
        </p:grpSpPr>
        <p:sp>
          <p:nvSpPr>
            <p:cNvPr id="3" name="object 3"/>
            <p:cNvSpPr/>
            <p:nvPr/>
          </p:nvSpPr>
          <p:spPr>
            <a:xfrm>
              <a:off x="87743" y="634377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697634"/>
              <a:ext cx="5584825" cy="680720"/>
            </a:xfrm>
            <a:custGeom>
              <a:avLst/>
              <a:gdLst/>
              <a:ahLst/>
              <a:cxnLst/>
              <a:rect l="l" t="t" r="r" b="b"/>
              <a:pathLst>
                <a:path w="5584825" h="680719">
                  <a:moveTo>
                    <a:pt x="5584580" y="0"/>
                  </a:moveTo>
                  <a:lnTo>
                    <a:pt x="0" y="0"/>
                  </a:lnTo>
                  <a:lnTo>
                    <a:pt x="0" y="680430"/>
                  </a:lnTo>
                  <a:lnTo>
                    <a:pt x="5584580" y="680430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678798"/>
              <a:ext cx="5584825" cy="648970"/>
            </a:xfrm>
            <a:custGeom>
              <a:avLst/>
              <a:gdLst/>
              <a:ahLst/>
              <a:cxnLst/>
              <a:rect l="l" t="t" r="r" b="b"/>
              <a:pathLst>
                <a:path w="5584825" h="648969">
                  <a:moveTo>
                    <a:pt x="5584580" y="0"/>
                  </a:moveTo>
                  <a:lnTo>
                    <a:pt x="0" y="0"/>
                  </a:lnTo>
                  <a:lnTo>
                    <a:pt x="0" y="597666"/>
                  </a:lnTo>
                  <a:lnTo>
                    <a:pt x="4008" y="617390"/>
                  </a:lnTo>
                  <a:lnTo>
                    <a:pt x="14922" y="633543"/>
                  </a:lnTo>
                  <a:lnTo>
                    <a:pt x="31075" y="644458"/>
                  </a:lnTo>
                  <a:lnTo>
                    <a:pt x="50800" y="648466"/>
                  </a:lnTo>
                  <a:lnTo>
                    <a:pt x="5533779" y="648466"/>
                  </a:lnTo>
                  <a:lnTo>
                    <a:pt x="5553504" y="644458"/>
                  </a:lnTo>
                  <a:lnTo>
                    <a:pt x="5569657" y="633543"/>
                  </a:lnTo>
                  <a:lnTo>
                    <a:pt x="5580571" y="617390"/>
                  </a:lnTo>
                  <a:lnTo>
                    <a:pt x="5584580" y="597666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497241" y="701368"/>
            <a:ext cx="2766060" cy="5073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400" dirty="0">
                <a:solidFill>
                  <a:srgbClr val="FFFFFF"/>
                </a:solidFill>
                <a:latin typeface="Gill Sans MT" panose="020B0502020104020203"/>
                <a:cs typeface="Gill Sans MT" panose="020B0502020104020203"/>
              </a:rPr>
              <a:t>RISC-V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智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气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垫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船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4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统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1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1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1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1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6203" y="1551976"/>
            <a:ext cx="1087755" cy="838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云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豪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子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息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工</a:t>
            </a:r>
            <a:r>
              <a:rPr sz="800" spc="-50" dirty="0">
                <a:latin typeface="黑体" panose="02010609060101010101" charset="-122"/>
                <a:cs typeface="黑体" panose="02010609060101010101" charset="-122"/>
              </a:rPr>
              <a:t>程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2026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z="11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1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z="11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5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6118" y="3135783"/>
            <a:ext cx="2393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3898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目</a:t>
            </a:r>
            <a:r>
              <a:rPr sz="14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录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9280" y="809116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203553"/>
            <a:ext cx="160096" cy="1600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597977"/>
            <a:ext cx="160096" cy="1600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992414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781023"/>
            <a:ext cx="1160780" cy="1375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735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3000"/>
              <a:buFont typeface="Trebuchet MS" panose="020B0603020202020204"/>
              <a:buAutoNum type="arabicPlain"/>
              <a:tabLst>
                <a:tab pos="178435" algn="l"/>
              </a:tabLst>
            </a:pP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项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目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背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景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与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意</a:t>
            </a:r>
            <a:r>
              <a:rPr sz="1100" spc="-5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义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AEAF7"/>
              </a:buClr>
              <a:buFont typeface="Trebuchet MS" panose="020B0603020202020204"/>
              <a:buAutoNum type="arabicPlain"/>
            </a:pPr>
            <a:endParaRPr sz="1350">
              <a:latin typeface="黑体" panose="02010609060101010101" charset="-122"/>
              <a:cs typeface="黑体" panose="02010609060101010101" charset="-122"/>
            </a:endParaRPr>
          </a:p>
          <a:p>
            <a:pPr marL="177800" indent="-165735">
              <a:lnSpc>
                <a:spcPct val="100000"/>
              </a:lnSpc>
              <a:buClr>
                <a:srgbClr val="EAEAF7"/>
              </a:buClr>
              <a:buSzPct val="73000"/>
              <a:buFont typeface="Trebuchet MS" panose="020B0603020202020204"/>
              <a:buAutoNum type="arabicPlain"/>
              <a:tabLst>
                <a:tab pos="178435" algn="l"/>
              </a:tabLst>
            </a:pP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系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统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总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体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设</a:t>
            </a:r>
            <a:r>
              <a:rPr sz="1100" spc="-5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计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AEAF7"/>
              </a:buClr>
              <a:buFont typeface="Trebuchet MS" panose="020B0603020202020204"/>
              <a:buAutoNum type="arabicPlain"/>
            </a:pPr>
            <a:endParaRPr sz="1350">
              <a:latin typeface="黑体" panose="02010609060101010101" charset="-122"/>
              <a:cs typeface="黑体" panose="02010609060101010101" charset="-122"/>
            </a:endParaRPr>
          </a:p>
          <a:p>
            <a:pPr marL="177800" indent="-165735">
              <a:lnSpc>
                <a:spcPct val="100000"/>
              </a:lnSpc>
              <a:buClr>
                <a:srgbClr val="EAEAF7"/>
              </a:buClr>
              <a:buSzPct val="73000"/>
              <a:buFont typeface="Trebuchet MS" panose="020B0603020202020204"/>
              <a:buAutoNum type="arabicPlain"/>
              <a:tabLst>
                <a:tab pos="178435" algn="l"/>
              </a:tabLst>
            </a:pP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硬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件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设</a:t>
            </a:r>
            <a:r>
              <a:rPr sz="1100" spc="-5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计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AEAF7"/>
              </a:buClr>
              <a:buFont typeface="Trebuchet MS" panose="020B0603020202020204"/>
              <a:buAutoNum type="arabicPlain"/>
            </a:pPr>
            <a:endParaRPr sz="1350">
              <a:latin typeface="黑体" panose="02010609060101010101" charset="-122"/>
              <a:cs typeface="黑体" panose="02010609060101010101" charset="-122"/>
            </a:endParaRPr>
          </a:p>
          <a:p>
            <a:pPr marL="177800" indent="-165735">
              <a:lnSpc>
                <a:spcPct val="100000"/>
              </a:lnSpc>
              <a:spcBef>
                <a:spcPts val="5"/>
              </a:spcBef>
              <a:buClr>
                <a:srgbClr val="EAEAF7"/>
              </a:buClr>
              <a:buSzPct val="73000"/>
              <a:buFont typeface="Trebuchet MS" panose="020B0603020202020204"/>
              <a:buAutoNum type="arabicPlain"/>
              <a:tabLst>
                <a:tab pos="178435" algn="l"/>
              </a:tabLst>
            </a:pP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软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件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系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统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设</a:t>
            </a:r>
            <a:r>
              <a:rPr sz="1100" spc="-5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计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9280" y="2386838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238617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EAEAF7"/>
                </a:solidFill>
                <a:latin typeface="Trebuchet MS" panose="020B0603020202020204"/>
                <a:cs typeface="Trebuchet MS" panose="020B0603020202020204"/>
              </a:rPr>
              <a:t>5</a:t>
            </a:r>
            <a:endParaRPr sz="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2358744"/>
            <a:ext cx="995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系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统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特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点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与</a:t>
            </a:r>
            <a:r>
              <a:rPr sz="1100" spc="-2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展</a:t>
            </a:r>
            <a:r>
              <a:rPr sz="1100" spc="-50" dirty="0">
                <a:solidFill>
                  <a:srgbClr val="3333B2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望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66118" y="3135783"/>
            <a:ext cx="2393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754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研</a:t>
            </a:r>
            <a:r>
              <a:rPr dirty="0"/>
              <a:t>究</a:t>
            </a:r>
            <a:r>
              <a:rPr dirty="0"/>
              <a:t>背</a:t>
            </a:r>
            <a:r>
              <a:rPr spc="-50" dirty="0"/>
              <a:t>景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943825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153858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363891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3" y="606575"/>
            <a:ext cx="223837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移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发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展：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具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身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成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关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键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境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性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气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垫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展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势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92796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137994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234802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558059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3823" y="1590698"/>
            <a:ext cx="2653665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气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垫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船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点：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两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栖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陆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地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面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0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杂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形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沙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滩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面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沼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泽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摩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性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✗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08897" y="1561280"/>
            <a:ext cx="1450340" cy="154305"/>
            <a:chOff x="3708897" y="1561280"/>
            <a:chExt cx="1450340" cy="154305"/>
          </a:xfrm>
        </p:grpSpPr>
        <p:sp>
          <p:nvSpPr>
            <p:cNvPr id="13" name="object 13"/>
            <p:cNvSpPr/>
            <p:nvPr/>
          </p:nvSpPr>
          <p:spPr>
            <a:xfrm>
              <a:off x="3713977" y="1566360"/>
              <a:ext cx="1440180" cy="144145"/>
            </a:xfrm>
            <a:custGeom>
              <a:avLst/>
              <a:gdLst/>
              <a:ahLst/>
              <a:cxnLst/>
              <a:rect l="l" t="t" r="r" b="b"/>
              <a:pathLst>
                <a:path w="1440179" h="144144">
                  <a:moveTo>
                    <a:pt x="1296020" y="0"/>
                  </a:moveTo>
                  <a:lnTo>
                    <a:pt x="144002" y="0"/>
                  </a:lnTo>
                  <a:lnTo>
                    <a:pt x="0" y="144002"/>
                  </a:lnTo>
                  <a:lnTo>
                    <a:pt x="1440023" y="144002"/>
                  </a:lnTo>
                  <a:lnTo>
                    <a:pt x="129602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13977" y="1566360"/>
              <a:ext cx="1440180" cy="144145"/>
            </a:xfrm>
            <a:custGeom>
              <a:avLst/>
              <a:gdLst/>
              <a:ahLst/>
              <a:cxnLst/>
              <a:rect l="l" t="t" r="r" b="b"/>
              <a:pathLst>
                <a:path w="1440179" h="144144">
                  <a:moveTo>
                    <a:pt x="144002" y="0"/>
                  </a:moveTo>
                  <a:lnTo>
                    <a:pt x="1296020" y="0"/>
                  </a:lnTo>
                  <a:lnTo>
                    <a:pt x="1440023" y="144002"/>
                  </a:lnTo>
                  <a:lnTo>
                    <a:pt x="0" y="144002"/>
                  </a:lnTo>
                  <a:lnTo>
                    <a:pt x="144002" y="0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307459" y="1415508"/>
            <a:ext cx="25336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船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体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11437" y="1707822"/>
            <a:ext cx="1445260" cy="70485"/>
            <a:chOff x="3711437" y="1707822"/>
            <a:chExt cx="1445260" cy="70485"/>
          </a:xfrm>
        </p:grpSpPr>
        <p:sp>
          <p:nvSpPr>
            <p:cNvPr id="17" name="object 17"/>
            <p:cNvSpPr/>
            <p:nvPr/>
          </p:nvSpPr>
          <p:spPr>
            <a:xfrm>
              <a:off x="3713977" y="1710362"/>
              <a:ext cx="1440180" cy="65405"/>
            </a:xfrm>
            <a:custGeom>
              <a:avLst/>
              <a:gdLst/>
              <a:ahLst/>
              <a:cxnLst/>
              <a:rect l="l" t="t" r="r" b="b"/>
              <a:pathLst>
                <a:path w="1440179" h="65405">
                  <a:moveTo>
                    <a:pt x="1440023" y="0"/>
                  </a:moveTo>
                  <a:lnTo>
                    <a:pt x="0" y="0"/>
                  </a:lnTo>
                  <a:lnTo>
                    <a:pt x="4130" y="7847"/>
                  </a:lnTo>
                  <a:lnTo>
                    <a:pt x="61875" y="28350"/>
                  </a:lnTo>
                  <a:lnTo>
                    <a:pt x="132892" y="39488"/>
                  </a:lnTo>
                  <a:lnTo>
                    <a:pt x="176575" y="44298"/>
                  </a:lnTo>
                  <a:lnTo>
                    <a:pt x="225003" y="48601"/>
                  </a:lnTo>
                  <a:lnTo>
                    <a:pt x="277650" y="52398"/>
                  </a:lnTo>
                  <a:lnTo>
                    <a:pt x="333989" y="55688"/>
                  </a:lnTo>
                  <a:lnTo>
                    <a:pt x="393492" y="58473"/>
                  </a:lnTo>
                  <a:lnTo>
                    <a:pt x="455632" y="60751"/>
                  </a:lnTo>
                  <a:lnTo>
                    <a:pt x="519881" y="62523"/>
                  </a:lnTo>
                  <a:lnTo>
                    <a:pt x="585712" y="63789"/>
                  </a:lnTo>
                  <a:lnTo>
                    <a:pt x="652598" y="64548"/>
                  </a:lnTo>
                  <a:lnTo>
                    <a:pt x="720011" y="64801"/>
                  </a:lnTo>
                  <a:lnTo>
                    <a:pt x="787424" y="64548"/>
                  </a:lnTo>
                  <a:lnTo>
                    <a:pt x="854310" y="63789"/>
                  </a:lnTo>
                  <a:lnTo>
                    <a:pt x="920141" y="62523"/>
                  </a:lnTo>
                  <a:lnTo>
                    <a:pt x="984390" y="60751"/>
                  </a:lnTo>
                  <a:lnTo>
                    <a:pt x="1046530" y="58473"/>
                  </a:lnTo>
                  <a:lnTo>
                    <a:pt x="1106033" y="55688"/>
                  </a:lnTo>
                  <a:lnTo>
                    <a:pt x="1162372" y="52398"/>
                  </a:lnTo>
                  <a:lnTo>
                    <a:pt x="1215019" y="48601"/>
                  </a:lnTo>
                  <a:lnTo>
                    <a:pt x="1263447" y="44298"/>
                  </a:lnTo>
                  <a:lnTo>
                    <a:pt x="1307130" y="39488"/>
                  </a:lnTo>
                  <a:lnTo>
                    <a:pt x="1345539" y="34172"/>
                  </a:lnTo>
                  <a:lnTo>
                    <a:pt x="1404426" y="22022"/>
                  </a:lnTo>
                  <a:lnTo>
                    <a:pt x="1440023" y="0"/>
                  </a:lnTo>
                  <a:close/>
                </a:path>
              </a:pathLst>
            </a:custGeom>
            <a:solidFill>
              <a:srgbClr val="FFFA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713977" y="1710362"/>
              <a:ext cx="1440180" cy="65405"/>
            </a:xfrm>
            <a:custGeom>
              <a:avLst/>
              <a:gdLst/>
              <a:ahLst/>
              <a:cxnLst/>
              <a:rect l="l" t="t" r="r" b="b"/>
              <a:pathLst>
                <a:path w="1440179" h="65405">
                  <a:moveTo>
                    <a:pt x="0" y="0"/>
                  </a:moveTo>
                  <a:lnTo>
                    <a:pt x="35596" y="22022"/>
                  </a:lnTo>
                  <a:lnTo>
                    <a:pt x="94483" y="34172"/>
                  </a:lnTo>
                  <a:lnTo>
                    <a:pt x="132892" y="39488"/>
                  </a:lnTo>
                  <a:lnTo>
                    <a:pt x="176575" y="44298"/>
                  </a:lnTo>
                  <a:lnTo>
                    <a:pt x="225003" y="48601"/>
                  </a:lnTo>
                  <a:lnTo>
                    <a:pt x="277650" y="52398"/>
                  </a:lnTo>
                  <a:lnTo>
                    <a:pt x="333989" y="55688"/>
                  </a:lnTo>
                  <a:lnTo>
                    <a:pt x="393492" y="58473"/>
                  </a:lnTo>
                  <a:lnTo>
                    <a:pt x="455632" y="60751"/>
                  </a:lnTo>
                  <a:lnTo>
                    <a:pt x="519881" y="62523"/>
                  </a:lnTo>
                  <a:lnTo>
                    <a:pt x="585712" y="63789"/>
                  </a:lnTo>
                  <a:lnTo>
                    <a:pt x="652598" y="64548"/>
                  </a:lnTo>
                  <a:lnTo>
                    <a:pt x="720011" y="64801"/>
                  </a:lnTo>
                  <a:lnTo>
                    <a:pt x="787424" y="64548"/>
                  </a:lnTo>
                  <a:lnTo>
                    <a:pt x="854310" y="63789"/>
                  </a:lnTo>
                  <a:lnTo>
                    <a:pt x="920141" y="62523"/>
                  </a:lnTo>
                  <a:lnTo>
                    <a:pt x="984390" y="60751"/>
                  </a:lnTo>
                  <a:lnTo>
                    <a:pt x="1046530" y="58473"/>
                  </a:lnTo>
                  <a:lnTo>
                    <a:pt x="1106033" y="55688"/>
                  </a:lnTo>
                  <a:lnTo>
                    <a:pt x="1162372" y="52398"/>
                  </a:lnTo>
                  <a:lnTo>
                    <a:pt x="1215019" y="48601"/>
                  </a:lnTo>
                  <a:lnTo>
                    <a:pt x="1263447" y="44298"/>
                  </a:lnTo>
                  <a:lnTo>
                    <a:pt x="1307130" y="39488"/>
                  </a:lnTo>
                  <a:lnTo>
                    <a:pt x="1345539" y="34172"/>
                  </a:lnTo>
                  <a:lnTo>
                    <a:pt x="1404426" y="22022"/>
                  </a:lnTo>
                  <a:lnTo>
                    <a:pt x="1435892" y="7847"/>
                  </a:lnTo>
                  <a:lnTo>
                    <a:pt x="1440023" y="0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307420" y="1691518"/>
            <a:ext cx="2533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latin typeface="黑体" panose="02010609060101010101" charset="-122"/>
                <a:cs typeface="黑体" panose="02010609060101010101" charset="-122"/>
              </a:rPr>
              <a:t>气</a:t>
            </a:r>
            <a:r>
              <a:rPr sz="600" spc="-10" dirty="0">
                <a:latin typeface="黑体" panose="02010609060101010101" charset="-122"/>
                <a:cs typeface="黑体" panose="02010609060101010101" charset="-122"/>
              </a:rPr>
              <a:t>垫</a:t>
            </a:r>
            <a:r>
              <a:rPr sz="600" spc="-50" dirty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67444" y="1849303"/>
            <a:ext cx="1733550" cy="65405"/>
            <a:chOff x="3567444" y="1849303"/>
            <a:chExt cx="1733550" cy="65405"/>
          </a:xfrm>
        </p:grpSpPr>
        <p:sp>
          <p:nvSpPr>
            <p:cNvPr id="21" name="object 21"/>
            <p:cNvSpPr/>
            <p:nvPr/>
          </p:nvSpPr>
          <p:spPr>
            <a:xfrm>
              <a:off x="3569975" y="1854364"/>
              <a:ext cx="1728470" cy="0"/>
            </a:xfrm>
            <a:custGeom>
              <a:avLst/>
              <a:gdLst/>
              <a:ahLst/>
              <a:cxnLst/>
              <a:rect l="l" t="t" r="r" b="b"/>
              <a:pathLst>
                <a:path w="1728470">
                  <a:moveTo>
                    <a:pt x="0" y="0"/>
                  </a:moveTo>
                  <a:lnTo>
                    <a:pt x="1728028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9975" y="1854364"/>
              <a:ext cx="1728028" cy="575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569975" y="1854364"/>
              <a:ext cx="1728470" cy="57785"/>
            </a:xfrm>
            <a:custGeom>
              <a:avLst/>
              <a:gdLst/>
              <a:ahLst/>
              <a:cxnLst/>
              <a:rect l="l" t="t" r="r" b="b"/>
              <a:pathLst>
                <a:path w="1728470" h="57785">
                  <a:moveTo>
                    <a:pt x="0" y="0"/>
                  </a:moveTo>
                  <a:lnTo>
                    <a:pt x="0" y="57599"/>
                  </a:lnTo>
                  <a:lnTo>
                    <a:pt x="1728028" y="57599"/>
                  </a:lnTo>
                  <a:lnTo>
                    <a:pt x="1728028" y="0"/>
                  </a:lnTo>
                  <a:lnTo>
                    <a:pt x="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3971616" y="1419827"/>
            <a:ext cx="925194" cy="262255"/>
            <a:chOff x="3971616" y="1419827"/>
            <a:chExt cx="925194" cy="262255"/>
          </a:xfrm>
        </p:grpSpPr>
        <p:sp>
          <p:nvSpPr>
            <p:cNvPr id="25" name="object 25"/>
            <p:cNvSpPr/>
            <p:nvPr/>
          </p:nvSpPr>
          <p:spPr>
            <a:xfrm>
              <a:off x="4289986" y="1422358"/>
              <a:ext cx="288290" cy="144145"/>
            </a:xfrm>
            <a:custGeom>
              <a:avLst/>
              <a:gdLst/>
              <a:ahLst/>
              <a:cxnLst/>
              <a:rect l="l" t="t" r="r" b="b"/>
              <a:pathLst>
                <a:path w="288289" h="144144">
                  <a:moveTo>
                    <a:pt x="0" y="144002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89986" y="1422358"/>
              <a:ext cx="288290" cy="144145"/>
            </a:xfrm>
            <a:custGeom>
              <a:avLst/>
              <a:gdLst/>
              <a:ahLst/>
              <a:cxnLst/>
              <a:rect l="l" t="t" r="r" b="b"/>
              <a:pathLst>
                <a:path w="288289" h="144144">
                  <a:moveTo>
                    <a:pt x="0" y="144002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01982" y="150876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975665" y="1652839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289986" y="150876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63669" y="1652839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77991" y="150876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551674" y="1652839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865995" y="150876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39678" y="1652839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269460" y="1288318"/>
            <a:ext cx="3295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latin typeface="黑体" panose="02010609060101010101" charset="-122"/>
                <a:cs typeface="黑体" panose="02010609060101010101" charset="-122"/>
              </a:rPr>
              <a:t>升</a:t>
            </a:r>
            <a:r>
              <a:rPr sz="600" spc="-10" dirty="0"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600" spc="-10" dirty="0">
                <a:latin typeface="黑体" panose="02010609060101010101" charset="-122"/>
                <a:cs typeface="黑体" panose="02010609060101010101" charset="-122"/>
              </a:rPr>
              <a:t>风</a:t>
            </a:r>
            <a:r>
              <a:rPr sz="600" spc="-50" dirty="0">
                <a:latin typeface="黑体" panose="02010609060101010101" charset="-122"/>
                <a:cs typeface="黑体" panose="02010609060101010101" charset="-122"/>
              </a:rPr>
              <a:t>扇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88664" y="2035091"/>
            <a:ext cx="1290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气垫船工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原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意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图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8" name="object 3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6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66118" y="3135783"/>
            <a:ext cx="2393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483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研</a:t>
            </a:r>
            <a:r>
              <a:rPr dirty="0"/>
              <a:t>究</a:t>
            </a:r>
            <a:r>
              <a:rPr dirty="0"/>
              <a:t>意</a:t>
            </a:r>
            <a:r>
              <a:rPr dirty="0"/>
              <a:t>义</a:t>
            </a:r>
            <a:r>
              <a:rPr dirty="0"/>
              <a:t>与</a:t>
            </a:r>
            <a:r>
              <a:rPr dirty="0"/>
              <a:t>创</a:t>
            </a:r>
            <a:r>
              <a:rPr dirty="0"/>
              <a:t>新</a:t>
            </a:r>
            <a:r>
              <a:rPr spc="-50" dirty="0"/>
              <a:t>点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95822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116826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378292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3" y="620963"/>
            <a:ext cx="253174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技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术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意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义：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 algn="just">
              <a:lnSpc>
                <a:spcPct val="12500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证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RISC-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V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探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索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指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令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潜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打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ARM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垄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断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1906358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2116391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232642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2536456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3823" y="1569095"/>
            <a:ext cx="154559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景：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考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运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输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救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援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境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巡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检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两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栖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台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17637" y="1033791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要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新：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5310" y="1297949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039554" y="128501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0570" y="1200045"/>
            <a:ext cx="1981835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国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产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RISC-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V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片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统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案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100" dirty="0">
                <a:latin typeface="Tahoma" panose="020B0604030504040204"/>
                <a:cs typeface="Tahoma" panose="020B0604030504040204"/>
              </a:rPr>
              <a:t>PID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混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策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略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刷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动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姿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算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15310" y="1507982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039554" y="149504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5310" y="1718014"/>
            <a:ext cx="114214" cy="11421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039554" y="170508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5310" y="1928047"/>
            <a:ext cx="114214" cy="11421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039554" y="191511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5310" y="2138079"/>
            <a:ext cx="114214" cy="11421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039554" y="212514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5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电子信</a:t>
            </a:r>
            <a:r>
              <a:rPr spc="-10" dirty="0"/>
              <a:t>息</a:t>
            </a:r>
            <a:r>
              <a:rPr spc="-10" dirty="0"/>
              <a:t>工</a:t>
            </a:r>
            <a:r>
              <a:rPr spc="-20" dirty="0"/>
              <a:t>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5" action="ppaction://hlinksldjump"/>
              </a:rPr>
              <a:t>RISC-V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的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智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能气垫船控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66118" y="3135783"/>
            <a:ext cx="2393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系</a:t>
            </a:r>
            <a:r>
              <a:rPr dirty="0"/>
              <a:t>统</a:t>
            </a:r>
            <a:r>
              <a:rPr dirty="0"/>
              <a:t>需</a:t>
            </a:r>
            <a:r>
              <a:rPr dirty="0"/>
              <a:t>求</a:t>
            </a:r>
            <a:r>
              <a:rPr dirty="0"/>
              <a:t>分</a:t>
            </a:r>
            <a:r>
              <a:rPr spc="-50" dirty="0"/>
              <a:t>析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823" y="592441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求：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836355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740" y="82342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055497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207325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1355112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5740" y="134217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574253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726082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1873856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05740" y="186093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092998"/>
            <a:ext cx="52590" cy="525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244839"/>
            <a:ext cx="52590" cy="525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2392613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05740" y="237969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2611754"/>
            <a:ext cx="52590" cy="525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2763583"/>
            <a:ext cx="52590" cy="5259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60912" y="757148"/>
            <a:ext cx="1753870" cy="20999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制：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55" dirty="0">
                <a:latin typeface="Tahoma" panose="020B0604030504040204"/>
                <a:cs typeface="Tahoma" panose="020B0604030504040204"/>
              </a:rPr>
              <a:t>2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个悬浮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气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垫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支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撑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spc="-55" dirty="0">
                <a:latin typeface="Tahoma" panose="020B0604030504040204"/>
                <a:cs typeface="Tahoma" panose="020B0604030504040204"/>
              </a:rPr>
              <a:t>4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个推进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运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姿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稳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定：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监测倾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斜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角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调节保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持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衡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交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互：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形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化显示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状态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触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屏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参数调整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故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障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诊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断：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监测异常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报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警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与安全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护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8726" y="676325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886358"/>
            <a:ext cx="65265" cy="652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1096391"/>
            <a:ext cx="65265" cy="6526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1306423"/>
            <a:ext cx="65265" cy="6526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917637" y="339074"/>
            <a:ext cx="150241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指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标：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>
              <a:lnSpc>
                <a:spcPct val="12500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周</a:t>
            </a: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期：</a:t>
            </a:r>
            <a:r>
              <a:rPr sz="1100" dirty="0">
                <a:latin typeface="Tahoma" panose="020B0604030504040204"/>
                <a:cs typeface="Tahoma" panose="020B0604030504040204"/>
              </a:rPr>
              <a:t>¡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10ms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姿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度：</a:t>
            </a:r>
            <a:r>
              <a:rPr sz="1100" i="1" spc="-20" dirty="0">
                <a:latin typeface="Century Gothic" panose="020B0502020202020204"/>
                <a:cs typeface="Century Gothic" panose="020B0502020202020204"/>
              </a:rPr>
              <a:t>±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2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度：</a:t>
            </a:r>
            <a:r>
              <a:rPr sz="1100" dirty="0">
                <a:latin typeface="Tahoma" panose="020B0604030504040204"/>
                <a:cs typeface="Tahoma" panose="020B0604030504040204"/>
              </a:rPr>
              <a:t>2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m/s</a:t>
            </a:r>
            <a:r>
              <a:rPr sz="1100" spc="5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续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运</a:t>
            </a: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行：</a:t>
            </a:r>
            <a:r>
              <a:rPr sz="1100" dirty="0">
                <a:latin typeface="Tahoma" panose="020B0604030504040204"/>
                <a:cs typeface="Tahoma" panose="020B0604030504040204"/>
              </a:rPr>
              <a:t>¿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30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min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85753" y="1768129"/>
            <a:ext cx="2423900" cy="108103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778110" y="2889077"/>
            <a:ext cx="1038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框图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9" name="object 2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电子信</a:t>
            </a:r>
            <a:r>
              <a:rPr spc="-10" dirty="0"/>
              <a:t>息</a:t>
            </a:r>
            <a:r>
              <a:rPr spc="-10" dirty="0"/>
              <a:t>工</a:t>
            </a:r>
            <a:r>
              <a:rPr spc="-20" dirty="0"/>
              <a:t>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8" action="ppaction://hlinksldjump"/>
              </a:rPr>
              <a:t>RISC-V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的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智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能气垫船控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66118" y="3135783"/>
            <a:ext cx="2393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整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体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4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构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2222" y="490506"/>
            <a:ext cx="4578447" cy="20419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370" y="2455110"/>
            <a:ext cx="84455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07035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知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像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头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IMU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器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526" y="279236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526" y="3002394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39708" y="2455110"/>
            <a:ext cx="928369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07035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CH32V307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控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FreeRTOS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度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7864" y="2792361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7864" y="3002394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32046" y="2455110"/>
            <a:ext cx="84455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07035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执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浮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统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系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统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0202" y="2792361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0202" y="3002394"/>
            <a:ext cx="65265" cy="6526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60070" y="3161169"/>
            <a:ext cx="554355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压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检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测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79471" y="3161169"/>
            <a:ext cx="277495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spc="-40" dirty="0"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4746" y="3161169"/>
            <a:ext cx="554355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块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6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91518" y="3135783"/>
            <a:ext cx="2139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6</a:t>
            </a:r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600" spc="-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7386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主</a:t>
            </a:r>
            <a:r>
              <a:rPr dirty="0"/>
              <a:t>控</a:t>
            </a:r>
            <a:r>
              <a:rPr dirty="0"/>
              <a:t>制</a:t>
            </a:r>
            <a:r>
              <a:rPr spc="-25" dirty="0"/>
              <a:t>器：</a:t>
            </a:r>
            <a:r>
              <a:rPr spc="-10" dirty="0">
                <a:latin typeface="Gill Sans MT" panose="020B0502020104020203"/>
                <a:cs typeface="Gill Sans MT" panose="020B0502020104020203"/>
              </a:rPr>
              <a:t>CH32V307</a:t>
            </a:r>
            <a:endParaRPr spc="-10" dirty="0">
              <a:latin typeface="Gill Sans MT" panose="020B0502020104020203"/>
              <a:cs typeface="Gill Sans MT" panose="020B0502020104020203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86697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7701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287043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3" y="529714"/>
            <a:ext cx="203327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芯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片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性：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>
              <a:lnSpc>
                <a:spcPct val="125000"/>
              </a:lnSpc>
            </a:pPr>
            <a:r>
              <a:rPr sz="11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RISC-</a:t>
            </a:r>
            <a:r>
              <a:rPr sz="11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V</a:t>
            </a:r>
            <a:r>
              <a:rPr sz="1100" spc="-2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2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青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稞</a:t>
            </a:r>
            <a:r>
              <a:rPr sz="1100" dirty="0">
                <a:latin typeface="Tahoma" panose="020B0604030504040204"/>
                <a:cs typeface="Tahoma" panose="020B0604030504040204"/>
              </a:rPr>
              <a:t>V4F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内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11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144MHz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浮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点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运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算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256KB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Flash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64KB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SRAM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497075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6755" y="1413623"/>
            <a:ext cx="2432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外</a:t>
            </a: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设：</a:t>
            </a:r>
            <a:r>
              <a:rPr sz="1100" dirty="0">
                <a:latin typeface="Tahoma" panose="020B0604030504040204"/>
                <a:cs typeface="Tahoma" panose="020B0604030504040204"/>
              </a:rPr>
              <a:t>8</a:t>
            </a:r>
            <a:r>
              <a:rPr sz="1100" i="1" dirty="0">
                <a:latin typeface="Century Gothic" panose="020B0502020202020204"/>
                <a:cs typeface="Century Gothic" panose="020B0502020202020204"/>
              </a:rPr>
              <a:t>×</a:t>
            </a:r>
            <a:r>
              <a:rPr sz="1100" dirty="0">
                <a:latin typeface="Tahoma" panose="020B0604030504040204"/>
                <a:cs typeface="Tahoma" panose="020B0604030504040204"/>
              </a:rPr>
              <a:t>UART,</a:t>
            </a:r>
            <a:r>
              <a:rPr sz="1100" spc="17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USB2.0,</a:t>
            </a:r>
            <a:r>
              <a:rPr sz="1100" spc="17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千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兆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太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19721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407246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617279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827312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3823" y="1585695"/>
            <a:ext cx="1684020" cy="1350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黑体" panose="02010609060101010101" charset="-122"/>
                <a:cs typeface="黑体" panose="02010609060101010101" charset="-122"/>
              </a:rPr>
              <a:t>网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优势：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源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指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令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控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响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应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耗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计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生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态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0394" y="544504"/>
            <a:ext cx="1454532" cy="74354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745598" y="1317782"/>
            <a:ext cx="1102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65" dirty="0">
                <a:latin typeface="Arial" panose="020B0604020202020204"/>
                <a:cs typeface="Arial" panose="020B0604020202020204"/>
              </a:rPr>
              <a:t>CH32V307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框图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1549" y="1590370"/>
            <a:ext cx="1370596" cy="137059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808857" y="2973570"/>
            <a:ext cx="9766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65" dirty="0">
                <a:latin typeface="Arial" panose="020B0604020202020204"/>
                <a:cs typeface="Arial" panose="020B0604020202020204"/>
                <a:hlinkClick r:id="rId6" action="ppaction://hlinksldjump"/>
              </a:rPr>
              <a:t>CH32V307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物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图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9366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传</a:t>
            </a:r>
            <a:r>
              <a:rPr dirty="0"/>
              <a:t>感</a:t>
            </a:r>
            <a:r>
              <a:rPr dirty="0"/>
              <a:t>器</a:t>
            </a:r>
            <a:r>
              <a:rPr dirty="0"/>
              <a:t>系</a:t>
            </a:r>
            <a:r>
              <a:rPr spc="-50" dirty="0"/>
              <a:t>统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89091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10095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31098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5210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04908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259114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46914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679179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680085" indent="-203200" algn="just">
              <a:lnSpc>
                <a:spcPct val="125000"/>
              </a:lnSpc>
              <a:spcBef>
                <a:spcPts val="100"/>
              </a:spcBef>
              <a:buFont typeface="Gill Sans MT" panose="020B0502020104020203"/>
              <a:buAutoNum type="arabicPeriod"/>
              <a:tabLst>
                <a:tab pos="203200" algn="l"/>
              </a:tabLst>
            </a:pPr>
            <a:r>
              <a:rPr dirty="0"/>
              <a:t>视觉传感器</a:t>
            </a:r>
            <a:r>
              <a:rPr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70" dirty="0">
                <a:latin typeface="Gill Sans MT" panose="020B0502020104020203"/>
                <a:cs typeface="Gill Sans MT" panose="020B0502020104020203"/>
              </a:rPr>
              <a:t>- </a:t>
            </a:r>
            <a:r>
              <a:rPr b="1" spc="-10" dirty="0">
                <a:latin typeface="Gill Sans MT" panose="020B0502020104020203"/>
                <a:cs typeface="Gill Sans MT" panose="020B0502020104020203"/>
              </a:rPr>
              <a:t>MT9V034 </a:t>
            </a:r>
            <a:r>
              <a:rPr spc="-35" dirty="0">
                <a:latin typeface="Tahoma" panose="020B0604030504040204"/>
                <a:cs typeface="Tahoma" panose="020B0604030504040204"/>
              </a:rPr>
              <a:t>752</a:t>
            </a:r>
            <a:r>
              <a:rPr i="1" spc="-35" dirty="0">
                <a:latin typeface="Century Gothic" panose="020B0502020202020204"/>
                <a:cs typeface="Century Gothic" panose="020B0502020202020204"/>
              </a:rPr>
              <a:t>×</a:t>
            </a:r>
            <a:r>
              <a:rPr spc="-35" dirty="0">
                <a:latin typeface="Tahoma" panose="020B0604030504040204"/>
                <a:cs typeface="Tahoma" panose="020B0604030504040204"/>
              </a:rPr>
              <a:t>480</a:t>
            </a:r>
            <a:r>
              <a:rPr spc="-20" dirty="0"/>
              <a:t>分</a:t>
            </a:r>
            <a:r>
              <a:rPr spc="-20" dirty="0"/>
              <a:t>辨</a:t>
            </a:r>
            <a:r>
              <a:rPr spc="-20" dirty="0"/>
              <a:t>率</a:t>
            </a:r>
            <a:r>
              <a:rPr spc="-10" dirty="0"/>
              <a:t>，</a:t>
            </a:r>
            <a:r>
              <a:rPr spc="-10" dirty="0">
                <a:latin typeface="Tahoma" panose="020B0604030504040204"/>
                <a:cs typeface="Tahoma" panose="020B0604030504040204"/>
              </a:rPr>
              <a:t>60fps</a:t>
            </a:r>
            <a:r>
              <a:rPr spc="-20" dirty="0"/>
              <a:t>全</a:t>
            </a:r>
            <a:r>
              <a:rPr spc="-20" dirty="0"/>
              <a:t>局</a:t>
            </a:r>
            <a:r>
              <a:rPr spc="-20" dirty="0"/>
              <a:t>快</a:t>
            </a:r>
            <a:r>
              <a:rPr spc="-20" dirty="0"/>
              <a:t>门</a:t>
            </a:r>
            <a:r>
              <a:rPr spc="-20" dirty="0"/>
              <a:t>，</a:t>
            </a:r>
            <a:r>
              <a:rPr spc="-20" dirty="0"/>
              <a:t>无</a:t>
            </a:r>
            <a:r>
              <a:rPr spc="-20" dirty="0"/>
              <a:t>果</a:t>
            </a:r>
            <a:r>
              <a:rPr spc="-20" dirty="0"/>
              <a:t>冻</a:t>
            </a:r>
            <a:r>
              <a:rPr spc="-20" dirty="0"/>
              <a:t>效</a:t>
            </a:r>
            <a:r>
              <a:rPr spc="-50" dirty="0"/>
              <a:t>应</a:t>
            </a:r>
            <a:r>
              <a:rPr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50" dirty="0">
                <a:latin typeface="Tahoma" panose="020B0604030504040204"/>
                <a:cs typeface="Tahoma" panose="020B0604030504040204"/>
              </a:rPr>
              <a:t>DVP</a:t>
            </a:r>
            <a:r>
              <a:rPr spc="-20" dirty="0"/>
              <a:t>并</a:t>
            </a:r>
            <a:r>
              <a:rPr spc="-20" dirty="0"/>
              <a:t>行</a:t>
            </a:r>
            <a:r>
              <a:rPr spc="-20" dirty="0"/>
              <a:t>接</a:t>
            </a:r>
            <a:r>
              <a:rPr spc="-60" dirty="0"/>
              <a:t>口</a:t>
            </a:r>
            <a:endParaRPr spc="-60" dirty="0"/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实</a:t>
            </a:r>
            <a:r>
              <a:rPr spc="-20" dirty="0"/>
              <a:t>现</a:t>
            </a:r>
            <a:r>
              <a:rPr spc="-20" dirty="0"/>
              <a:t>赛</a:t>
            </a:r>
            <a:r>
              <a:rPr spc="-20" dirty="0"/>
              <a:t>道</a:t>
            </a:r>
            <a:r>
              <a:rPr spc="-20" dirty="0"/>
              <a:t>循</a:t>
            </a:r>
            <a:r>
              <a:rPr spc="-50" dirty="0"/>
              <a:t>迹</a:t>
            </a:r>
            <a:endParaRPr spc="-5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/>
          </a:p>
          <a:p>
            <a:pPr marL="202565" indent="-190500">
              <a:lnSpc>
                <a:spcPct val="100000"/>
              </a:lnSpc>
              <a:buFont typeface="Gill Sans MT" panose="020B0502020104020203"/>
              <a:buAutoNum type="arabicPeriod" startAt="2"/>
              <a:tabLst>
                <a:tab pos="203200" algn="l"/>
              </a:tabLst>
            </a:pPr>
            <a:r>
              <a:rPr dirty="0"/>
              <a:t>惯性测量单元</a:t>
            </a:r>
            <a:r>
              <a:rPr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75" dirty="0">
                <a:latin typeface="Gill Sans MT" panose="020B0502020104020203"/>
                <a:cs typeface="Gill Sans MT" panose="020B0502020104020203"/>
              </a:rPr>
              <a:t>- </a:t>
            </a:r>
            <a:r>
              <a:rPr b="1" dirty="0">
                <a:latin typeface="Gill Sans MT" panose="020B0502020104020203"/>
                <a:cs typeface="Gill Sans MT" panose="020B0502020104020203"/>
              </a:rPr>
              <a:t>ICM-</a:t>
            </a:r>
            <a:r>
              <a:rPr b="1" spc="-10" dirty="0">
                <a:latin typeface="Gill Sans MT" panose="020B0502020104020203"/>
                <a:cs typeface="Gill Sans MT" panose="020B0502020104020203"/>
              </a:rPr>
              <a:t>20602</a:t>
            </a:r>
            <a:endParaRPr b="1" spc="-10" dirty="0">
              <a:latin typeface="Gill Sans MT" panose="020B0502020104020203"/>
              <a:cs typeface="Gill Sans MT" panose="020B0502020104020203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pc="-70" dirty="0">
                <a:latin typeface="Tahoma" panose="020B0604030504040204"/>
                <a:cs typeface="Tahoma" panose="020B0604030504040204"/>
              </a:rPr>
              <a:t>6</a:t>
            </a:r>
            <a:r>
              <a:rPr spc="-20" dirty="0"/>
              <a:t>轴</a:t>
            </a:r>
            <a:r>
              <a:rPr spc="-20" dirty="0">
                <a:latin typeface="Tahoma" panose="020B0604030504040204"/>
                <a:cs typeface="Tahoma" panose="020B0604030504040204"/>
              </a:rPr>
              <a:t>IMU</a:t>
            </a:r>
            <a:r>
              <a:rPr spc="-20" dirty="0"/>
              <a:t>（</a:t>
            </a:r>
            <a:r>
              <a:rPr spc="-20" dirty="0">
                <a:latin typeface="Tahoma" panose="020B0604030504040204"/>
                <a:cs typeface="Tahoma" panose="020B0604030504040204"/>
              </a:rPr>
              <a:t>3</a:t>
            </a:r>
            <a:r>
              <a:rPr spc="-20" dirty="0"/>
              <a:t>轴</a:t>
            </a:r>
            <a:r>
              <a:rPr spc="-20" dirty="0"/>
              <a:t>加</a:t>
            </a:r>
            <a:r>
              <a:rPr spc="-20" dirty="0"/>
              <a:t>速</a:t>
            </a:r>
            <a:r>
              <a:rPr spc="-20" dirty="0"/>
              <a:t>度</a:t>
            </a:r>
            <a:r>
              <a:rPr spc="-10" dirty="0">
                <a:latin typeface="Tahoma" panose="020B0604030504040204"/>
                <a:cs typeface="Tahoma" panose="020B0604030504040204"/>
              </a:rPr>
              <a:t>+3</a:t>
            </a:r>
            <a:r>
              <a:rPr spc="-20" dirty="0"/>
              <a:t>轴</a:t>
            </a:r>
            <a:r>
              <a:rPr spc="-20" dirty="0"/>
              <a:t>陀</a:t>
            </a:r>
            <a:r>
              <a:rPr spc="-20" dirty="0"/>
              <a:t>螺</a:t>
            </a:r>
            <a:r>
              <a:rPr spc="-20" dirty="0"/>
              <a:t>仪</a:t>
            </a:r>
            <a:r>
              <a:rPr spc="-50" dirty="0"/>
              <a:t>）</a:t>
            </a:r>
            <a:endParaRPr spc="-50" dirty="0"/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高</a:t>
            </a:r>
            <a:r>
              <a:rPr spc="-20" dirty="0"/>
              <a:t>速</a:t>
            </a:r>
            <a:r>
              <a:rPr spc="-20" dirty="0">
                <a:latin typeface="Tahoma" panose="020B0604030504040204"/>
                <a:cs typeface="Tahoma" panose="020B0604030504040204"/>
              </a:rPr>
              <a:t>SPI</a:t>
            </a:r>
            <a:r>
              <a:rPr spc="-20" dirty="0"/>
              <a:t>接</a:t>
            </a:r>
            <a:r>
              <a:rPr spc="-20" dirty="0"/>
              <a:t>口</a:t>
            </a:r>
            <a:r>
              <a:rPr spc="-20" dirty="0"/>
              <a:t>（</a:t>
            </a:r>
            <a:r>
              <a:rPr spc="-20" dirty="0"/>
              <a:t>最</a:t>
            </a:r>
            <a:r>
              <a:rPr spc="-20" dirty="0"/>
              <a:t>高</a:t>
            </a:r>
            <a:r>
              <a:rPr spc="-20" dirty="0">
                <a:latin typeface="Tahoma" panose="020B0604030504040204"/>
                <a:cs typeface="Tahoma" panose="020B0604030504040204"/>
              </a:rPr>
              <a:t>7MHz</a:t>
            </a:r>
            <a:r>
              <a:rPr spc="-20" dirty="0"/>
              <a:t>）</a:t>
            </a:r>
            <a:endParaRPr spc="-20" dirty="0"/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pc="-20" dirty="0"/>
              <a:t>可</a:t>
            </a:r>
            <a:r>
              <a:rPr spc="-20" dirty="0"/>
              <a:t>编</a:t>
            </a:r>
            <a:r>
              <a:rPr spc="-20" dirty="0"/>
              <a:t>程</a:t>
            </a:r>
            <a:r>
              <a:rPr spc="-20" dirty="0"/>
              <a:t>量</a:t>
            </a:r>
            <a:r>
              <a:rPr spc="-20" dirty="0"/>
              <a:t>程</a:t>
            </a:r>
            <a:r>
              <a:rPr spc="-20" dirty="0"/>
              <a:t>范</a:t>
            </a:r>
            <a:r>
              <a:rPr spc="-50" dirty="0"/>
              <a:t>围</a:t>
            </a:r>
            <a:endParaRPr spc="-50" dirty="0"/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低</a:t>
            </a:r>
            <a:r>
              <a:rPr spc="-20" dirty="0"/>
              <a:t>功</a:t>
            </a:r>
            <a:r>
              <a:rPr spc="-20" dirty="0"/>
              <a:t>耗</a:t>
            </a:r>
            <a:r>
              <a:rPr spc="-20" dirty="0"/>
              <a:t>设</a:t>
            </a:r>
            <a:r>
              <a:rPr spc="-50" dirty="0"/>
              <a:t>计</a:t>
            </a:r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2917637" y="513929"/>
            <a:ext cx="1157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口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义：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22497" y="95738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923654" y="691680"/>
          <a:ext cx="2030095" cy="1229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0"/>
                <a:gridCol w="954405"/>
                <a:gridCol w="658494"/>
              </a:tblGrid>
              <a:tr h="156845">
                <a:tc>
                  <a:txBody>
                    <a:bodyPr/>
                    <a:lstStyle/>
                    <a:p>
                      <a:pPr marL="7937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黑体" panose="02010609060101010101" charset="-122"/>
                          <a:cs typeface="黑体" panose="02010609060101010101" charset="-122"/>
                        </a:rPr>
                        <a:t>类别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黑体" panose="02010609060101010101" charset="-122"/>
                          <a:cs typeface="黑体" panose="02010609060101010101" charset="-122"/>
                        </a:rPr>
                        <a:t>信号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黑体" panose="02010609060101010101" charset="-122"/>
                          <a:cs typeface="黑体" panose="02010609060101010101" charset="-122"/>
                        </a:rPr>
                        <a:t>功能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79375">
                        <a:lnSpc>
                          <a:spcPts val="1055"/>
                        </a:lnSpc>
                      </a:pPr>
                      <a:r>
                        <a:rPr sz="1000" spc="25" dirty="0">
                          <a:latin typeface="Tahoma" panose="020B0604030504040204"/>
                          <a:cs typeface="Tahoma" panose="020B0604030504040204"/>
                        </a:rPr>
                        <a:t>DVP</a:t>
                      </a:r>
                      <a:endParaRPr sz="10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dirty="0">
                          <a:latin typeface="Tahoma" panose="020B0604030504040204"/>
                          <a:cs typeface="Tahoma" panose="020B0604030504040204"/>
                        </a:rPr>
                        <a:t>PIX</a:t>
                      </a:r>
                      <a:r>
                        <a:rPr sz="1000" spc="105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000" spc="-10" dirty="0">
                          <a:latin typeface="Tahoma" panose="020B0604030504040204"/>
                          <a:cs typeface="Tahoma" panose="020B0604030504040204"/>
                        </a:rPr>
                        <a:t>DATA[7:0]</a:t>
                      </a:r>
                      <a:endParaRPr sz="10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269240" marR="261620" algn="ctr">
                        <a:lnSpc>
                          <a:spcPts val="1200"/>
                        </a:lnSpc>
                        <a:spcBef>
                          <a:spcPts val="35"/>
                        </a:spcBef>
                      </a:pPr>
                      <a:r>
                        <a:rPr sz="1000" spc="40" dirty="0">
                          <a:latin typeface="Tahoma" panose="020B0604030504040204"/>
                          <a:cs typeface="Tahoma" panose="020B0604030504040204"/>
                        </a:rPr>
                        <a:t>PCLK </a:t>
                      </a:r>
                      <a:r>
                        <a:rPr sz="1000" spc="-10" dirty="0">
                          <a:latin typeface="Tahoma" panose="020B0604030504040204"/>
                          <a:cs typeface="Tahoma" panose="020B0604030504040204"/>
                        </a:rPr>
                        <a:t>HSYNC VSYNC</a:t>
                      </a:r>
                      <a:endParaRPr sz="10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15" dirty="0">
                          <a:latin typeface="黑体" panose="02010609060101010101" charset="-122"/>
                          <a:cs typeface="黑体" panose="02010609060101010101" charset="-122"/>
                        </a:rPr>
                        <a:t>像</a:t>
                      </a: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素</a:t>
                      </a: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数</a:t>
                      </a:r>
                      <a:r>
                        <a:rPr sz="10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据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139065" marR="67945" indent="-63500">
                        <a:lnSpc>
                          <a:spcPts val="1200"/>
                        </a:lnSpc>
                        <a:spcBef>
                          <a:spcPts val="35"/>
                        </a:spcBef>
                      </a:pPr>
                      <a:r>
                        <a:rPr sz="1000" spc="-15" dirty="0">
                          <a:latin typeface="黑体" panose="02010609060101010101" charset="-122"/>
                          <a:cs typeface="黑体" panose="02010609060101010101" charset="-122"/>
                        </a:rPr>
                        <a:t>像</a:t>
                      </a: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素</a:t>
                      </a: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时</a:t>
                      </a:r>
                      <a:r>
                        <a:rPr sz="10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钟</a:t>
                      </a: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行</a:t>
                      </a:r>
                      <a:r>
                        <a:rPr sz="1000" spc="-15" dirty="0">
                          <a:latin typeface="黑体" panose="02010609060101010101" charset="-122"/>
                          <a:cs typeface="黑体" panose="02010609060101010101" charset="-122"/>
                        </a:rPr>
                        <a:t>同</a:t>
                      </a:r>
                      <a:r>
                        <a:rPr sz="10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步</a:t>
                      </a: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场</a:t>
                      </a:r>
                      <a:r>
                        <a:rPr sz="1000" spc="-35" dirty="0">
                          <a:latin typeface="黑体" panose="02010609060101010101" charset="-122"/>
                          <a:cs typeface="黑体" panose="02010609060101010101" charset="-122"/>
                        </a:rPr>
                        <a:t>同步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113030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 panose="020B0604030504040204"/>
                          <a:cs typeface="Tahoma" panose="020B0604030504040204"/>
                        </a:rPr>
                        <a:t>SPI</a:t>
                      </a:r>
                      <a:endParaRPr sz="10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 panose="020B0604030504040204"/>
                          <a:cs typeface="Tahoma" panose="020B0604030504040204"/>
                        </a:rPr>
                        <a:t>SCLK</a:t>
                      </a:r>
                      <a:endParaRPr sz="10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219075" marR="211455" algn="ctr">
                        <a:lnSpc>
                          <a:spcPts val="1200"/>
                        </a:lnSpc>
                        <a:spcBef>
                          <a:spcPts val="35"/>
                        </a:spcBef>
                      </a:pPr>
                      <a:r>
                        <a:rPr sz="1000" spc="-10" dirty="0">
                          <a:latin typeface="Tahoma" panose="020B0604030504040204"/>
                          <a:cs typeface="Tahoma" panose="020B0604030504040204"/>
                        </a:rPr>
                        <a:t>SDI/SDO </a:t>
                      </a:r>
                      <a:r>
                        <a:rPr sz="1000" spc="-25" dirty="0">
                          <a:latin typeface="Tahoma" panose="020B0604030504040204"/>
                          <a:cs typeface="Tahoma" panose="020B0604030504040204"/>
                        </a:rPr>
                        <a:t>CS</a:t>
                      </a:r>
                      <a:endParaRPr sz="10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时</a:t>
                      </a:r>
                      <a:r>
                        <a:rPr sz="10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钟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01930">
                        <a:lnSpc>
                          <a:spcPts val="1195"/>
                        </a:lnSpc>
                      </a:pP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数</a:t>
                      </a:r>
                      <a:r>
                        <a:rPr sz="10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据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01930">
                        <a:lnSpc>
                          <a:spcPts val="1200"/>
                        </a:lnSpc>
                      </a:pPr>
                      <a:r>
                        <a:rPr sz="1000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片</a:t>
                      </a:r>
                      <a:r>
                        <a:rPr sz="10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选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8726" y="2308390"/>
            <a:ext cx="65265" cy="6526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2536139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2763888"/>
            <a:ext cx="65265" cy="6526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913481" y="1933302"/>
            <a:ext cx="1088390" cy="9366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b="1" dirty="0">
                <a:latin typeface="Gill Sans MT" panose="020B0502020104020203"/>
                <a:cs typeface="Gill Sans MT" panose="020B0502020104020203"/>
              </a:rPr>
              <a:t>3.</a:t>
            </a:r>
            <a:r>
              <a:rPr sz="1000" b="1" spc="300" dirty="0">
                <a:latin typeface="Gill Sans MT" panose="020B0502020104020203"/>
                <a:cs typeface="Gill Sans MT" panose="020B0502020104020203"/>
              </a:rPr>
              <a:t> 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显示模块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ct val="100000"/>
              </a:lnSpc>
              <a:spcBef>
                <a:spcPts val="590"/>
              </a:spcBef>
            </a:pPr>
            <a:r>
              <a:rPr sz="1000" spc="-50" dirty="0">
                <a:latin typeface="Tahoma" panose="020B0604030504040204"/>
                <a:cs typeface="Tahoma" panose="020B0604030504040204"/>
              </a:rPr>
              <a:t>2.0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70" dirty="0">
                <a:latin typeface="Tahoma" panose="020B0604030504040204"/>
                <a:cs typeface="Tahoma" panose="020B0604030504040204"/>
              </a:rPr>
              <a:t>TFT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彩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屏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ct val="100000"/>
              </a:lnSpc>
              <a:spcBef>
                <a:spcPts val="595"/>
              </a:spcBef>
            </a:pPr>
            <a:r>
              <a:rPr sz="1000" spc="-55" dirty="0">
                <a:latin typeface="Tahoma" panose="020B0604030504040204"/>
                <a:cs typeface="Tahoma" panose="020B0604030504040204"/>
              </a:rPr>
              <a:t>8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接口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ct val="100000"/>
              </a:lnSpc>
              <a:spcBef>
                <a:spcPts val="590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状态显示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6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电</a:t>
            </a:r>
            <a:r>
              <a:rPr dirty="0"/>
              <a:t>机</a:t>
            </a:r>
            <a:r>
              <a:rPr dirty="0"/>
              <a:t>驱</a:t>
            </a:r>
            <a:r>
              <a:rPr dirty="0"/>
              <a:t>动</a:t>
            </a:r>
            <a:r>
              <a:rPr dirty="0"/>
              <a:t>系</a:t>
            </a:r>
            <a:r>
              <a:rPr spc="-50" dirty="0"/>
              <a:t>统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88861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986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30868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51871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72874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938782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823" y="551355"/>
            <a:ext cx="1836420" cy="14960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直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刷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spc="-2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b="1" spc="-25" dirty="0">
                <a:latin typeface="Gill Sans MT" panose="020B0502020104020203"/>
                <a:cs typeface="Gill Sans MT" panose="020B0502020104020203"/>
              </a:rPr>
              <a:t>H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桥</a:t>
            </a:r>
            <a:r>
              <a:rPr sz="1100" spc="-54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3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率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MOSFET</a:t>
            </a:r>
            <a:r>
              <a:rPr sz="11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AON7418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导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40" dirty="0">
                <a:latin typeface="黑体" panose="02010609060101010101" charset="-122"/>
                <a:cs typeface="黑体" panose="02010609060101010101" charset="-122"/>
              </a:rPr>
              <a:t>阻：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1.7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m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ォ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穿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压：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55V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85115" marR="156845">
              <a:lnSpc>
                <a:spcPct val="12500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栅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spc="-40" dirty="0">
                <a:latin typeface="黑体" panose="02010609060101010101" charset="-122"/>
                <a:cs typeface="黑体" panose="02010609060101010101" charset="-122"/>
              </a:rPr>
              <a:t>动：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NCP81155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护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2430843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2640876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3823" y="2093579"/>
            <a:ext cx="168402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应用：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右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功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能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5878" y="1320525"/>
            <a:ext cx="2557642" cy="691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714838" y="2041834"/>
            <a:ext cx="1164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子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框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图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6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483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无</a:t>
            </a:r>
            <a:r>
              <a:rPr dirty="0"/>
              <a:t>刷</a:t>
            </a:r>
            <a:r>
              <a:rPr dirty="0"/>
              <a:t>电</a:t>
            </a:r>
            <a:r>
              <a:rPr dirty="0"/>
              <a:t>机</a:t>
            </a:r>
            <a:r>
              <a:rPr dirty="0"/>
              <a:t>驱</a:t>
            </a:r>
            <a:r>
              <a:rPr dirty="0"/>
              <a:t>动</a:t>
            </a:r>
            <a:r>
              <a:rPr dirty="0"/>
              <a:t>电</a:t>
            </a:r>
            <a:r>
              <a:rPr spc="-50" dirty="0"/>
              <a:t>路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127495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148498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695018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3" y="937689"/>
            <a:ext cx="1936114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芯</a:t>
            </a:r>
            <a:r>
              <a:rPr sz="1100" spc="-25" dirty="0">
                <a:latin typeface="黑体" panose="02010609060101010101" charset="-122"/>
                <a:cs typeface="黑体" panose="02010609060101010101" charset="-122"/>
              </a:rPr>
              <a:t>片：</a:t>
            </a:r>
            <a:r>
              <a:rPr sz="1100" b="1" spc="-10" dirty="0">
                <a:latin typeface="Gill Sans MT" panose="020B0502020104020203"/>
                <a:cs typeface="Gill Sans MT" panose="020B0502020104020203"/>
              </a:rPr>
              <a:t>CH32V203</a:t>
            </a:r>
            <a:endParaRPr sz="1100">
              <a:latin typeface="Gill Sans MT" panose="020B0502020104020203"/>
              <a:cs typeface="Gill Sans MT" panose="020B0502020104020203"/>
            </a:endParaRPr>
          </a:p>
          <a:p>
            <a:pPr marL="285115" marR="5080">
              <a:lnSpc>
                <a:spcPct val="125000"/>
              </a:lnSpc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RISC-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V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100" spc="-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144MHz </a:t>
            </a:r>
            <a:r>
              <a:rPr sz="1100" dirty="0">
                <a:latin typeface="Tahoma" panose="020B0604030504040204"/>
                <a:cs typeface="Tahoma" panose="020B0604030504040204"/>
              </a:rPr>
              <a:t>128KB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Flash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64KB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SRAM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互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补</a:t>
            </a:r>
            <a:r>
              <a:rPr sz="1100" spc="45" dirty="0">
                <a:latin typeface="Tahoma" panose="020B0604030504040204"/>
                <a:cs typeface="Tahoma" panose="020B0604030504040204"/>
              </a:rPr>
              <a:t>PWM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22308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2433116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643149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853182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3823" y="1885820"/>
            <a:ext cx="180721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栅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极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spc="-25" dirty="0">
                <a:latin typeface="黑体" panose="02010609060101010101" charset="-122"/>
                <a:cs typeface="黑体" panose="02010609060101010101" charset="-122"/>
              </a:rPr>
              <a:t>动：</a:t>
            </a:r>
            <a:r>
              <a:rPr sz="1100" b="1" spc="-10" dirty="0">
                <a:latin typeface="Gill Sans MT" panose="020B0502020104020203"/>
                <a:cs typeface="Gill Sans MT" panose="020B0502020104020203"/>
              </a:rPr>
              <a:t>FD6288Q</a:t>
            </a:r>
            <a:endParaRPr sz="1100">
              <a:latin typeface="Gill Sans MT" panose="020B0502020104020203"/>
              <a:cs typeface="Gill Sans MT" panose="020B0502020104020203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半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成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动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>
              <a:lnSpc>
                <a:spcPct val="125000"/>
              </a:lnSpc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1.5A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100" spc="-2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1.8A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内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辑</a:t>
            </a:r>
            <a:r>
              <a:rPr sz="1100" spc="-1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200ns</a:t>
            </a:r>
            <a:r>
              <a:rPr sz="1100" spc="-1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250V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压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1031" y="538307"/>
            <a:ext cx="1749766" cy="7669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45598" y="1319903"/>
            <a:ext cx="1102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65" dirty="0">
                <a:latin typeface="Arial" panose="020B0604020202020204"/>
                <a:cs typeface="Arial" panose="020B0604020202020204"/>
              </a:rPr>
              <a:t>CH32V203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框图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556427"/>
            <a:ext cx="5760085" cy="1684020"/>
            <a:chOff x="0" y="1556427"/>
            <a:chExt cx="5760085" cy="168402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7407" y="1556427"/>
              <a:ext cx="1918970" cy="16835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7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16656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三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逆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变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检</a:t>
            </a:r>
            <a:r>
              <a:rPr sz="14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测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3" y="1174723"/>
            <a:ext cx="1014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三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逆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变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路：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9429" y="1502844"/>
            <a:ext cx="2265501" cy="11460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17637" y="356995"/>
            <a:ext cx="1157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反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检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测：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1851252"/>
            <a:ext cx="5760185" cy="1388949"/>
            <a:chOff x="0" y="1851252"/>
            <a:chExt cx="5760185" cy="138894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5300" y="1851252"/>
              <a:ext cx="1965960" cy="8489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3545" y="631825"/>
            <a:ext cx="1783080" cy="101028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4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4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电</a:t>
            </a:r>
            <a:r>
              <a:rPr dirty="0"/>
              <a:t>源</a:t>
            </a:r>
            <a:r>
              <a:rPr dirty="0"/>
              <a:t>管</a:t>
            </a:r>
            <a:r>
              <a:rPr dirty="0"/>
              <a:t>理</a:t>
            </a:r>
            <a:r>
              <a:rPr dirty="0"/>
              <a:t>系</a:t>
            </a:r>
            <a:r>
              <a:rPr spc="-50" dirty="0"/>
              <a:t>统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93813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1148168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33795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527759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167958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1856701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687" y="2046515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2198344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3823" y="600872"/>
            <a:ext cx="2366010" cy="16910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源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构：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输入：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11.1V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锂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池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latin typeface="Gill Sans MT" panose="020B0502020104020203"/>
                <a:cs typeface="Gill Sans MT" panose="020B0502020104020203"/>
              </a:rPr>
              <a:t>12V</a:t>
            </a:r>
            <a:r>
              <a:rPr sz="1100" spc="-15" dirty="0">
                <a:latin typeface="黑体" panose="02010609060101010101" charset="-122"/>
                <a:cs typeface="黑体" panose="02010609060101010101" charset="-122"/>
              </a:rPr>
              <a:t>输出：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175"/>
              </a:spcBef>
            </a:pPr>
            <a:r>
              <a:rPr sz="1100" b="1" dirty="0">
                <a:latin typeface="Gill Sans MT" panose="020B0502020104020203"/>
                <a:cs typeface="Gill Sans MT" panose="020B0502020104020203"/>
              </a:rPr>
              <a:t>5V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输出：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TPS5430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压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换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56261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芯片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562610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外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195"/>
              </a:spcBef>
            </a:pPr>
            <a:r>
              <a:rPr sz="1100" b="1" dirty="0">
                <a:latin typeface="Gill Sans MT" panose="020B0502020104020203"/>
                <a:cs typeface="Gill Sans MT" panose="020B0502020104020203"/>
              </a:rPr>
              <a:t>3.3V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输出：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RT9013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稳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压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56261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供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电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562610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辑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电路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911" y="2677731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3823" y="2340480"/>
            <a:ext cx="119888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护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功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能：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压</a:t>
            </a:r>
            <a:r>
              <a:rPr sz="1100" spc="120" dirty="0">
                <a:latin typeface="Tahoma" panose="020B0604030504040204"/>
                <a:cs typeface="Tahoma" panose="020B0604030504040204"/>
              </a:rPr>
              <a:t>/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压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护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911" y="2887764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911" y="3097796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56755" y="2760545"/>
            <a:ext cx="57975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限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压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报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警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63265" y="523939"/>
            <a:ext cx="2467279" cy="101417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957345" y="1550713"/>
            <a:ext cx="679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45" dirty="0">
                <a:latin typeface="Arial" panose="020B0604020202020204"/>
                <a:cs typeface="Arial" panose="020B0604020202020204"/>
              </a:rPr>
              <a:t>5V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供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路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63265" y="1823243"/>
            <a:ext cx="2467199" cy="105310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908145" y="2888950"/>
            <a:ext cx="777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40" dirty="0">
                <a:latin typeface="Arial" panose="020B0604020202020204"/>
                <a:cs typeface="Arial" panose="020B0604020202020204"/>
              </a:rPr>
              <a:t>3.3V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供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路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0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10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0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0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0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0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0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0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软</a:t>
            </a:r>
            <a:r>
              <a:rPr dirty="0"/>
              <a:t>件</a:t>
            </a:r>
            <a:r>
              <a:rPr dirty="0"/>
              <a:t>架</a:t>
            </a:r>
            <a:r>
              <a:rPr dirty="0"/>
              <a:t>构</a:t>
            </a:r>
            <a:r>
              <a:rPr dirty="0"/>
              <a:t>设</a:t>
            </a:r>
            <a:r>
              <a:rPr spc="-50" dirty="0"/>
              <a:t>计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0155" y="606623"/>
            <a:ext cx="2531382" cy="17408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0813" y="2396520"/>
            <a:ext cx="784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主控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7637" y="386599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构：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5310" y="630500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39554" y="61756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84964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1001471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153299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5310" y="1301086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39554" y="128815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1520228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1672056"/>
            <a:ext cx="52590" cy="525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1823884"/>
            <a:ext cx="52590" cy="525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5310" y="1971671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039554" y="195873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190813"/>
            <a:ext cx="52590" cy="525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2342641"/>
            <a:ext cx="52590" cy="5259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58502" y="2494470"/>
            <a:ext cx="52590" cy="5259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94726" y="551320"/>
            <a:ext cx="1774189" cy="20364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业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务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逻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辑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9436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觉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别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决</a:t>
            </a:r>
            <a:r>
              <a:rPr sz="1000" spc="-60" dirty="0">
                <a:latin typeface="黑体" panose="02010609060101010101" charset="-122"/>
                <a:cs typeface="黑体" panose="02010609060101010101" charset="-122"/>
              </a:rPr>
              <a:t>策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运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算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户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交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互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界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面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像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处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理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dirty="0">
                <a:latin typeface="Tahoma" panose="020B0604030504040204"/>
                <a:cs typeface="Tahoma" panose="020B0604030504040204"/>
              </a:rPr>
              <a:t>OTSU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二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1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字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波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dirty="0">
                <a:latin typeface="Tahoma" panose="020B0604030504040204"/>
                <a:cs typeface="Tahoma" panose="020B0604030504040204"/>
              </a:rPr>
              <a:t>PID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控制器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84709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驱动</a:t>
            </a:r>
            <a:r>
              <a:rPr sz="1000" spc="-6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口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外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控制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67323" y="2756368"/>
            <a:ext cx="3429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操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25" dirty="0">
                <a:latin typeface="黑体" panose="02010609060101010101" charset="-122"/>
                <a:cs typeface="黑体" panose="02010609060101010101" charset="-122"/>
              </a:rPr>
              <a:t>统：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FreeRTOS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务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确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响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应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7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7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044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>
                <a:latin typeface="Gill Sans MT" panose="020B0502020104020203"/>
                <a:cs typeface="Gill Sans MT" panose="020B0502020104020203"/>
              </a:rPr>
              <a:t>PID</a:t>
            </a:r>
            <a:r>
              <a:rPr dirty="0"/>
              <a:t>控</a:t>
            </a:r>
            <a:r>
              <a:rPr dirty="0"/>
              <a:t>制</a:t>
            </a:r>
            <a:r>
              <a:rPr dirty="0"/>
              <a:t>策</a:t>
            </a:r>
            <a:r>
              <a:rPr spc="-50" dirty="0"/>
              <a:t>略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823" y="389075"/>
            <a:ext cx="1776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100" b="1" spc="15" dirty="0">
                <a:latin typeface="Gill Sans MT" panose="020B0502020104020203"/>
                <a:cs typeface="Gill Sans MT" panose="020B0502020104020203"/>
              </a:rPr>
              <a:t>PI</a:t>
            </a:r>
            <a:r>
              <a:rPr sz="1100" b="1" spc="45" dirty="0">
                <a:latin typeface="Gill Sans MT" panose="020B0502020104020203"/>
                <a:cs typeface="Gill Sans MT" panose="020B0502020104020203"/>
              </a:rPr>
              <a:t>D</a:t>
            </a:r>
            <a:r>
              <a:rPr sz="1100" spc="-50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1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4174" y="703924"/>
            <a:ext cx="2563297" cy="1290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272474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6755" y="2145256"/>
            <a:ext cx="1688464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1100" spc="-30" dirty="0">
                <a:latin typeface="黑体" panose="02010609060101010101" charset="-122"/>
                <a:cs typeface="黑体" panose="02010609060101010101" charset="-122"/>
              </a:rPr>
              <a:t>外环：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角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内</a:t>
            </a: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环：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角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仪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环：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立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48250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692539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17637" y="528090"/>
            <a:ext cx="1919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横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位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100" b="1" spc="15" dirty="0">
                <a:latin typeface="Gill Sans MT" panose="020B0502020104020203"/>
                <a:cs typeface="Gill Sans MT" panose="020B0502020104020203"/>
              </a:rPr>
              <a:t>PI</a:t>
            </a:r>
            <a:r>
              <a:rPr sz="1100" b="1" spc="45" dirty="0">
                <a:latin typeface="Gill Sans MT" panose="020B0502020104020203"/>
                <a:cs typeface="Gill Sans MT" panose="020B0502020104020203"/>
              </a:rPr>
              <a:t>D</a:t>
            </a:r>
            <a:r>
              <a:rPr sz="1100" spc="-50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1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7518" y="862506"/>
            <a:ext cx="2521829" cy="9781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2133460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90570" y="2006242"/>
            <a:ext cx="113411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差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心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力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快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稳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向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2343492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8726" y="2553525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19758" y="2904352"/>
            <a:ext cx="5670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1495" algn="l"/>
              </a:tabLst>
            </a:pPr>
            <a:r>
              <a:rPr sz="700" i="1" spc="-50" dirty="0">
                <a:latin typeface="Arial" panose="020B0604020202020204"/>
                <a:cs typeface="Arial" panose="020B0604020202020204"/>
              </a:rPr>
              <a:t>p</a:t>
            </a:r>
            <a:r>
              <a:rPr sz="700" i="1" dirty="0">
                <a:latin typeface="Arial" panose="020B0604020202020204"/>
                <a:cs typeface="Arial" panose="020B0604020202020204"/>
              </a:rPr>
              <a:t>	</a:t>
            </a:r>
            <a:r>
              <a:rPr sz="700" i="1" spc="-50" dirty="0">
                <a:latin typeface="Arial" panose="020B0604020202020204"/>
                <a:cs typeface="Arial" panose="020B0604020202020204"/>
              </a:rPr>
              <a:t>i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7430" y="2745490"/>
            <a:ext cx="85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90" dirty="0">
                <a:latin typeface="Arial" panose="020B0604020202020204"/>
                <a:cs typeface="Arial" panose="020B0604020202020204"/>
              </a:rPr>
              <a:t> 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1784" y="2814728"/>
            <a:ext cx="596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0" dirty="0">
                <a:latin typeface="Arial" panose="020B0604020202020204"/>
                <a:cs typeface="Arial" panose="020B0604020202020204"/>
              </a:rPr>
              <a:t>t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184" y="2930362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rebuchet MS" panose="020B0603020202020204"/>
                <a:cs typeface="Trebuchet MS" panose="020B0603020202020204"/>
              </a:rPr>
              <a:t>0</a:t>
            </a:r>
            <a:endParaRPr sz="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844" y="2847408"/>
            <a:ext cx="2571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35480" algn="l"/>
              </a:tabLst>
            </a:pPr>
            <a:r>
              <a:rPr sz="1000" dirty="0">
                <a:latin typeface="Tahoma" panose="020B0604030504040204"/>
                <a:cs typeface="Tahoma" panose="020B0604030504040204"/>
              </a:rPr>
              <a:t>PID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律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i="1" dirty="0">
                <a:latin typeface="Arial" panose="020B0604020202020204"/>
                <a:cs typeface="Arial" panose="020B0604020202020204"/>
              </a:rPr>
              <a:t>u</a:t>
            </a:r>
            <a:r>
              <a:rPr sz="1000" dirty="0">
                <a:latin typeface="Tahoma" panose="020B0604030504040204"/>
                <a:cs typeface="Tahoma" panose="020B0604030504040204"/>
              </a:rPr>
              <a:t>(</a:t>
            </a:r>
            <a:r>
              <a:rPr sz="1000" i="1" dirty="0">
                <a:latin typeface="Arial" panose="020B0604020202020204"/>
                <a:cs typeface="Arial" panose="020B0604020202020204"/>
              </a:rPr>
              <a:t>t</a:t>
            </a:r>
            <a:r>
              <a:rPr sz="1000" dirty="0">
                <a:latin typeface="Tahoma" panose="020B0604030504040204"/>
                <a:cs typeface="Tahoma" panose="020B0604030504040204"/>
              </a:rPr>
              <a:t>)</a:t>
            </a:r>
            <a:r>
              <a:rPr sz="100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=</a:t>
            </a:r>
            <a:r>
              <a:rPr sz="100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K</a:t>
            </a:r>
            <a:r>
              <a:rPr sz="1000" i="1" spc="305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e</a:t>
            </a:r>
            <a:r>
              <a:rPr sz="1000" dirty="0">
                <a:latin typeface="Tahoma" panose="020B0604030504040204"/>
                <a:cs typeface="Tahoma" panose="020B0604030504040204"/>
              </a:rPr>
              <a:t>(</a:t>
            </a:r>
            <a:r>
              <a:rPr sz="1000" i="1" dirty="0">
                <a:latin typeface="Arial" panose="020B0604020202020204"/>
                <a:cs typeface="Arial" panose="020B0604020202020204"/>
              </a:rPr>
              <a:t>t</a:t>
            </a:r>
            <a:r>
              <a:rPr sz="1000" dirty="0">
                <a:latin typeface="Tahoma" panose="020B0604030504040204"/>
                <a:cs typeface="Tahoma" panose="020B0604030504040204"/>
              </a:rPr>
              <a:t>)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+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50" dirty="0">
                <a:latin typeface="Arial" panose="020B0604020202020204"/>
                <a:cs typeface="Arial" panose="020B0604020202020204"/>
              </a:rPr>
              <a:t>K</a:t>
            </a:r>
            <a:r>
              <a:rPr sz="1000" i="1" dirty="0">
                <a:latin typeface="Arial" panose="020B0604020202020204"/>
                <a:cs typeface="Arial" panose="020B0604020202020204"/>
              </a:rPr>
              <a:t>	e</a:t>
            </a:r>
            <a:r>
              <a:rPr sz="1000" dirty="0">
                <a:latin typeface="Tahoma" panose="020B0604030504040204"/>
                <a:cs typeface="Tahoma" panose="020B0604030504040204"/>
              </a:rPr>
              <a:t>(</a:t>
            </a:r>
            <a:r>
              <a:rPr sz="1000" i="1" dirty="0">
                <a:latin typeface="Arial" panose="020B0604020202020204"/>
                <a:cs typeface="Arial" panose="020B0604020202020204"/>
              </a:rPr>
              <a:t>τ</a:t>
            </a:r>
            <a:r>
              <a:rPr sz="1000" i="1" spc="-14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)</a:t>
            </a:r>
            <a:r>
              <a:rPr sz="1000" i="1" dirty="0">
                <a:latin typeface="Arial" panose="020B0604020202020204"/>
                <a:cs typeface="Arial" panose="020B0604020202020204"/>
              </a:rPr>
              <a:t>dτ</a:t>
            </a:r>
            <a:r>
              <a:rPr sz="1000" i="1" spc="135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+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50" dirty="0">
                <a:latin typeface="Arial" panose="020B0604020202020204"/>
                <a:cs typeface="Arial" panose="020B0604020202020204"/>
              </a:rPr>
              <a:t>K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71813" y="2904352"/>
            <a:ext cx="74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 panose="020B0604020202020204"/>
                <a:cs typeface="Arial" panose="020B0604020202020204"/>
              </a:rPr>
              <a:t>d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50223" y="2823999"/>
            <a:ext cx="235585" cy="236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3025" marR="5080" indent="-60960">
              <a:lnSpc>
                <a:spcPts val="830"/>
              </a:lnSpc>
              <a:spcBef>
                <a:spcPts val="130"/>
              </a:spcBef>
            </a:pPr>
            <a:r>
              <a:rPr sz="700" i="1" u="sng" spc="-1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de</a:t>
            </a:r>
            <a:r>
              <a:rPr sz="700" u="sng" spc="-1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</a:rPr>
              <a:t>(</a:t>
            </a:r>
            <a:r>
              <a:rPr sz="700" i="1" u="sng" spc="-1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t</a:t>
            </a:r>
            <a:r>
              <a:rPr sz="700" u="sng" spc="-1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</a:rPr>
              <a:t>)</a:t>
            </a:r>
            <a:r>
              <a:rPr sz="700" spc="50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700" i="1" spc="-25" dirty="0">
                <a:latin typeface="Arial" panose="020B0604020202020204"/>
                <a:cs typeface="Arial" panose="020B0604020202020204"/>
              </a:rPr>
              <a:t>dt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8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847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姿</a:t>
            </a:r>
            <a:r>
              <a:rPr dirty="0"/>
              <a:t>态</a:t>
            </a:r>
            <a:r>
              <a:rPr dirty="0"/>
              <a:t>解</a:t>
            </a:r>
            <a:r>
              <a:rPr spc="20" dirty="0"/>
              <a:t>算：</a:t>
            </a:r>
            <a:r>
              <a:rPr dirty="0"/>
              <a:t>卡</a:t>
            </a:r>
            <a:r>
              <a:rPr dirty="0"/>
              <a:t>尔</a:t>
            </a:r>
            <a:r>
              <a:rPr dirty="0"/>
              <a:t>曼</a:t>
            </a:r>
            <a:r>
              <a:rPr dirty="0"/>
              <a:t>滤</a:t>
            </a:r>
            <a:r>
              <a:rPr spc="-50" dirty="0"/>
              <a:t>波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65048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86051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70546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3" y="313217"/>
            <a:ext cx="196088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卡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尔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曼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波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心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想：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据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测</a:t>
            </a:r>
            <a:r>
              <a:rPr sz="1100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30" dirty="0">
                <a:latin typeface="Tahoma" panose="020B0604030504040204"/>
                <a:cs typeface="Tahoma" panose="020B0604030504040204"/>
              </a:rPr>
              <a:t>+ 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两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迭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代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状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态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3" y="1305126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测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骤：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996" y="1698445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6015" y="1616378"/>
            <a:ext cx="1134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93115" algn="l"/>
              </a:tabLst>
            </a:pPr>
            <a:r>
              <a:rPr sz="1100" i="1" spc="-100" dirty="0">
                <a:latin typeface="Arial" panose="020B0604020202020204"/>
                <a:cs typeface="Arial" panose="020B0604020202020204"/>
              </a:rPr>
              <a:t>x</a:t>
            </a:r>
            <a:r>
              <a:rPr sz="1100" spc="-100" dirty="0">
                <a:latin typeface="Tahoma" panose="020B0604030504040204"/>
                <a:cs typeface="Tahoma" panose="020B0604030504040204"/>
              </a:rPr>
              <a:t>ˆ</a:t>
            </a:r>
            <a:r>
              <a:rPr sz="1200" i="1" spc="-150" baseline="31000" dirty="0">
                <a:latin typeface="Arial" panose="020B0604020202020204"/>
                <a:cs typeface="Arial" panose="020B0604020202020204"/>
              </a:rPr>
              <a:t>−</a:t>
            </a:r>
            <a:r>
              <a:rPr sz="1200" i="1" spc="157" baseline="31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Ax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ˆ</a:t>
            </a:r>
            <a:r>
              <a:rPr sz="1100" dirty="0">
                <a:latin typeface="Tahoma" panose="020B0604030504040204"/>
                <a:cs typeface="Tahoma" panose="020B0604030504040204"/>
              </a:rPr>
              <a:t>	+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Bu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1645" y="1676284"/>
            <a:ext cx="7620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0545" algn="l"/>
              </a:tabLst>
            </a:pPr>
            <a:r>
              <a:rPr sz="800" i="1" spc="60" dirty="0">
                <a:latin typeface="Arial" panose="020B0604020202020204"/>
                <a:cs typeface="Arial" panose="020B0604020202020204"/>
              </a:rPr>
              <a:t>k−</a:t>
            </a:r>
            <a:r>
              <a:rPr sz="800" spc="60" dirty="0">
                <a:latin typeface="Trebuchet MS" panose="020B0603020202020204"/>
                <a:cs typeface="Trebuchet MS" panose="020B0603020202020204"/>
              </a:rPr>
              <a:t>1</a:t>
            </a:r>
            <a:r>
              <a:rPr sz="800" dirty="0">
                <a:latin typeface="Trebuchet MS" panose="020B0603020202020204"/>
                <a:cs typeface="Trebuchet MS" panose="020B0603020202020204"/>
              </a:rPr>
              <a:t>	</a:t>
            </a:r>
            <a:r>
              <a:rPr sz="800" i="1" spc="60" dirty="0">
                <a:latin typeface="Arial" panose="020B0604020202020204"/>
                <a:cs typeface="Arial" panose="020B0604020202020204"/>
              </a:rPr>
              <a:t>k−</a:t>
            </a:r>
            <a:r>
              <a:rPr sz="800" spc="60" dirty="0">
                <a:latin typeface="Trebuchet MS" panose="020B0603020202020204"/>
                <a:cs typeface="Trebuchet MS" panose="020B0603020202020204"/>
              </a:rPr>
              <a:t>1</a:t>
            </a:r>
            <a:endParaRPr sz="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296" y="1846108"/>
            <a:ext cx="12934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 panose="020B0604020202020204"/>
                <a:cs typeface="Arial" panose="020B0604020202020204"/>
              </a:rPr>
              <a:t>P</a:t>
            </a:r>
            <a:r>
              <a:rPr sz="1200" i="1" spc="-37" baseline="-2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spc="-37" baseline="31000" dirty="0">
                <a:latin typeface="Arial" panose="020B0604020202020204"/>
                <a:cs typeface="Arial" panose="020B0604020202020204"/>
              </a:rPr>
              <a:t>−</a:t>
            </a:r>
            <a:r>
              <a:rPr sz="1200" i="1" spc="187" baseline="31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45" dirty="0">
                <a:latin typeface="Arial" panose="020B0604020202020204"/>
                <a:cs typeface="Arial" panose="020B0604020202020204"/>
              </a:rPr>
              <a:t>AP</a:t>
            </a:r>
            <a:r>
              <a:rPr sz="1200" i="1" spc="67" baseline="-14000" dirty="0">
                <a:latin typeface="Arial" panose="020B0604020202020204"/>
                <a:cs typeface="Arial" panose="020B0604020202020204"/>
              </a:rPr>
              <a:t>k−</a:t>
            </a:r>
            <a:r>
              <a:rPr sz="1200" spc="67" baseline="-14000" dirty="0">
                <a:latin typeface="Trebuchet MS" panose="020B0603020202020204"/>
                <a:cs typeface="Trebuchet MS" panose="020B0603020202020204"/>
              </a:rPr>
              <a:t>1</a:t>
            </a:r>
            <a:r>
              <a:rPr sz="1100" i="1" spc="45" dirty="0">
                <a:latin typeface="Arial" panose="020B0604020202020204"/>
                <a:cs typeface="Arial" panose="020B0604020202020204"/>
              </a:rPr>
              <a:t>A</a:t>
            </a:r>
            <a:r>
              <a:rPr sz="1200" i="1" spc="67" baseline="31000" dirty="0">
                <a:latin typeface="Arial" panose="020B0604020202020204"/>
                <a:cs typeface="Arial" panose="020B0604020202020204"/>
              </a:rPr>
              <a:t>T</a:t>
            </a:r>
            <a:r>
              <a:rPr sz="1200" i="1" spc="254" baseline="31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Q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23" y="2157360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骤：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5457" y="2468611"/>
            <a:ext cx="1823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spc="345" baseline="-14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P</a:t>
            </a:r>
            <a:r>
              <a:rPr sz="1200" i="1" baseline="-2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baseline="31000" dirty="0">
                <a:latin typeface="Arial" panose="020B0604020202020204"/>
                <a:cs typeface="Arial" panose="020B0604020202020204"/>
              </a:rPr>
              <a:t>−</a:t>
            </a:r>
            <a:r>
              <a:rPr sz="1100" i="1" dirty="0">
                <a:latin typeface="Arial" panose="020B0604020202020204"/>
                <a:cs typeface="Arial" panose="020B0604020202020204"/>
              </a:rPr>
              <a:t>H</a:t>
            </a:r>
            <a:r>
              <a:rPr sz="1200" i="1" baseline="31000" dirty="0">
                <a:latin typeface="Arial" panose="020B0604020202020204"/>
                <a:cs typeface="Arial" panose="020B0604020202020204"/>
              </a:rPr>
              <a:t>T</a:t>
            </a:r>
            <a:r>
              <a:rPr sz="1200" i="1" spc="-82" baseline="31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dirty="0">
                <a:latin typeface="Arial" panose="020B0604020202020204"/>
                <a:cs typeface="Arial" panose="020B0604020202020204"/>
              </a:rPr>
              <a:t>HP</a:t>
            </a:r>
            <a:r>
              <a:rPr sz="1200" i="1" baseline="-2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baseline="31000" dirty="0">
                <a:latin typeface="Arial" panose="020B0604020202020204"/>
                <a:cs typeface="Arial" panose="020B0604020202020204"/>
              </a:rPr>
              <a:t>−</a:t>
            </a:r>
            <a:r>
              <a:rPr sz="1100" i="1" dirty="0">
                <a:latin typeface="Arial" panose="020B0604020202020204"/>
                <a:cs typeface="Arial" panose="020B0604020202020204"/>
              </a:rPr>
              <a:t>H</a:t>
            </a:r>
            <a:r>
              <a:rPr sz="1200" i="1" baseline="31000" dirty="0">
                <a:latin typeface="Arial" panose="020B0604020202020204"/>
                <a:cs typeface="Arial" panose="020B0604020202020204"/>
              </a:rPr>
              <a:t>T</a:t>
            </a:r>
            <a:r>
              <a:rPr sz="1200" i="1" spc="322" baseline="31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R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)</a:t>
            </a:r>
            <a:r>
              <a:rPr sz="1200" i="1" spc="-30" baseline="31000" dirty="0">
                <a:latin typeface="Arial" panose="020B0604020202020204"/>
                <a:cs typeface="Arial" panose="020B0604020202020204"/>
              </a:rPr>
              <a:t>−</a:t>
            </a:r>
            <a:r>
              <a:rPr sz="1200" spc="-30" baseline="31000" dirty="0">
                <a:latin typeface="Trebuchet MS" panose="020B0603020202020204"/>
                <a:cs typeface="Trebuchet MS" panose="020B0603020202020204"/>
              </a:rPr>
              <a:t>1</a:t>
            </a:r>
            <a:endParaRPr sz="1200" baseline="31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7059" y="2738550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2908" y="2760711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1132" y="2738550"/>
            <a:ext cx="259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3675" algn="l"/>
              </a:tabLst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r>
              <a:rPr sz="800" i="1" dirty="0">
                <a:latin typeface="Arial" panose="020B0604020202020204"/>
                <a:cs typeface="Arial" panose="020B0604020202020204"/>
              </a:rPr>
              <a:t>	</a:t>
            </a: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5621" y="2657702"/>
            <a:ext cx="10687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71550" algn="l"/>
              </a:tabLst>
            </a:pPr>
            <a:r>
              <a:rPr sz="800" i="1" spc="135" dirty="0">
                <a:latin typeface="Arial" panose="020B0604020202020204"/>
                <a:cs typeface="Arial" panose="020B0604020202020204"/>
              </a:rPr>
              <a:t>−</a:t>
            </a:r>
            <a:r>
              <a:rPr sz="800" i="1" dirty="0">
                <a:latin typeface="Arial" panose="020B0604020202020204"/>
                <a:cs typeface="Arial" panose="020B0604020202020204"/>
              </a:rPr>
              <a:t>	</a:t>
            </a:r>
            <a:r>
              <a:rPr sz="800" i="1" spc="135" dirty="0">
                <a:latin typeface="Arial" panose="020B0604020202020204"/>
                <a:cs typeface="Arial" panose="020B0604020202020204"/>
              </a:rPr>
              <a:t>−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82292" y="2760711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178" y="2678644"/>
            <a:ext cx="1521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75" dirty="0">
                <a:latin typeface="Arial" panose="020B0604020202020204"/>
                <a:cs typeface="Arial" panose="020B0604020202020204"/>
              </a:rPr>
              <a:t>x</a:t>
            </a:r>
            <a:r>
              <a:rPr sz="1100" spc="-275" dirty="0">
                <a:latin typeface="Tahoma" panose="020B0604030504040204"/>
                <a:cs typeface="Tahoma" panose="020B0604030504040204"/>
              </a:rPr>
              <a:t>ˆ</a:t>
            </a:r>
            <a:r>
              <a:rPr sz="1100" spc="3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75" dirty="0">
                <a:latin typeface="Arial" panose="020B0604020202020204"/>
                <a:cs typeface="Arial" panose="020B0604020202020204"/>
              </a:rPr>
              <a:t>x</a:t>
            </a:r>
            <a:r>
              <a:rPr sz="1100" spc="-275" dirty="0">
                <a:latin typeface="Tahoma" panose="020B0604030504040204"/>
                <a:cs typeface="Tahoma" panose="020B0604030504040204"/>
              </a:rPr>
              <a:t>ˆ</a:t>
            </a:r>
            <a:r>
              <a:rPr sz="1100" spc="100" dirty="0">
                <a:latin typeface="Tahoma" panose="020B0604030504040204"/>
                <a:cs typeface="Tahoma" panose="020B0604030504040204"/>
              </a:rPr>
              <a:t> 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K</a:t>
            </a:r>
            <a:r>
              <a:rPr sz="1100" i="1" spc="2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dirty="0">
                <a:latin typeface="Arial" panose="020B0604020202020204"/>
                <a:cs typeface="Arial" panose="020B0604020202020204"/>
              </a:rPr>
              <a:t>z</a:t>
            </a:r>
            <a:r>
              <a:rPr sz="1100" i="1" spc="43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180" dirty="0">
                <a:latin typeface="Century Gothic" panose="020B0502020202020204"/>
                <a:cs typeface="Century Gothic" panose="020B0502020202020204"/>
              </a:rPr>
              <a:t>−</a:t>
            </a:r>
            <a:r>
              <a:rPr sz="1100" i="1" spc="-7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100" i="1" spc="130" dirty="0">
                <a:latin typeface="Arial" panose="020B0604020202020204"/>
                <a:cs typeface="Arial" panose="020B0604020202020204"/>
              </a:rPr>
              <a:t>H</a:t>
            </a:r>
            <a:r>
              <a:rPr sz="1100" i="1" spc="-434" dirty="0">
                <a:latin typeface="Arial" panose="020B0604020202020204"/>
                <a:cs typeface="Arial" panose="020B0604020202020204"/>
              </a:rPr>
              <a:t>x</a:t>
            </a:r>
            <a:r>
              <a:rPr sz="1100" spc="45" dirty="0">
                <a:latin typeface="Tahoma" panose="020B0604030504040204"/>
                <a:cs typeface="Tahoma" panose="020B0604030504040204"/>
              </a:rPr>
              <a:t>ˆ</a:t>
            </a:r>
            <a:r>
              <a:rPr sz="1100" spc="3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3153" y="2888677"/>
            <a:ext cx="1207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 panose="020B0604020202020204"/>
                <a:cs typeface="Arial" panose="020B0604020202020204"/>
              </a:rPr>
              <a:t>P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spc="300" baseline="-14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dirty="0">
                <a:latin typeface="Arial" panose="020B0604020202020204"/>
                <a:cs typeface="Arial" panose="020B0604020202020204"/>
              </a:rPr>
              <a:t>I</a:t>
            </a:r>
            <a:r>
              <a:rPr sz="1100" i="1" spc="9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180" dirty="0">
                <a:latin typeface="Century Gothic" panose="020B0502020202020204"/>
                <a:cs typeface="Century Gothic" panose="020B0502020202020204"/>
              </a:rPr>
              <a:t>−</a:t>
            </a:r>
            <a:r>
              <a:rPr sz="1100" i="1" spc="-6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spc="-157" baseline="-14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H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)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P</a:t>
            </a:r>
            <a:r>
              <a:rPr sz="1200" i="1" spc="-30" baseline="-2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spc="-30" baseline="31000" dirty="0">
                <a:latin typeface="Arial" panose="020B0604020202020204"/>
                <a:cs typeface="Arial" panose="020B0604020202020204"/>
              </a:rPr>
              <a:t>−</a:t>
            </a:r>
            <a:endParaRPr sz="1200" baseline="3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91805" y="699387"/>
            <a:ext cx="1323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型：</a:t>
            </a:r>
            <a:r>
              <a:rPr sz="11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42675" y="613129"/>
            <a:ext cx="90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90" dirty="0">
                <a:latin typeface="Arial" panose="020B0604020202020204"/>
                <a:cs typeface="Arial" panose="020B0604020202020204"/>
              </a:rPr>
              <a:t>θ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76076" y="785201"/>
            <a:ext cx="218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 panose="020B0604020202020204"/>
                <a:cs typeface="Arial" panose="020B0604020202020204"/>
              </a:rPr>
              <a:t>ω</a:t>
            </a:r>
            <a:r>
              <a:rPr sz="1200" i="1" spc="-37" baseline="-14000" dirty="0">
                <a:latin typeface="Arial" panose="020B0604020202020204"/>
                <a:cs typeface="Arial" panose="020B0604020202020204"/>
              </a:rPr>
              <a:t>b</a:t>
            </a:r>
            <a:endParaRPr sz="1200" baseline="-1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28349" y="504036"/>
            <a:ext cx="32321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36220" algn="l"/>
              </a:tabLst>
            </a:pPr>
            <a:r>
              <a:rPr sz="1100" dirty="0">
                <a:latin typeface="Arial" panose="020B0604020202020204"/>
                <a:cs typeface="Arial" panose="020B0604020202020204"/>
              </a:rPr>
              <a:t>	 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2894" y="1081722"/>
            <a:ext cx="65265" cy="6526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439337" y="954491"/>
            <a:ext cx="105918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000"/>
              </a:lnSpc>
              <a:spcBef>
                <a:spcPts val="100"/>
              </a:spcBef>
            </a:pPr>
            <a:r>
              <a:rPr sz="1100" i="1" spc="-45" dirty="0">
                <a:latin typeface="Arial" panose="020B0604020202020204"/>
                <a:cs typeface="Arial" panose="020B0604020202020204"/>
              </a:rPr>
              <a:t>θ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角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ω</a:t>
            </a:r>
            <a:r>
              <a:rPr sz="1200" i="1" spc="-75" baseline="-14000" dirty="0">
                <a:latin typeface="Arial" panose="020B0604020202020204"/>
                <a:cs typeface="Arial" panose="020B0604020202020204"/>
              </a:rPr>
              <a:t>b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漂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移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2894" y="1291755"/>
            <a:ext cx="65265" cy="6526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2894" y="1819821"/>
            <a:ext cx="65265" cy="6526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2894" y="2029853"/>
            <a:ext cx="65265" cy="6526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2894" y="2239886"/>
            <a:ext cx="65265" cy="6526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2894" y="2449918"/>
            <a:ext cx="65265" cy="6526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191805" y="1482557"/>
            <a:ext cx="126873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35" dirty="0">
                <a:latin typeface="黑体" panose="02010609060101010101" charset="-122"/>
                <a:cs typeface="黑体" panose="02010609060101010101" charset="-122"/>
              </a:rPr>
              <a:t>优势：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 algn="just">
              <a:lnSpc>
                <a:spcPct val="12500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噪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偿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漂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姿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算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杂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62249" y="2660832"/>
            <a:ext cx="5880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流程：</a:t>
            </a:r>
            <a:r>
              <a:rPr sz="10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i="1" spc="-285" dirty="0">
                <a:latin typeface="Arial" panose="020B0604020202020204"/>
                <a:cs typeface="Arial" panose="020B0604020202020204"/>
              </a:rPr>
              <a:t>X</a:t>
            </a:r>
            <a:r>
              <a:rPr sz="1500" spc="-427" baseline="14000" dirty="0">
                <a:latin typeface="Tahoma" panose="020B0604030504040204"/>
                <a:cs typeface="Tahoma" panose="020B0604030504040204"/>
              </a:rPr>
              <a:t>ˆ</a:t>
            </a:r>
            <a:endParaRPr sz="1500" baseline="14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90326" y="2629197"/>
            <a:ext cx="166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427" baseline="-14000" dirty="0">
                <a:latin typeface="Arial" panose="020B0604020202020204"/>
                <a:cs typeface="Arial" panose="020B0604020202020204"/>
              </a:rPr>
              <a:t>X</a:t>
            </a:r>
            <a:r>
              <a:rPr sz="1000" spc="-285" dirty="0">
                <a:latin typeface="Tahoma" panose="020B0604030504040204"/>
                <a:cs typeface="Tahoma" panose="020B0604030504040204"/>
              </a:rPr>
              <a:t>ˆ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98721" y="2627060"/>
            <a:ext cx="920750" cy="211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215">
              <a:lnSpc>
                <a:spcPts val="550"/>
              </a:lnSpc>
              <a:spcBef>
                <a:spcPts val="95"/>
              </a:spcBef>
            </a:pPr>
            <a:r>
              <a:rPr sz="700" i="1" spc="45" dirty="0">
                <a:latin typeface="Arial" panose="020B0604020202020204"/>
                <a:cs typeface="Arial" panose="020B0604020202020204"/>
              </a:rPr>
              <a:t>K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ts val="910"/>
              </a:lnSpc>
              <a:tabLst>
                <a:tab pos="617855" algn="l"/>
              </a:tabLst>
            </a:pPr>
            <a:r>
              <a:rPr sz="1000" i="1" spc="-25" dirty="0">
                <a:latin typeface="Century Gothic" panose="020B0502020202020204"/>
                <a:cs typeface="Century Gothic" panose="020B0502020202020204"/>
              </a:rPr>
              <a:t>−→</a:t>
            </a:r>
            <a:r>
              <a:rPr sz="1000" i="1" dirty="0">
                <a:latin typeface="Century Gothic" panose="020B0502020202020204"/>
                <a:cs typeface="Century Gothic" panose="020B0502020202020204"/>
              </a:rPr>
              <a:t>	</a:t>
            </a:r>
            <a:r>
              <a:rPr sz="1000" i="1" spc="-935" dirty="0">
                <a:latin typeface="Century Gothic" panose="020B0502020202020204"/>
                <a:cs typeface="Century Gothic" panose="020B0502020202020204"/>
              </a:rPr>
              <a:t>→</a:t>
            </a:r>
            <a:r>
              <a:rPr sz="1000" i="1" spc="80" dirty="0">
                <a:latin typeface="Century Gothic" panose="020B0502020202020204"/>
                <a:cs typeface="Century Gothic" panose="020B0502020202020204"/>
              </a:rPr>
              <a:t>−</a:t>
            </a:r>
            <a:r>
              <a:rPr sz="1000" i="1" spc="23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000" i="1" spc="-285" dirty="0">
                <a:latin typeface="Arial" panose="020B0604020202020204"/>
                <a:cs typeface="Arial" panose="020B0604020202020204"/>
              </a:rPr>
              <a:t>X</a:t>
            </a:r>
            <a:r>
              <a:rPr sz="1500" spc="-427" baseline="14000" dirty="0">
                <a:latin typeface="Tahoma" panose="020B0604030504040204"/>
                <a:cs typeface="Tahoma" panose="020B0604030504040204"/>
              </a:rPr>
              <a:t>ˆ</a:t>
            </a:r>
            <a:endParaRPr sz="1500" baseline="14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3744" y="2721637"/>
            <a:ext cx="14116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8820" algn="l"/>
                <a:tab pos="1268730" algn="l"/>
              </a:tabLst>
            </a:pPr>
            <a:r>
              <a:rPr sz="700" i="1" spc="75" dirty="0">
                <a:latin typeface="Arial" panose="020B0604020202020204"/>
                <a:cs typeface="Arial" panose="020B0604020202020204"/>
              </a:rPr>
              <a:t>k</a:t>
            </a:r>
            <a:r>
              <a:rPr sz="700" i="1" spc="75" dirty="0">
                <a:latin typeface="Constantia" panose="02030602050306030303"/>
                <a:cs typeface="Constantia" panose="02030602050306030303"/>
              </a:rPr>
              <a:t>−</a:t>
            </a:r>
            <a:r>
              <a:rPr sz="700" spc="75" dirty="0">
                <a:latin typeface="Trebuchet MS" panose="020B0603020202020204"/>
                <a:cs typeface="Trebuchet MS" panose="020B0603020202020204"/>
              </a:rPr>
              <a:t>1</a:t>
            </a:r>
            <a:r>
              <a:rPr sz="700" i="1" spc="75" dirty="0">
                <a:latin typeface="Constantia" panose="02030602050306030303"/>
                <a:cs typeface="Constantia" panose="02030602050306030303"/>
              </a:rPr>
              <a:t>|</a:t>
            </a:r>
            <a:r>
              <a:rPr sz="700" i="1" spc="75" dirty="0">
                <a:latin typeface="Arial" panose="020B0604020202020204"/>
                <a:cs typeface="Arial" panose="020B0604020202020204"/>
              </a:rPr>
              <a:t>k</a:t>
            </a:r>
            <a:r>
              <a:rPr sz="700" i="1" spc="75" dirty="0">
                <a:latin typeface="Constantia" panose="02030602050306030303"/>
                <a:cs typeface="Constantia" panose="02030602050306030303"/>
              </a:rPr>
              <a:t>−</a:t>
            </a:r>
            <a:r>
              <a:rPr sz="700" spc="75" dirty="0">
                <a:latin typeface="Trebuchet MS" panose="020B0603020202020204"/>
                <a:cs typeface="Trebuchet MS" panose="020B0603020202020204"/>
              </a:rPr>
              <a:t>1</a:t>
            </a:r>
            <a:r>
              <a:rPr sz="700" dirty="0">
                <a:latin typeface="Trebuchet MS" panose="020B0603020202020204"/>
                <a:cs typeface="Trebuchet MS" panose="020B0603020202020204"/>
              </a:rPr>
              <a:t>	</a:t>
            </a:r>
            <a:r>
              <a:rPr sz="700" i="1" spc="60" dirty="0">
                <a:latin typeface="Arial" panose="020B0604020202020204"/>
                <a:cs typeface="Arial" panose="020B0604020202020204"/>
              </a:rPr>
              <a:t>k</a:t>
            </a:r>
            <a:r>
              <a:rPr sz="700" i="1" spc="60" dirty="0">
                <a:latin typeface="Constantia" panose="02030602050306030303"/>
                <a:cs typeface="Constantia" panose="02030602050306030303"/>
              </a:rPr>
              <a:t>|</a:t>
            </a:r>
            <a:r>
              <a:rPr sz="700" i="1" spc="60" dirty="0">
                <a:latin typeface="Arial" panose="020B0604020202020204"/>
                <a:cs typeface="Arial" panose="020B0604020202020204"/>
              </a:rPr>
              <a:t>k</a:t>
            </a:r>
            <a:r>
              <a:rPr sz="700" i="1" spc="60" dirty="0">
                <a:latin typeface="Constantia" panose="02030602050306030303"/>
                <a:cs typeface="Constantia" panose="02030602050306030303"/>
              </a:rPr>
              <a:t>−</a:t>
            </a:r>
            <a:r>
              <a:rPr sz="700" spc="60" dirty="0">
                <a:latin typeface="Trebuchet MS" panose="020B0603020202020204"/>
                <a:cs typeface="Trebuchet MS" panose="020B0603020202020204"/>
              </a:rPr>
              <a:t>1</a:t>
            </a:r>
            <a:r>
              <a:rPr sz="700" dirty="0">
                <a:latin typeface="Trebuchet MS" panose="020B0603020202020204"/>
                <a:cs typeface="Trebuchet MS" panose="020B0603020202020204"/>
              </a:rPr>
              <a:t>	</a:t>
            </a:r>
            <a:r>
              <a:rPr sz="700" i="1" spc="-25" dirty="0">
                <a:latin typeface="Arial" panose="020B0604020202020204"/>
                <a:cs typeface="Arial" panose="020B0604020202020204"/>
              </a:rPr>
              <a:t>k</a:t>
            </a:r>
            <a:r>
              <a:rPr sz="700" i="1" spc="-25" dirty="0">
                <a:latin typeface="Constantia" panose="02030602050306030303"/>
                <a:cs typeface="Constantia" panose="02030602050306030303"/>
              </a:rPr>
              <a:t>|</a:t>
            </a:r>
            <a:r>
              <a:rPr sz="700" i="1" spc="-25" dirty="0">
                <a:latin typeface="Arial" panose="020B0604020202020204"/>
                <a:cs typeface="Arial" panose="020B0604020202020204"/>
              </a:rPr>
              <a:t>k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8" name="object 3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5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电</a:t>
            </a:r>
            <a:r>
              <a:rPr dirty="0"/>
              <a:t>调</a:t>
            </a:r>
            <a:r>
              <a:rPr dirty="0"/>
              <a:t>软</a:t>
            </a:r>
            <a:r>
              <a:rPr dirty="0"/>
              <a:t>件</a:t>
            </a:r>
            <a:r>
              <a:rPr dirty="0"/>
              <a:t>系</a:t>
            </a:r>
            <a:r>
              <a:rPr spc="-50" dirty="0"/>
              <a:t>统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8058" y="828171"/>
            <a:ext cx="2494180" cy="1910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0813" y="2804279"/>
            <a:ext cx="784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电调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7637" y="356995"/>
            <a:ext cx="1014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心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块：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5310" y="600910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39554" y="58797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820051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971880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123708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5310" y="1271495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39554" y="125856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490637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1642465"/>
            <a:ext cx="52590" cy="525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1794293"/>
            <a:ext cx="52590" cy="525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5310" y="1942080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039554" y="192914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2161222"/>
            <a:ext cx="52590" cy="525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313050"/>
            <a:ext cx="52590" cy="5259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02" y="2464879"/>
            <a:ext cx="52590" cy="5259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5310" y="2612666"/>
            <a:ext cx="114214" cy="1142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39554" y="259973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831807"/>
            <a:ext cx="52590" cy="5259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983636"/>
            <a:ext cx="52590" cy="5259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190570" y="521702"/>
            <a:ext cx="2262505" cy="25552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化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外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spc="70" dirty="0">
                <a:latin typeface="Tahoma" panose="020B0604030504040204"/>
                <a:cs typeface="Tahoma" panose="020B0604030504040204"/>
              </a:rPr>
              <a:t>PWM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ADC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1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区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置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断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先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配置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b="1" spc="65" dirty="0">
                <a:latin typeface="Gill Sans MT" panose="020B0502020104020203"/>
                <a:cs typeface="Gill Sans MT" panose="020B0502020104020203"/>
              </a:rPr>
              <a:t>PPM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号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码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30" dirty="0">
                <a:latin typeface="Tahoma" panose="020B0604030504040204"/>
                <a:cs typeface="Tahoma" panose="020B0604030504040204"/>
              </a:rPr>
              <a:t>50Hz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频率，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20ms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周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195"/>
              </a:lnSpc>
            </a:pPr>
            <a:r>
              <a:rPr sz="1000" spc="-40" dirty="0">
                <a:latin typeface="Tahoma" panose="020B0604030504040204"/>
                <a:cs typeface="Tahoma" panose="020B0604030504040204"/>
              </a:rPr>
              <a:t>1ms</a:t>
            </a:r>
            <a:r>
              <a:rPr sz="1000" spc="5" dirty="0">
                <a:latin typeface="Tahoma" panose="020B0604030504040204"/>
                <a:cs typeface="Tahoma" panose="020B0604030504040204"/>
              </a:rPr>
              <a:t> = 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停转，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2ms</a:t>
            </a:r>
            <a:r>
              <a:rPr sz="1000" spc="5" dirty="0">
                <a:latin typeface="Tahoma" panose="020B0604030504040204"/>
                <a:cs typeface="Tahoma" panose="020B0604030504040204"/>
              </a:rPr>
              <a:t> = 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油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油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651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六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序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三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绕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1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生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旋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磁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场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消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磁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处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理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R="1225550" algn="ctr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故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障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检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测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护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R="1168400" algn="ctr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检测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R="1168400" algn="ctr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压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保护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7" name="object 2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480358" y="3081850"/>
            <a:ext cx="25336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33419" y="3081850"/>
            <a:ext cx="25336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5"/>
              </a:lnSpc>
            </a:pP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保护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电子信</a:t>
            </a:r>
            <a:r>
              <a:rPr spc="-10" dirty="0"/>
              <a:t>息</a:t>
            </a:r>
            <a:r>
              <a:rPr spc="-10" dirty="0"/>
              <a:t>工</a:t>
            </a:r>
            <a:r>
              <a:rPr spc="-20" dirty="0"/>
              <a:t>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6" action="ppaction://hlinksldjump"/>
              </a:rPr>
              <a:t>RISC-V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的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智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能气垫船控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301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六</a:t>
            </a:r>
            <a:r>
              <a:rPr dirty="0"/>
              <a:t>步</a:t>
            </a:r>
            <a:r>
              <a:rPr dirty="0"/>
              <a:t>换</a:t>
            </a:r>
            <a:r>
              <a:rPr dirty="0"/>
              <a:t>相</a:t>
            </a:r>
            <a:r>
              <a:rPr dirty="0"/>
              <a:t>法</a:t>
            </a:r>
            <a:r>
              <a:rPr dirty="0"/>
              <a:t>详</a:t>
            </a:r>
            <a:r>
              <a:rPr spc="-50" dirty="0"/>
              <a:t>解</a:t>
            </a:r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2386558" y="554452"/>
            <a:ext cx="987425" cy="858519"/>
            <a:chOff x="2386558" y="554452"/>
            <a:chExt cx="987425" cy="858519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86558" y="554452"/>
              <a:ext cx="986849" cy="4220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6558" y="997260"/>
              <a:ext cx="986811" cy="4154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3489" y="557009"/>
            <a:ext cx="986739" cy="8557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9627" y="553352"/>
            <a:ext cx="986826" cy="85940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97938" y="1412427"/>
            <a:ext cx="1349375" cy="3708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六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意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图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63182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序：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209487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2304910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911" y="2514942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911" y="2724975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3823" y="1757614"/>
            <a:ext cx="1476375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工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原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理：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74295" algn="just">
              <a:lnSpc>
                <a:spcPct val="12500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两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绕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变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形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成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旋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磁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场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75" dirty="0">
                <a:latin typeface="Tahoma" panose="020B0604030504040204"/>
                <a:cs typeface="Tahoma" panose="020B0604030504040204"/>
              </a:rPr>
              <a:t>6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次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5310" y="1855517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039554" y="184258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90570" y="1757614"/>
            <a:ext cx="1607185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1100" spc="65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C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70" dirty="0">
                <a:latin typeface="Tahoma" panose="020B0604030504040204"/>
                <a:cs typeface="Tahoma" panose="020B0604030504040204"/>
              </a:rPr>
              <a:t>-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Tahoma" panose="020B0604030504040204"/>
                <a:cs typeface="Tahoma" panose="020B0604030504040204"/>
              </a:rPr>
              <a:t>B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65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B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70" dirty="0">
                <a:latin typeface="Tahoma" panose="020B0604030504040204"/>
                <a:cs typeface="Tahoma" panose="020B0604030504040204"/>
              </a:rPr>
              <a:t>-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Tahoma" panose="020B0604030504040204"/>
                <a:cs typeface="Tahoma" panose="020B0604030504040204"/>
              </a:rPr>
              <a:t>C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C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B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105" dirty="0">
                <a:latin typeface="Tahoma" panose="020B0604030504040204"/>
                <a:cs typeface="Tahoma" panose="020B0604030504040204"/>
              </a:rPr>
              <a:t>-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C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105" dirty="0">
                <a:latin typeface="Tahoma" panose="020B0604030504040204"/>
                <a:cs typeface="Tahoma" panose="020B0604030504040204"/>
              </a:rPr>
              <a:t>-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Tahoma" panose="020B0604030504040204"/>
                <a:cs typeface="Tahoma" panose="020B0604030504040204"/>
              </a:rPr>
              <a:t>B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B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65" dirty="0">
                <a:latin typeface="Tahoma" panose="020B0604030504040204"/>
                <a:cs typeface="Tahoma" panose="020B0604030504040204"/>
              </a:rPr>
              <a:t>-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Tahoma" panose="020B0604030504040204"/>
                <a:cs typeface="Tahoma" panose="020B0604030504040204"/>
              </a:rPr>
              <a:t>C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B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100" dirty="0">
                <a:latin typeface="Tahoma" panose="020B0604030504040204"/>
                <a:cs typeface="Tahoma" panose="020B0604030504040204"/>
              </a:rPr>
              <a:t>C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65" dirty="0">
                <a:latin typeface="Tahoma" panose="020B0604030504040204"/>
                <a:cs typeface="Tahoma" panose="020B0604030504040204"/>
              </a:rPr>
              <a:t>- 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5310" y="2065550"/>
            <a:ext cx="114214" cy="11421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039554" y="205261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5310" y="2275582"/>
            <a:ext cx="114214" cy="11421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039554" y="226264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5310" y="2485615"/>
            <a:ext cx="114214" cy="1142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39554" y="247268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5310" y="2695647"/>
            <a:ext cx="114214" cy="11421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039554" y="268271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5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5310" y="2905680"/>
            <a:ext cx="114214" cy="11421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039554" y="289274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6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5" dirty="0"/>
              <a:t>顾云豪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电子信</a:t>
            </a:r>
            <a:r>
              <a:rPr spc="-10" dirty="0"/>
              <a:t>息</a:t>
            </a:r>
            <a:r>
              <a:rPr spc="-10" dirty="0"/>
              <a:t>工</a:t>
            </a:r>
            <a:r>
              <a:rPr spc="-20" dirty="0"/>
              <a:t>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RISC-V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的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智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能气垫船控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1682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5" dirty="0">
                <a:solidFill>
                  <a:srgbClr val="FFFFFF"/>
                </a:solidFill>
                <a:latin typeface="Gill Sans MT" panose="020B0502020104020203"/>
                <a:cs typeface="Gill Sans MT" panose="020B0502020104020203"/>
              </a:rPr>
              <a:t>PPM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号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状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4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67" y="1104962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65" dirty="0">
                <a:latin typeface="Gill Sans MT" panose="020B0502020104020203"/>
                <a:cs typeface="Gill Sans MT" panose="020B0502020104020203"/>
              </a:rPr>
              <a:t>PPM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号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编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码：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4014" y="1452726"/>
            <a:ext cx="2283474" cy="6230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1148" y="2139142"/>
            <a:ext cx="803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20" dirty="0">
                <a:latin typeface="Arial" panose="020B0604020202020204"/>
                <a:cs typeface="Arial" panose="020B0604020202020204"/>
              </a:rPr>
              <a:t>PPM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号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格式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534475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6755" y="2407244"/>
            <a:ext cx="159385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40" dirty="0">
                <a:latin typeface="黑体" panose="02010609060101010101" charset="-122"/>
                <a:cs typeface="黑体" panose="02010609060101010101" charset="-122"/>
              </a:rPr>
              <a:t>频率：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50Hz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期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20ms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宽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1.0ms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停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转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宽</a:t>
            </a:r>
            <a:r>
              <a:rPr sz="1100" spc="-75" dirty="0">
                <a:latin typeface="Tahoma" panose="020B0604030504040204"/>
                <a:cs typeface="Tahoma" panose="020B0604030504040204"/>
              </a:rPr>
              <a:t>1.5ms</a:t>
            </a:r>
            <a:r>
              <a:rPr sz="1100" spc="-7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100" spc="-75" dirty="0">
                <a:latin typeface="Tahoma" panose="020B0604030504040204"/>
                <a:cs typeface="Tahoma" panose="020B0604030504040204"/>
              </a:rPr>
              <a:t>50%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油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门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744508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954540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17637" y="356995"/>
            <a:ext cx="1014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程：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4651" y="649654"/>
            <a:ext cx="1910626" cy="222393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967899" y="2887108"/>
            <a:ext cx="658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状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态机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69455" y="3113303"/>
            <a:ext cx="1171575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脉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宽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2.0ms</a:t>
            </a:r>
            <a:r>
              <a:rPr sz="1100" spc="-6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满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油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门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5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5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9366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技</a:t>
            </a:r>
            <a:r>
              <a:rPr dirty="0"/>
              <a:t>术</a:t>
            </a:r>
            <a:r>
              <a:rPr dirty="0"/>
              <a:t>创</a:t>
            </a:r>
            <a:r>
              <a:rPr dirty="0"/>
              <a:t>新</a:t>
            </a:r>
            <a:r>
              <a:rPr spc="-50" dirty="0"/>
              <a:t>点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823" y="651749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新：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895651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740" y="88271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114793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266621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418450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1566236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5740" y="155330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785378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937207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089035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2236822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05740" y="222388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455964"/>
            <a:ext cx="52590" cy="525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2607792"/>
            <a:ext cx="52590" cy="5259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56755" y="816470"/>
            <a:ext cx="1997075" cy="18846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89560" marR="712470" indent="-277495">
              <a:lnSpc>
                <a:spcPct val="106000"/>
              </a:lnSpc>
              <a:spcBef>
                <a:spcPts val="200"/>
              </a:spcBef>
            </a:pPr>
            <a:r>
              <a:rPr sz="1100" spc="-2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国</a:t>
            </a:r>
            <a:r>
              <a:rPr sz="1100" spc="-2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产</a:t>
            </a:r>
            <a:r>
              <a:rPr sz="11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RISC-</a:t>
            </a:r>
            <a:r>
              <a:rPr sz="11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V</a:t>
            </a:r>
            <a:r>
              <a:rPr sz="1100" spc="-2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双</a:t>
            </a:r>
            <a:r>
              <a:rPr sz="1100" spc="-2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1100" spc="-2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100" spc="-5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CH32V307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主控</a:t>
            </a:r>
            <a:r>
              <a:rPr sz="1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CH32V203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电调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R="939800" algn="r">
              <a:lnSpc>
                <a:spcPts val="11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源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自主可控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R="977265" algn="r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协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统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55" dirty="0">
                <a:latin typeface="Tahoma" panose="020B0604030504040204"/>
                <a:cs typeface="Tahoma" panose="020B0604030504040204"/>
              </a:rPr>
              <a:t>2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悬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浮</a:t>
            </a:r>
            <a:r>
              <a:rPr sz="10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20" dirty="0">
                <a:latin typeface="Tahoma" panose="020B0604030504040204"/>
                <a:cs typeface="Tahoma" panose="020B0604030504040204"/>
              </a:rPr>
              <a:t>+ </a:t>
            </a:r>
            <a:r>
              <a:rPr sz="1000" spc="-55" dirty="0">
                <a:latin typeface="Tahoma" panose="020B0604030504040204"/>
                <a:cs typeface="Tahoma" panose="020B0604030504040204"/>
              </a:rPr>
              <a:t>2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推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0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20" dirty="0">
                <a:latin typeface="Tahoma" panose="020B0604030504040204"/>
                <a:cs typeface="Tahoma" panose="020B0604030504040204"/>
              </a:rPr>
              <a:t>+ </a:t>
            </a:r>
            <a:r>
              <a:rPr sz="1000" spc="-55" dirty="0">
                <a:latin typeface="Tahoma" panose="020B0604030504040204"/>
                <a:cs typeface="Tahoma" panose="020B0604030504040204"/>
              </a:rPr>
              <a:t>2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个侧向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 marR="939800">
              <a:lnSpc>
                <a:spcPts val="1200"/>
              </a:lnSpc>
              <a:spcBef>
                <a:spcPts val="40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转向控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姿态调节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6510">
              <a:lnSpc>
                <a:spcPct val="100000"/>
              </a:lnSpc>
              <a:spcBef>
                <a:spcPts val="15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无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驱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动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势过零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检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测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成本与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杂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17637" y="575829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软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新：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15310" y="819730"/>
            <a:ext cx="114214" cy="11421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039554" y="80681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038872"/>
            <a:ext cx="52590" cy="5259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190713"/>
            <a:ext cx="52590" cy="5259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1342542"/>
            <a:ext cx="52590" cy="5259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15310" y="1490328"/>
            <a:ext cx="114214" cy="11421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039554" y="147739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1709470"/>
            <a:ext cx="52590" cy="5259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861299"/>
            <a:ext cx="52590" cy="5259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013127"/>
            <a:ext cx="52590" cy="5259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15310" y="2160914"/>
            <a:ext cx="114214" cy="11421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039554" y="214798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2380056"/>
            <a:ext cx="52590" cy="5259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2531884"/>
            <a:ext cx="52590" cy="5259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683713"/>
            <a:ext cx="52590" cy="5259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194726" y="740536"/>
            <a:ext cx="1616710" cy="20364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10" dirty="0">
                <a:latin typeface="黑体" panose="02010609060101010101" charset="-122"/>
                <a:cs typeface="黑体" panose="02010609060101010101" charset="-122"/>
              </a:rPr>
              <a:t>混合</a:t>
            </a:r>
            <a:r>
              <a:rPr sz="1100" b="1" dirty="0">
                <a:latin typeface="Gill Sans MT" panose="020B0502020104020203"/>
                <a:cs typeface="Gill Sans MT" panose="020B0502020104020203"/>
              </a:rPr>
              <a:t>PID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策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略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000" dirty="0">
                <a:latin typeface="Tahoma" panose="020B0604030504040204"/>
                <a:cs typeface="Tahoma" panose="020B0604030504040204"/>
              </a:rPr>
              <a:t>PID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角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dirty="0">
                <a:latin typeface="Tahoma" panose="020B0604030504040204"/>
                <a:cs typeface="Tahoma" panose="020B0604030504040204"/>
              </a:rPr>
              <a:t>+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角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000" dirty="0">
                <a:latin typeface="Tahoma" panose="020B0604030504040204"/>
                <a:cs typeface="Tahoma" panose="020B0604030504040204"/>
              </a:rPr>
              <a:t>PID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独立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19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协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融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合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尔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曼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波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姿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195"/>
              </a:lnSpc>
            </a:pPr>
            <a:r>
              <a:rPr sz="1000" dirty="0">
                <a:latin typeface="Tahoma" panose="020B0604030504040204"/>
                <a:cs typeface="Tahoma" panose="020B0604030504040204"/>
              </a:rPr>
              <a:t>IMU</a:t>
            </a:r>
            <a:r>
              <a:rPr sz="1000" spc="30" dirty="0">
                <a:latin typeface="Tahoma" panose="020B0604030504040204"/>
                <a:cs typeface="Tahoma" panose="020B0604030504040204"/>
              </a:rPr>
              <a:t> +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觉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协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同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响应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操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统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260985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 panose="020B0604030504040204"/>
                <a:cs typeface="Tahoma" panose="020B0604030504040204"/>
              </a:rPr>
              <a:t>FreeRTOS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务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序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保证</a:t>
            </a:r>
            <a:r>
              <a:rPr sz="1000" spc="5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块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计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7" name="object 3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6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指</a:t>
            </a:r>
            <a:r>
              <a:rPr sz="14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标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63280" y="448017"/>
          <a:ext cx="2433955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2980"/>
                <a:gridCol w="722630"/>
                <a:gridCol w="722630"/>
              </a:tblGrid>
              <a:tr h="176530">
                <a:tc>
                  <a:txBody>
                    <a:bodyPr/>
                    <a:lstStyle/>
                    <a:p>
                      <a:pPr marL="381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性</a:t>
                      </a: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能</a:t>
                      </a: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指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标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设</a:t>
                      </a: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计</a:t>
                      </a: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目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标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实</a:t>
                      </a: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际</a:t>
                      </a:r>
                      <a:r>
                        <a:rPr sz="1100" dirty="0">
                          <a:latin typeface="黑体" panose="02010609060101010101" charset="-122"/>
                          <a:cs typeface="黑体" panose="02010609060101010101" charset="-122"/>
                        </a:rPr>
                        <a:t>达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到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控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制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周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期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 panose="020B0604030504040204"/>
                          <a:cs typeface="Tahoma" panose="020B0604030504040204"/>
                        </a:rPr>
                        <a:t>¡ </a:t>
                      </a:r>
                      <a:r>
                        <a:rPr sz="1100" spc="-20" dirty="0">
                          <a:latin typeface="Tahoma" panose="020B0604030504040204"/>
                          <a:cs typeface="Tahoma" panose="020B0604030504040204"/>
                        </a:rPr>
                        <a:t>10ms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 panose="020B0604030504040204"/>
                          <a:cs typeface="Tahoma" panose="020B0604030504040204"/>
                        </a:rPr>
                        <a:t>5ms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姿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态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控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制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精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度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0" dirty="0">
                          <a:latin typeface="Century Gothic" panose="020B0502020202020204"/>
                          <a:cs typeface="Century Gothic" panose="020B0502020202020204"/>
                        </a:rPr>
                        <a:t>±</a:t>
                      </a:r>
                      <a:r>
                        <a:rPr sz="1100" spc="30" dirty="0">
                          <a:latin typeface="Tahoma" panose="020B0604030504040204"/>
                          <a:cs typeface="Tahoma" panose="020B0604030504040204"/>
                        </a:rPr>
                        <a:t>2</a:t>
                      </a:r>
                      <a:r>
                        <a:rPr sz="1100" spc="30" dirty="0">
                          <a:latin typeface="Calibri" panose="020F0502020204030204"/>
                          <a:cs typeface="Calibri" panose="020F0502020204030204"/>
                        </a:rPr>
                        <a:t>°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10" dirty="0">
                          <a:latin typeface="Century Gothic" panose="020B0502020202020204"/>
                          <a:cs typeface="Century Gothic" panose="020B0502020202020204"/>
                        </a:rPr>
                        <a:t>±</a:t>
                      </a:r>
                      <a:r>
                        <a:rPr sz="1100" spc="-10" dirty="0">
                          <a:latin typeface="Tahoma" panose="020B0604030504040204"/>
                          <a:cs typeface="Tahoma" panose="020B0604030504040204"/>
                        </a:rPr>
                        <a:t>1.5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°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最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大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速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度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 panose="020B0604030504040204"/>
                          <a:cs typeface="Tahoma" panose="020B0604030504040204"/>
                        </a:rPr>
                        <a:t>2</a:t>
                      </a:r>
                      <a:r>
                        <a:rPr sz="1100" spc="-55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100" spc="-25" dirty="0">
                          <a:latin typeface="Tahoma" panose="020B0604030504040204"/>
                          <a:cs typeface="Tahoma" panose="020B0604030504040204"/>
                        </a:rPr>
                        <a:t>m/s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 panose="020B0604030504040204"/>
                          <a:cs typeface="Tahoma" panose="020B0604030504040204"/>
                        </a:rPr>
                        <a:t>2.3 </a:t>
                      </a:r>
                      <a:r>
                        <a:rPr sz="1100" spc="-25" dirty="0">
                          <a:latin typeface="Tahoma" panose="020B0604030504040204"/>
                          <a:cs typeface="Tahoma" panose="020B0604030504040204"/>
                        </a:rPr>
                        <a:t>m/s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连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续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运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行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时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间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 panose="020B0604030504040204"/>
                          <a:cs typeface="Tahoma" panose="020B0604030504040204"/>
                        </a:rPr>
                        <a:t>¿</a:t>
                      </a:r>
                      <a:r>
                        <a:rPr sz="1100" spc="-30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100" spc="-20" dirty="0">
                          <a:latin typeface="Tahoma" panose="020B0604030504040204"/>
                          <a:cs typeface="Tahoma" panose="020B0604030504040204"/>
                        </a:rPr>
                        <a:t>30</a:t>
                      </a:r>
                      <a:r>
                        <a:rPr sz="1100" spc="-30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100" spc="-25" dirty="0">
                          <a:latin typeface="Tahoma" panose="020B0604030504040204"/>
                          <a:cs typeface="Tahoma" panose="020B0604030504040204"/>
                        </a:rPr>
                        <a:t>min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 panose="020B0604030504040204"/>
                          <a:cs typeface="Tahoma" panose="020B0604030504040204"/>
                        </a:rPr>
                        <a:t>45</a:t>
                      </a:r>
                      <a:r>
                        <a:rPr sz="1100" spc="-70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100" spc="-25" dirty="0">
                          <a:latin typeface="Tahoma" panose="020B0604030504040204"/>
                          <a:cs typeface="Tahoma" panose="020B0604030504040204"/>
                        </a:rPr>
                        <a:t>min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启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动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响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应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时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间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 panose="020B0604030504040204"/>
                          <a:cs typeface="Tahoma" panose="020B0604030504040204"/>
                        </a:rPr>
                        <a:t>¡ </a:t>
                      </a:r>
                      <a:r>
                        <a:rPr sz="1100" spc="-25" dirty="0">
                          <a:latin typeface="Tahoma" panose="020B0604030504040204"/>
                          <a:cs typeface="Tahoma" panose="020B0604030504040204"/>
                        </a:rPr>
                        <a:t>1s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 panose="020B0604030504040204"/>
                          <a:cs typeface="Tahoma" panose="020B0604030504040204"/>
                        </a:rPr>
                        <a:t>0.8s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转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向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响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应</a:t>
                      </a:r>
                      <a:r>
                        <a:rPr sz="11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时</a:t>
                      </a:r>
                      <a:r>
                        <a:rPr sz="1100" spc="-50" dirty="0">
                          <a:latin typeface="黑体" panose="02010609060101010101" charset="-122"/>
                          <a:cs typeface="黑体" panose="02010609060101010101" charset="-122"/>
                        </a:rPr>
                        <a:t>间</a:t>
                      </a:r>
                      <a:endParaRPr sz="11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 panose="020B0604030504040204"/>
                          <a:cs typeface="Tahoma" panose="020B0604030504040204"/>
                        </a:rPr>
                        <a:t>¡ </a:t>
                      </a:r>
                      <a:r>
                        <a:rPr sz="1100" spc="-20" dirty="0">
                          <a:latin typeface="Tahoma" panose="020B0604030504040204"/>
                          <a:cs typeface="Tahoma" panose="020B0604030504040204"/>
                        </a:rPr>
                        <a:t>200ms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 panose="020B0604030504040204"/>
                          <a:cs typeface="Tahoma" panose="020B0604030504040204"/>
                        </a:rPr>
                        <a:t>150ms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218936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911" y="239939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60943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819463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3029496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823" y="1852102"/>
            <a:ext cx="1129665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势：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快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0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高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稳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好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续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航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长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1000"/>
              <a:buChar char="✓"/>
              <a:tabLst>
                <a:tab pos="424815" algn="l"/>
              </a:tabLst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成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控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2189365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2399398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2609430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8726" y="2819463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68726" y="3029496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17637" y="1852102"/>
            <a:ext cx="1268730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场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景：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竞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赛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>
              <a:lnSpc>
                <a:spcPct val="12500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两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栖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人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殊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境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巡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检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教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台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原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型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9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未</a:t>
            </a:r>
            <a:r>
              <a:rPr dirty="0"/>
              <a:t>来</a:t>
            </a:r>
            <a:r>
              <a:rPr dirty="0"/>
              <a:t>改</a:t>
            </a:r>
            <a:r>
              <a:rPr dirty="0"/>
              <a:t>进</a:t>
            </a:r>
            <a:r>
              <a:rPr dirty="0"/>
              <a:t>方</a:t>
            </a:r>
            <a:r>
              <a:rPr spc="-50" dirty="0"/>
              <a:t>向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823" y="575829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化：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819743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740" y="80681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038885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190713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34254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1490328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5740" y="147739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709470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861299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2013127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2160914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05740" y="214798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380056"/>
            <a:ext cx="52590" cy="525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531884"/>
            <a:ext cx="52590" cy="5259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2683713"/>
            <a:ext cx="52590" cy="5259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60912" y="740536"/>
            <a:ext cx="1564005" cy="20364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路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改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进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除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过零检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测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波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容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1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信号滞后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换相精度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升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级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11175" algn="just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精度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IMU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双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觉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光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测距模块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源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化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11175" algn="just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容量电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回收系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功率管理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17637" y="575829"/>
            <a:ext cx="729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算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化：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15310" y="819743"/>
            <a:ext cx="114214" cy="1142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39554" y="80681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038885"/>
            <a:ext cx="52590" cy="5259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190713"/>
            <a:ext cx="52590" cy="5259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1342542"/>
            <a:ext cx="52590" cy="5259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15310" y="1490328"/>
            <a:ext cx="114214" cy="114214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039554" y="147739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1709470"/>
            <a:ext cx="52590" cy="5259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1861299"/>
            <a:ext cx="52590" cy="5259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013127"/>
            <a:ext cx="52590" cy="5259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15310" y="2160914"/>
            <a:ext cx="114214" cy="11421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039554" y="214798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2380056"/>
            <a:ext cx="52590" cy="5259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2531884"/>
            <a:ext cx="52590" cy="5259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502" y="2683713"/>
            <a:ext cx="52590" cy="5259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3194726" y="740536"/>
            <a:ext cx="1684020" cy="20364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启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算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法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631190" algn="just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正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弦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冲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检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测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波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算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法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 marR="5080" algn="just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扩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展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尔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曼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波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EKF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无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迹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尔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曼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波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UKF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升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态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能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智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制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PID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285115">
              <a:lnSpc>
                <a:spcPts val="119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糊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控制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5115">
              <a:lnSpc>
                <a:spcPts val="1200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化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8" name="object 3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6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6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754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项</a:t>
            </a:r>
            <a:r>
              <a:rPr dirty="0"/>
              <a:t>目</a:t>
            </a:r>
            <a:r>
              <a:rPr dirty="0"/>
              <a:t>总</a:t>
            </a:r>
            <a:r>
              <a:rPr spc="-50" dirty="0"/>
              <a:t>结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823" y="590802"/>
            <a:ext cx="872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完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成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dirty="0">
                <a:latin typeface="黑体" panose="02010609060101010101" charset="-122"/>
                <a:cs typeface="黑体" panose="02010609060101010101" charset="-122"/>
              </a:rPr>
              <a:t>工</a:t>
            </a:r>
            <a:r>
              <a:rPr sz="1100" spc="-45" dirty="0">
                <a:latin typeface="黑体" panose="02010609060101010101" charset="-122"/>
                <a:cs typeface="黑体" panose="02010609060101010101" charset="-122"/>
              </a:rPr>
              <a:t>作：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834703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740" y="82178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053845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205674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357515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1505289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5740" y="149236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724431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1876259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87" y="2028101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495" y="2175874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05740" y="216295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395016"/>
            <a:ext cx="52590" cy="525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546845"/>
            <a:ext cx="52590" cy="5259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56755" y="755523"/>
            <a:ext cx="1272540" cy="18846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89560" marR="5080" indent="-277495">
              <a:lnSpc>
                <a:spcPct val="104000"/>
              </a:lnSpc>
              <a:spcBef>
                <a:spcPts val="23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完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整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硬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15" dirty="0">
                <a:latin typeface="Tahoma" panose="020B0604030504040204"/>
                <a:cs typeface="Tahoma" panose="020B0604030504040204"/>
              </a:rPr>
              <a:t>+ 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电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60" dirty="0">
                <a:latin typeface="Tahoma" panose="020B0604030504040204"/>
                <a:cs typeface="Tahoma" panose="020B0604030504040204"/>
              </a:rPr>
              <a:t>PCB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统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集成调试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 marR="167005" indent="-277495">
              <a:lnSpc>
                <a:spcPct val="104000"/>
              </a:lnSpc>
              <a:spcBef>
                <a:spcPts val="14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架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FreeRTOS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移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心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算法实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交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互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界面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89560" marR="143510" indent="-277495" algn="just">
              <a:lnSpc>
                <a:spcPct val="106000"/>
              </a:lnSpc>
              <a:spcBef>
                <a:spcPts val="110"/>
              </a:spcBef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控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算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验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证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000" dirty="0">
                <a:latin typeface="Tahoma" panose="020B0604030504040204"/>
                <a:cs typeface="Tahoma" panose="020B0604030504040204"/>
              </a:rPr>
              <a:t>+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级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PID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卡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尔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曼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滤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波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698686"/>
            <a:ext cx="52590" cy="5259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8726" y="789190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979004"/>
            <a:ext cx="52590" cy="5259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1130833"/>
            <a:ext cx="52590" cy="5259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8726" y="1307947"/>
            <a:ext cx="65265" cy="6526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58502" y="1497761"/>
            <a:ext cx="52590" cy="5259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58502" y="1649590"/>
            <a:ext cx="52590" cy="5259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8726" y="1826704"/>
            <a:ext cx="65265" cy="6526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8502" y="2016505"/>
            <a:ext cx="52590" cy="5259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58502" y="2168347"/>
            <a:ext cx="52590" cy="52590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44115">
              <a:lnSpc>
                <a:spcPct val="100000"/>
              </a:lnSpc>
              <a:spcBef>
                <a:spcPts val="275"/>
              </a:spcBef>
            </a:pPr>
            <a:r>
              <a:rPr dirty="0"/>
              <a:t>项</a:t>
            </a:r>
            <a:r>
              <a:rPr dirty="0"/>
              <a:t>目</a:t>
            </a:r>
            <a:r>
              <a:rPr dirty="0"/>
              <a:t>意</a:t>
            </a:r>
            <a:r>
              <a:rPr spc="-45" dirty="0"/>
              <a:t>义：</a:t>
            </a:r>
            <a:endParaRPr spc="-45" dirty="0"/>
          </a:p>
          <a:p>
            <a:pPr marL="2716530">
              <a:lnSpc>
                <a:spcPct val="100000"/>
              </a:lnSpc>
              <a:spcBef>
                <a:spcPts val="175"/>
              </a:spcBef>
            </a:pPr>
            <a:r>
              <a:rPr spc="-20" dirty="0">
                <a:solidFill>
                  <a:srgbClr val="0000FF"/>
                </a:solidFill>
              </a:rPr>
              <a:t>技</a:t>
            </a:r>
            <a:r>
              <a:rPr spc="-20" dirty="0">
                <a:solidFill>
                  <a:srgbClr val="0000FF"/>
                </a:solidFill>
              </a:rPr>
              <a:t>术</a:t>
            </a:r>
            <a:r>
              <a:rPr spc="-20" dirty="0">
                <a:solidFill>
                  <a:srgbClr val="0000FF"/>
                </a:solidFill>
              </a:rPr>
              <a:t>验</a:t>
            </a:r>
            <a:r>
              <a:rPr spc="-60" dirty="0">
                <a:solidFill>
                  <a:srgbClr val="0000FF"/>
                </a:solidFill>
              </a:rPr>
              <a:t>证：</a:t>
            </a:r>
            <a:endParaRPr spc="-60" dirty="0">
              <a:solidFill>
                <a:srgbClr val="0000FF"/>
              </a:solidFill>
            </a:endParaRPr>
          </a:p>
          <a:p>
            <a:pPr marL="2994025">
              <a:lnSpc>
                <a:spcPts val="1200"/>
              </a:lnSpc>
              <a:spcBef>
                <a:spcPts val="175"/>
              </a:spcBef>
            </a:pPr>
            <a:r>
              <a:rPr sz="1000" spc="-10" dirty="0"/>
              <a:t>证</a:t>
            </a:r>
            <a:r>
              <a:rPr sz="1000" spc="-10" dirty="0"/>
              <a:t>明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RISC-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V</a:t>
            </a:r>
            <a:r>
              <a:rPr sz="1000" spc="-15" dirty="0"/>
              <a:t>在实</a:t>
            </a:r>
            <a:r>
              <a:rPr sz="1000" spc="-10" dirty="0"/>
              <a:t>时</a:t>
            </a:r>
            <a:r>
              <a:rPr sz="1000" spc="-10" dirty="0"/>
              <a:t>控</a:t>
            </a:r>
            <a:r>
              <a:rPr sz="1000" spc="-15" dirty="0"/>
              <a:t>制的可</a:t>
            </a:r>
            <a:r>
              <a:rPr sz="1000" spc="-10" dirty="0"/>
              <a:t>行</a:t>
            </a:r>
            <a:r>
              <a:rPr sz="1000" spc="-50" dirty="0"/>
              <a:t>性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2994025">
              <a:lnSpc>
                <a:spcPts val="1200"/>
              </a:lnSpc>
            </a:pPr>
            <a:r>
              <a:rPr sz="1000" spc="-10" dirty="0"/>
              <a:t>为</a:t>
            </a:r>
            <a:r>
              <a:rPr sz="1000" spc="-10" dirty="0"/>
              <a:t>国</a:t>
            </a:r>
            <a:r>
              <a:rPr sz="1000" spc="-15" dirty="0"/>
              <a:t>产</a:t>
            </a:r>
            <a:r>
              <a:rPr sz="1000" spc="-10" dirty="0"/>
              <a:t>芯</a:t>
            </a:r>
            <a:r>
              <a:rPr sz="1000" spc="-10" dirty="0"/>
              <a:t>片</a:t>
            </a:r>
            <a:r>
              <a:rPr sz="1000" spc="-15" dirty="0"/>
              <a:t>应</a:t>
            </a:r>
            <a:r>
              <a:rPr sz="1000" spc="-10" dirty="0"/>
              <a:t>用</a:t>
            </a:r>
            <a:r>
              <a:rPr sz="1000" spc="-10" dirty="0"/>
              <a:t>提</a:t>
            </a:r>
            <a:r>
              <a:rPr sz="1000" spc="-15" dirty="0"/>
              <a:t>供</a:t>
            </a:r>
            <a:r>
              <a:rPr sz="1000" spc="-10" dirty="0"/>
              <a:t>案</a:t>
            </a:r>
            <a:r>
              <a:rPr sz="1000" spc="-50" dirty="0"/>
              <a:t>例</a:t>
            </a:r>
            <a:endParaRPr sz="1000"/>
          </a:p>
          <a:p>
            <a:pPr marL="2716530">
              <a:lnSpc>
                <a:spcPct val="100000"/>
              </a:lnSpc>
              <a:spcBef>
                <a:spcPts val="195"/>
              </a:spcBef>
            </a:pPr>
            <a:r>
              <a:rPr spc="-20" dirty="0">
                <a:solidFill>
                  <a:srgbClr val="FF0000"/>
                </a:solidFill>
              </a:rPr>
              <a:t>工</a:t>
            </a:r>
            <a:r>
              <a:rPr spc="-20" dirty="0">
                <a:solidFill>
                  <a:srgbClr val="FF0000"/>
                </a:solidFill>
              </a:rPr>
              <a:t>程</a:t>
            </a:r>
            <a:r>
              <a:rPr spc="-20" dirty="0">
                <a:solidFill>
                  <a:srgbClr val="FF0000"/>
                </a:solidFill>
              </a:rPr>
              <a:t>实</a:t>
            </a:r>
            <a:r>
              <a:rPr spc="-60" dirty="0">
                <a:solidFill>
                  <a:srgbClr val="FF0000"/>
                </a:solidFill>
              </a:rPr>
              <a:t>践：</a:t>
            </a:r>
            <a:endParaRPr spc="-60" dirty="0">
              <a:solidFill>
                <a:srgbClr val="FF0000"/>
              </a:solidFill>
            </a:endParaRPr>
          </a:p>
          <a:p>
            <a:pPr marL="2994025">
              <a:lnSpc>
                <a:spcPts val="1200"/>
              </a:lnSpc>
              <a:spcBef>
                <a:spcPts val="175"/>
              </a:spcBef>
            </a:pPr>
            <a:r>
              <a:rPr sz="1000" spc="-10" dirty="0"/>
              <a:t>从</a:t>
            </a:r>
            <a:r>
              <a:rPr sz="1000" spc="-10" dirty="0"/>
              <a:t>设</a:t>
            </a:r>
            <a:r>
              <a:rPr sz="1000" spc="-10" dirty="0"/>
              <a:t>计</a:t>
            </a:r>
            <a:r>
              <a:rPr sz="1000" spc="-10" dirty="0"/>
              <a:t>到</a:t>
            </a:r>
            <a:r>
              <a:rPr sz="1000" spc="-10" dirty="0"/>
              <a:t>实</a:t>
            </a:r>
            <a:r>
              <a:rPr sz="1000" spc="-15" dirty="0"/>
              <a:t>现</a:t>
            </a:r>
            <a:r>
              <a:rPr sz="1000" spc="-10" dirty="0"/>
              <a:t>的</a:t>
            </a:r>
            <a:r>
              <a:rPr sz="1000" spc="-10" dirty="0"/>
              <a:t>完</a:t>
            </a:r>
            <a:r>
              <a:rPr sz="1000" spc="-15" dirty="0"/>
              <a:t>整</a:t>
            </a:r>
            <a:r>
              <a:rPr sz="1000" spc="-10" dirty="0"/>
              <a:t>流</a:t>
            </a:r>
            <a:r>
              <a:rPr sz="1000" spc="-50" dirty="0"/>
              <a:t>程</a:t>
            </a:r>
            <a:endParaRPr sz="1000"/>
          </a:p>
          <a:p>
            <a:pPr marL="2994025">
              <a:lnSpc>
                <a:spcPts val="1200"/>
              </a:lnSpc>
            </a:pPr>
            <a:r>
              <a:rPr sz="1000" spc="-10" dirty="0"/>
              <a:t>系</a:t>
            </a:r>
            <a:r>
              <a:rPr sz="1000" spc="-10" dirty="0"/>
              <a:t>统</a:t>
            </a:r>
            <a:r>
              <a:rPr sz="1000" spc="-15" dirty="0"/>
              <a:t>集</a:t>
            </a:r>
            <a:r>
              <a:rPr sz="1000" spc="-10" dirty="0"/>
              <a:t>成</a:t>
            </a:r>
            <a:r>
              <a:rPr sz="1000" spc="-10" dirty="0"/>
              <a:t>与</a:t>
            </a:r>
            <a:r>
              <a:rPr sz="1000" spc="-15" dirty="0"/>
              <a:t>调</a:t>
            </a:r>
            <a:r>
              <a:rPr sz="1000" spc="-10" dirty="0"/>
              <a:t>试</a:t>
            </a:r>
            <a:r>
              <a:rPr sz="1000" spc="-10" dirty="0"/>
              <a:t>经</a:t>
            </a:r>
            <a:r>
              <a:rPr sz="1000" spc="-50" dirty="0"/>
              <a:t>验</a:t>
            </a:r>
            <a:endParaRPr sz="1000"/>
          </a:p>
          <a:p>
            <a:pPr marL="2716530">
              <a:lnSpc>
                <a:spcPct val="100000"/>
              </a:lnSpc>
              <a:spcBef>
                <a:spcPts val="195"/>
              </a:spcBef>
            </a:pPr>
            <a:r>
              <a:rPr spc="-20" dirty="0">
                <a:solidFill>
                  <a:srgbClr val="00FF00"/>
                </a:solidFill>
              </a:rPr>
              <a:t>创</a:t>
            </a:r>
            <a:r>
              <a:rPr spc="-20" dirty="0">
                <a:solidFill>
                  <a:srgbClr val="00FF00"/>
                </a:solidFill>
              </a:rPr>
              <a:t>新</a:t>
            </a:r>
            <a:r>
              <a:rPr spc="-20" dirty="0">
                <a:solidFill>
                  <a:srgbClr val="00FF00"/>
                </a:solidFill>
              </a:rPr>
              <a:t>探</a:t>
            </a:r>
            <a:r>
              <a:rPr spc="-60" dirty="0">
                <a:solidFill>
                  <a:srgbClr val="00FF00"/>
                </a:solidFill>
              </a:rPr>
              <a:t>索：</a:t>
            </a:r>
            <a:endParaRPr spc="-60" dirty="0">
              <a:solidFill>
                <a:srgbClr val="00FF00"/>
              </a:solidFill>
            </a:endParaRPr>
          </a:p>
          <a:p>
            <a:pPr marL="2994025" marR="652145">
              <a:lnSpc>
                <a:spcPct val="100000"/>
              </a:lnSpc>
              <a:spcBef>
                <a:spcPts val="170"/>
              </a:spcBef>
            </a:pPr>
            <a:r>
              <a:rPr sz="1000" spc="-10" dirty="0"/>
              <a:t>多</a:t>
            </a:r>
            <a:r>
              <a:rPr sz="1000" spc="-10" dirty="0"/>
              <a:t>电</a:t>
            </a:r>
            <a:r>
              <a:rPr sz="1000" spc="-15" dirty="0"/>
              <a:t>机</a:t>
            </a:r>
            <a:r>
              <a:rPr sz="1000" spc="-10" dirty="0"/>
              <a:t>协</a:t>
            </a:r>
            <a:r>
              <a:rPr sz="1000" spc="-10" dirty="0"/>
              <a:t>同</a:t>
            </a:r>
            <a:r>
              <a:rPr sz="1000" spc="-15" dirty="0"/>
              <a:t>控</a:t>
            </a:r>
            <a:r>
              <a:rPr sz="1000" spc="-10" dirty="0"/>
              <a:t>制</a:t>
            </a:r>
            <a:r>
              <a:rPr sz="1000" spc="-10" dirty="0"/>
              <a:t>方</a:t>
            </a:r>
            <a:r>
              <a:rPr sz="1000" spc="-50" dirty="0"/>
              <a:t>案</a:t>
            </a:r>
            <a:r>
              <a:rPr sz="1000" spc="-10" dirty="0"/>
              <a:t>复</a:t>
            </a:r>
            <a:r>
              <a:rPr sz="1000" spc="-10" dirty="0"/>
              <a:t>杂</a:t>
            </a:r>
            <a:r>
              <a:rPr sz="1000" spc="-15" dirty="0"/>
              <a:t>系</a:t>
            </a:r>
            <a:r>
              <a:rPr sz="1000" spc="-10" dirty="0"/>
              <a:t>统</a:t>
            </a:r>
            <a:r>
              <a:rPr sz="1000" spc="-10" dirty="0"/>
              <a:t>的</a:t>
            </a:r>
            <a:r>
              <a:rPr sz="1000" spc="-15" dirty="0"/>
              <a:t>控</a:t>
            </a:r>
            <a:r>
              <a:rPr sz="1000" spc="-10" dirty="0"/>
              <a:t>制</a:t>
            </a:r>
            <a:r>
              <a:rPr sz="1000" spc="-10" dirty="0"/>
              <a:t>策</a:t>
            </a:r>
            <a:r>
              <a:rPr sz="1000" spc="-50" dirty="0"/>
              <a:t>略</a:t>
            </a: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2965948" y="2504121"/>
            <a:ext cx="2666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5" dirty="0">
                <a:latin typeface="黑体" panose="02010609060101010101" charset="-122"/>
                <a:cs typeface="黑体" panose="02010609060101010101" charset="-122"/>
              </a:rPr>
              <a:t>感想：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团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队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协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技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术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工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践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完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2" name="object 32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33844" y="2632372"/>
            <a:ext cx="6584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六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法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76395" y="2695676"/>
            <a:ext cx="441325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0"/>
              </a:lnSpc>
            </a:pP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美</a:t>
            </a:r>
            <a:r>
              <a:rPr sz="1100" spc="-20" dirty="0"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1100" spc="-50" dirty="0">
                <a:latin typeface="黑体" panose="02010609060101010101" charset="-122"/>
                <a:cs typeface="黑体" panose="02010609060101010101" charset="-122"/>
              </a:rPr>
              <a:t>合</a:t>
            </a:r>
            <a:endParaRPr sz="11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8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8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6145" y="824101"/>
            <a:ext cx="160591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9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谢</a:t>
            </a:r>
            <a:r>
              <a:rPr sz="2450" spc="9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谢</a:t>
            </a:r>
            <a:r>
              <a:rPr sz="2450" spc="9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聆</a:t>
            </a:r>
            <a:r>
              <a:rPr sz="2450" spc="-10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听！</a:t>
            </a:r>
            <a:endParaRPr sz="245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9611" y="1506598"/>
            <a:ext cx="1301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欢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迎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交</a:t>
            </a:r>
            <a:r>
              <a:rPr sz="1400" spc="-50" dirty="0">
                <a:latin typeface="黑体" panose="02010609060101010101" charset="-122"/>
                <a:cs typeface="黑体" panose="02010609060101010101" charset="-122"/>
              </a:rPr>
              <a:t>流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86075" y="2272356"/>
            <a:ext cx="3588385" cy="614045"/>
            <a:chOff x="1086075" y="2272356"/>
            <a:chExt cx="3588385" cy="614045"/>
          </a:xfrm>
        </p:grpSpPr>
        <p:sp>
          <p:nvSpPr>
            <p:cNvPr id="5" name="object 5"/>
            <p:cNvSpPr/>
            <p:nvPr/>
          </p:nvSpPr>
          <p:spPr>
            <a:xfrm>
              <a:off x="1088606" y="2274886"/>
              <a:ext cx="3583304" cy="608965"/>
            </a:xfrm>
            <a:custGeom>
              <a:avLst/>
              <a:gdLst/>
              <a:ahLst/>
              <a:cxnLst/>
              <a:rect l="l" t="t" r="r" b="b"/>
              <a:pathLst>
                <a:path w="3583304" h="608964">
                  <a:moveTo>
                    <a:pt x="353218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57974"/>
                  </a:lnTo>
                  <a:lnTo>
                    <a:pt x="3977" y="577674"/>
                  </a:lnTo>
                  <a:lnTo>
                    <a:pt x="14823" y="593761"/>
                  </a:lnTo>
                  <a:lnTo>
                    <a:pt x="30910" y="604607"/>
                  </a:lnTo>
                  <a:lnTo>
                    <a:pt x="50610" y="608585"/>
                  </a:lnTo>
                  <a:lnTo>
                    <a:pt x="3532185" y="608585"/>
                  </a:lnTo>
                  <a:lnTo>
                    <a:pt x="3551885" y="604607"/>
                  </a:lnTo>
                  <a:lnTo>
                    <a:pt x="3567973" y="593761"/>
                  </a:lnTo>
                  <a:lnTo>
                    <a:pt x="3578819" y="577674"/>
                  </a:lnTo>
                  <a:lnTo>
                    <a:pt x="3582796" y="557974"/>
                  </a:lnTo>
                  <a:lnTo>
                    <a:pt x="3582796" y="50610"/>
                  </a:lnTo>
                  <a:lnTo>
                    <a:pt x="3578819" y="30910"/>
                  </a:lnTo>
                  <a:lnTo>
                    <a:pt x="3567973" y="14823"/>
                  </a:lnTo>
                  <a:lnTo>
                    <a:pt x="3551885" y="3977"/>
                  </a:lnTo>
                  <a:lnTo>
                    <a:pt x="3532185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88606" y="2274886"/>
              <a:ext cx="3583304" cy="608965"/>
            </a:xfrm>
            <a:custGeom>
              <a:avLst/>
              <a:gdLst/>
              <a:ahLst/>
              <a:cxnLst/>
              <a:rect l="l" t="t" r="r" b="b"/>
              <a:pathLst>
                <a:path w="3583304" h="608964">
                  <a:moveTo>
                    <a:pt x="353218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57974"/>
                  </a:lnTo>
                  <a:lnTo>
                    <a:pt x="3977" y="577674"/>
                  </a:lnTo>
                  <a:lnTo>
                    <a:pt x="14823" y="593761"/>
                  </a:lnTo>
                  <a:lnTo>
                    <a:pt x="30910" y="604607"/>
                  </a:lnTo>
                  <a:lnTo>
                    <a:pt x="50610" y="608585"/>
                  </a:lnTo>
                  <a:lnTo>
                    <a:pt x="3532185" y="608585"/>
                  </a:lnTo>
                  <a:lnTo>
                    <a:pt x="3551885" y="604607"/>
                  </a:lnTo>
                  <a:lnTo>
                    <a:pt x="3567973" y="593761"/>
                  </a:lnTo>
                  <a:lnTo>
                    <a:pt x="3578819" y="577674"/>
                  </a:lnTo>
                  <a:lnTo>
                    <a:pt x="3582796" y="557974"/>
                  </a:lnTo>
                  <a:lnTo>
                    <a:pt x="3582796" y="50610"/>
                  </a:lnTo>
                  <a:lnTo>
                    <a:pt x="3578819" y="30910"/>
                  </a:lnTo>
                  <a:lnTo>
                    <a:pt x="3567973" y="14823"/>
                  </a:lnTo>
                  <a:lnTo>
                    <a:pt x="3551885" y="3977"/>
                  </a:lnTo>
                  <a:lnTo>
                    <a:pt x="3532185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基于</a:t>
            </a:r>
            <a:r>
              <a:rPr b="1" spc="-10" dirty="0">
                <a:latin typeface="Gill Sans MT" panose="020B0502020104020203"/>
                <a:cs typeface="Gill Sans MT" panose="020B0502020104020203"/>
              </a:rPr>
              <a:t>RISC-</a:t>
            </a:r>
            <a:r>
              <a:rPr b="1" dirty="0">
                <a:latin typeface="Gill Sans MT" panose="020B0502020104020203"/>
                <a:cs typeface="Gill Sans MT" panose="020B0502020104020203"/>
              </a:rPr>
              <a:t>V</a:t>
            </a:r>
            <a:r>
              <a:rPr dirty="0"/>
              <a:t>微</a:t>
            </a:r>
            <a:r>
              <a:rPr dirty="0"/>
              <a:t>控</a:t>
            </a:r>
            <a:r>
              <a:rPr dirty="0"/>
              <a:t>制</a:t>
            </a:r>
            <a:r>
              <a:rPr dirty="0"/>
              <a:t>器</a:t>
            </a:r>
            <a:r>
              <a:rPr dirty="0"/>
              <a:t>的</a:t>
            </a:r>
            <a:r>
              <a:rPr dirty="0"/>
              <a:t>气</a:t>
            </a:r>
            <a:r>
              <a:rPr dirty="0"/>
              <a:t>垫</a:t>
            </a:r>
            <a:r>
              <a:rPr dirty="0"/>
              <a:t>船</a:t>
            </a:r>
            <a:r>
              <a:rPr dirty="0"/>
              <a:t>控</a:t>
            </a:r>
            <a:r>
              <a:rPr dirty="0"/>
              <a:t>制</a:t>
            </a:r>
            <a:r>
              <a:rPr dirty="0"/>
              <a:t>系</a:t>
            </a:r>
            <a:r>
              <a:rPr spc="-50" dirty="0"/>
              <a:t>统</a:t>
            </a:r>
            <a:endParaRPr spc="-50" dirty="0"/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pc="-35" dirty="0">
                <a:latin typeface="Tahoma" panose="020B0604030504040204"/>
                <a:cs typeface="Tahoma" panose="020B0604030504040204"/>
              </a:rPr>
              <a:t>Design</a:t>
            </a:r>
            <a:r>
              <a:rPr spc="-30" dirty="0">
                <a:latin typeface="Tahoma" panose="020B0604030504040204"/>
                <a:cs typeface="Tahoma" panose="020B0604030504040204"/>
              </a:rPr>
              <a:t> </a:t>
            </a:r>
            <a:r>
              <a:rPr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pc="-20" dirty="0">
                <a:latin typeface="Tahoma" panose="020B0604030504040204"/>
                <a:cs typeface="Tahoma" panose="020B0604030504040204"/>
              </a:rPr>
              <a:t> </a:t>
            </a:r>
            <a:r>
              <a:rPr spc="-45" dirty="0">
                <a:latin typeface="Tahoma" panose="020B0604030504040204"/>
                <a:cs typeface="Tahoma" panose="020B0604030504040204"/>
              </a:rPr>
              <a:t>Implementation</a:t>
            </a:r>
            <a:r>
              <a:rPr spc="-25" dirty="0">
                <a:latin typeface="Tahoma" panose="020B0604030504040204"/>
                <a:cs typeface="Tahoma" panose="020B0604030504040204"/>
              </a:rPr>
              <a:t> </a:t>
            </a:r>
            <a:r>
              <a:rPr dirty="0">
                <a:latin typeface="Tahoma" panose="020B0604030504040204"/>
                <a:cs typeface="Tahoma" panose="020B0604030504040204"/>
              </a:rPr>
              <a:t>of</a:t>
            </a:r>
            <a:r>
              <a:rPr spc="-25" dirty="0">
                <a:latin typeface="Tahoma" panose="020B0604030504040204"/>
                <a:cs typeface="Tahoma" panose="020B0604030504040204"/>
              </a:rPr>
              <a:t> Hovercraft </a:t>
            </a:r>
            <a:r>
              <a:rPr spc="-20" dirty="0">
                <a:latin typeface="Tahoma" panose="020B0604030504040204"/>
                <a:cs typeface="Tahoma" panose="020B0604030504040204"/>
              </a:rPr>
              <a:t>Control</a:t>
            </a:r>
            <a:r>
              <a:rPr spc="-25" dirty="0">
                <a:latin typeface="Tahoma" panose="020B0604030504040204"/>
                <a:cs typeface="Tahoma" panose="020B0604030504040204"/>
              </a:rPr>
              <a:t> </a:t>
            </a:r>
            <a:r>
              <a:rPr spc="-10" dirty="0">
                <a:latin typeface="Tahoma" panose="020B0604030504040204"/>
                <a:cs typeface="Tahoma" panose="020B0604030504040204"/>
              </a:rPr>
              <a:t>System</a:t>
            </a:r>
            <a:endParaRPr spc="-1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8726" y="2667812"/>
            <a:ext cx="196278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Based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RISC-</a:t>
            </a:r>
            <a:r>
              <a:rPr sz="1100" dirty="0">
                <a:latin typeface="Tahoma" panose="020B0604030504040204"/>
                <a:cs typeface="Tahoma" panose="020B0604030504040204"/>
              </a:rPr>
              <a:t>V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Microcontroller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20" dirty="0"/>
              <a:t>顾</a:t>
            </a:r>
            <a:r>
              <a:rPr spc="-10" dirty="0"/>
              <a:t>云</a:t>
            </a:r>
            <a:r>
              <a:rPr dirty="0"/>
              <a:t>豪</a:t>
            </a:r>
            <a:r>
              <a:rPr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pc="-20" dirty="0"/>
              <a:t>电</a:t>
            </a:r>
            <a:r>
              <a:rPr spc="-10" dirty="0"/>
              <a:t>子</a:t>
            </a:r>
            <a:r>
              <a:rPr spc="-10" dirty="0"/>
              <a:t>信</a:t>
            </a:r>
            <a:r>
              <a:rPr spc="-20" dirty="0"/>
              <a:t>息工程</a:t>
            </a:r>
            <a:r>
              <a:rPr spc="-50" dirty="0">
                <a:latin typeface="Trebuchet MS" panose="020B0603020202020204"/>
                <a:cs typeface="Trebuchet MS" panose="020B0603020202020204"/>
              </a:rPr>
              <a:t>)</a:t>
            </a:r>
            <a:endParaRPr spc="-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基于</a:t>
            </a:r>
            <a:r>
              <a:rPr sz="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RISC-V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的智能气垫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船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控</a:t>
            </a:r>
            <a:r>
              <a:rPr sz="600" spc="-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制</a:t>
            </a:r>
            <a:r>
              <a:rPr sz="600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系</a:t>
            </a:r>
            <a:r>
              <a:rPr sz="600" spc="-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  <a:hlinkClick r:id="rId1" action="ppaction://hlinksldjump"/>
              </a:rPr>
              <a:t>统</a:t>
            </a:r>
            <a:endParaRPr sz="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dirty="0">
                <a:latin typeface="黑体" panose="02010609060101010101" charset="-122"/>
                <a:cs typeface="黑体" panose="02010609060101010101" charset="-122"/>
              </a:rPr>
              <a:t>月</a:t>
            </a:r>
            <a:r>
              <a:rPr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5</a:t>
            </a:r>
            <a:r>
              <a:rPr spc="25" dirty="0"/>
              <a:t> </a:t>
            </a:r>
            <a:r>
              <a:rPr spc="-50" dirty="0">
                <a:latin typeface="黑体" panose="02010609060101010101" charset="-122"/>
                <a:cs typeface="黑体" panose="02010609060101010101" charset="-122"/>
              </a:rPr>
              <a:t>日</a:t>
            </a:r>
            <a:endParaRPr spc="-50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4346</Words>
  <Application>WPS 演示</Application>
  <PresentationFormat>On-screen Show (4:3)</PresentationFormat>
  <Paragraphs>768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黑体</vt:lpstr>
      <vt:lpstr>Trebuchet MS</vt:lpstr>
      <vt:lpstr>Times New Roman</vt:lpstr>
      <vt:lpstr>Gill Sans MT</vt:lpstr>
      <vt:lpstr>Tahoma</vt:lpstr>
      <vt:lpstr>Century Gothic</vt:lpstr>
      <vt:lpstr>Calibri</vt:lpstr>
      <vt:lpstr>Arial</vt:lpstr>
      <vt:lpstr>微软雅黑</vt:lpstr>
      <vt:lpstr>Arial Unicode MS</vt:lpstr>
      <vt:lpstr>Constantia</vt:lpstr>
      <vt:lpstr>MS PGothic</vt:lpstr>
      <vt:lpstr>Office Theme</vt:lpstr>
      <vt:lpstr>PowerPoint 演示文稿</vt:lpstr>
      <vt:lpstr>PowerPoint 演示文稿</vt:lpstr>
      <vt:lpstr>研究背景</vt:lpstr>
      <vt:lpstr>研究意义与创新点</vt:lpstr>
      <vt:lpstr>系统需求分析</vt:lpstr>
      <vt:lpstr>PowerPoint 演示文稿</vt:lpstr>
      <vt:lpstr>主控制器：CH32V307</vt:lpstr>
      <vt:lpstr>传感器系统</vt:lpstr>
      <vt:lpstr>电机驱动系统</vt:lpstr>
      <vt:lpstr>无刷电机驱动电路</vt:lpstr>
      <vt:lpstr>PowerPoint 演示文稿</vt:lpstr>
      <vt:lpstr>电源管理系统</vt:lpstr>
      <vt:lpstr>软件架构设计</vt:lpstr>
      <vt:lpstr>PID控制策略</vt:lpstr>
      <vt:lpstr>姿态解算：卡尔曼滤波</vt:lpstr>
      <vt:lpstr>电调软件系统</vt:lpstr>
      <vt:lpstr>六步换相法详解</vt:lpstr>
      <vt:lpstr>PowerPoint 演示文稿</vt:lpstr>
      <vt:lpstr>技术创新点</vt:lpstr>
      <vt:lpstr>PowerPoint 演示文稿</vt:lpstr>
      <vt:lpstr>未来改进方向</vt:lpstr>
      <vt:lpstr>项目总结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基于RISC-V的智能气垫船控制系统 - 设计与实现</dc:title>
  <dc:creator>顾云豪</dc:creator>
  <cp:lastModifiedBy>用户</cp:lastModifiedBy>
  <cp:revision>1</cp:revision>
  <dcterms:created xsi:type="dcterms:W3CDTF">2026-01-04T16:35:35Z</dcterms:created>
  <dcterms:modified xsi:type="dcterms:W3CDTF">2026-01-04T16:35:35Z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2026-01-05T08:00:00Z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2026-01-04T08:00:00Z</vt:filetime>
  </property>
  <property fmtid="{D5CDD505-2E9C-101B-9397-08002B2CF9AE}" pid="5" name="KSOProductBuildVer">
    <vt:lpwstr>2052-12.1.0.24034</vt:lpwstr>
  </property>
  <property fmtid="{D5CDD505-2E9C-101B-9397-08002B2CF9AE}" pid="6" name="ICV">
    <vt:lpwstr>9805B992C1B146B3B3CB4B05E4C0B062_12</vt:lpwstr>
  </property>
</Properties>
</file>