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dirty="0" spc="20"/>
              <a:t> </a:t>
            </a:r>
            <a:r>
              <a:rPr dirty="0">
                <a:latin typeface="黑体"/>
                <a:cs typeface="黑体"/>
              </a:rPr>
              <a:t>年</a:t>
            </a:r>
            <a:r>
              <a:rPr dirty="0" spc="40">
                <a:latin typeface="Times New Roman"/>
                <a:cs typeface="Times New Roman"/>
              </a:rPr>
              <a:t> </a:t>
            </a:r>
            <a:r>
              <a:rPr dirty="0"/>
              <a:t>1</a:t>
            </a:r>
            <a:r>
              <a:rPr dirty="0" spc="20"/>
              <a:t> </a:t>
            </a:r>
            <a:r>
              <a:rPr dirty="0">
                <a:latin typeface="黑体"/>
                <a:cs typeface="黑体"/>
              </a:rPr>
              <a:t>月</a:t>
            </a:r>
            <a:r>
              <a:rPr dirty="0" spc="40">
                <a:latin typeface="Times New Roman"/>
                <a:cs typeface="Times New Roman"/>
              </a:rPr>
              <a:t> </a:t>
            </a:r>
            <a:r>
              <a:rPr dirty="0"/>
              <a:t>4</a:t>
            </a:r>
            <a:r>
              <a:rPr dirty="0" spc="20"/>
              <a:t> </a:t>
            </a:r>
            <a:r>
              <a:rPr dirty="0" spc="-50">
                <a:latin typeface="黑体"/>
                <a:cs typeface="黑体"/>
              </a:rPr>
              <a:t>日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黑体"/>
                <a:cs typeface="黑体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pc="-30"/>
              <a:t>顾云豪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 spc="-25"/>
              <a:t>#</a:t>
            </a:fld>
            <a:r>
              <a:rPr dirty="0" spc="-65"/>
              <a:t> </a:t>
            </a:r>
            <a:r>
              <a:rPr dirty="0" spc="55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087" y="3045573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141470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319272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475618" y="303526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412450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772318" y="304796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468341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4759618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5030598" y="3035261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495439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5030598" y="307336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5301577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5603025" y="306574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5575961" y="303924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5481104" y="3035261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0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dirty="0" spc="20"/>
              <a:t> </a:t>
            </a:r>
            <a:r>
              <a:rPr dirty="0">
                <a:latin typeface="黑体"/>
                <a:cs typeface="黑体"/>
              </a:rPr>
              <a:t>年</a:t>
            </a:r>
            <a:r>
              <a:rPr dirty="0" spc="40">
                <a:latin typeface="Times New Roman"/>
                <a:cs typeface="Times New Roman"/>
              </a:rPr>
              <a:t> </a:t>
            </a:r>
            <a:r>
              <a:rPr dirty="0"/>
              <a:t>1</a:t>
            </a:r>
            <a:r>
              <a:rPr dirty="0" spc="20"/>
              <a:t> </a:t>
            </a:r>
            <a:r>
              <a:rPr dirty="0">
                <a:latin typeface="黑体"/>
                <a:cs typeface="黑体"/>
              </a:rPr>
              <a:t>月</a:t>
            </a:r>
            <a:r>
              <a:rPr dirty="0" spc="40">
                <a:latin typeface="Times New Roman"/>
                <a:cs typeface="Times New Roman"/>
              </a:rPr>
              <a:t> </a:t>
            </a:r>
            <a:r>
              <a:rPr dirty="0"/>
              <a:t>4</a:t>
            </a:r>
            <a:r>
              <a:rPr dirty="0" spc="20"/>
              <a:t> </a:t>
            </a:r>
            <a:r>
              <a:rPr dirty="0" spc="-50">
                <a:latin typeface="黑体"/>
                <a:cs typeface="黑体"/>
              </a:rPr>
              <a:t>日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黑体"/>
                <a:cs typeface="黑体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pc="-30"/>
              <a:t>顾云豪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 spc="-25"/>
              <a:t>#</a:t>
            </a:fld>
            <a:r>
              <a:rPr dirty="0" spc="-65"/>
              <a:t> </a:t>
            </a:r>
            <a:r>
              <a:rPr dirty="0" spc="55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087" y="3045573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141470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319272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475618" y="303526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412450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772318" y="304796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468341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4759618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5030598" y="3035261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495439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5030598" y="307336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5301577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5603025" y="306574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5575961" y="303924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5481104" y="3035261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0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9667" y="707057"/>
            <a:ext cx="1826895" cy="1814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13481" y="696668"/>
            <a:ext cx="2419350" cy="1814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dirty="0" spc="20"/>
              <a:t> </a:t>
            </a:r>
            <a:r>
              <a:rPr dirty="0">
                <a:latin typeface="黑体"/>
                <a:cs typeface="黑体"/>
              </a:rPr>
              <a:t>年</a:t>
            </a:r>
            <a:r>
              <a:rPr dirty="0" spc="40">
                <a:latin typeface="Times New Roman"/>
                <a:cs typeface="Times New Roman"/>
              </a:rPr>
              <a:t> </a:t>
            </a:r>
            <a:r>
              <a:rPr dirty="0"/>
              <a:t>1</a:t>
            </a:r>
            <a:r>
              <a:rPr dirty="0" spc="20"/>
              <a:t> </a:t>
            </a:r>
            <a:r>
              <a:rPr dirty="0">
                <a:latin typeface="黑体"/>
                <a:cs typeface="黑体"/>
              </a:rPr>
              <a:t>月</a:t>
            </a:r>
            <a:r>
              <a:rPr dirty="0" spc="40">
                <a:latin typeface="Times New Roman"/>
                <a:cs typeface="Times New Roman"/>
              </a:rPr>
              <a:t> </a:t>
            </a:r>
            <a:r>
              <a:rPr dirty="0"/>
              <a:t>4</a:t>
            </a:r>
            <a:r>
              <a:rPr dirty="0" spc="20"/>
              <a:t> </a:t>
            </a:r>
            <a:r>
              <a:rPr dirty="0" spc="-50">
                <a:latin typeface="黑体"/>
                <a:cs typeface="黑体"/>
              </a:rPr>
              <a:t>日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黑体"/>
                <a:cs typeface="黑体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pc="-30"/>
              <a:t>顾云豪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 spc="-25"/>
              <a:t>#</a:t>
            </a:fld>
            <a:r>
              <a:rPr dirty="0" spc="-65"/>
              <a:t> </a:t>
            </a:r>
            <a:r>
              <a:rPr dirty="0" spc="55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dirty="0" spc="20"/>
              <a:t> </a:t>
            </a:r>
            <a:r>
              <a:rPr dirty="0">
                <a:latin typeface="黑体"/>
                <a:cs typeface="黑体"/>
              </a:rPr>
              <a:t>年</a:t>
            </a:r>
            <a:r>
              <a:rPr dirty="0" spc="40">
                <a:latin typeface="Times New Roman"/>
                <a:cs typeface="Times New Roman"/>
              </a:rPr>
              <a:t> </a:t>
            </a:r>
            <a:r>
              <a:rPr dirty="0"/>
              <a:t>1</a:t>
            </a:r>
            <a:r>
              <a:rPr dirty="0" spc="20"/>
              <a:t> </a:t>
            </a:r>
            <a:r>
              <a:rPr dirty="0">
                <a:latin typeface="黑体"/>
                <a:cs typeface="黑体"/>
              </a:rPr>
              <a:t>月</a:t>
            </a:r>
            <a:r>
              <a:rPr dirty="0" spc="40">
                <a:latin typeface="Times New Roman"/>
                <a:cs typeface="Times New Roman"/>
              </a:rPr>
              <a:t> </a:t>
            </a:r>
            <a:r>
              <a:rPr dirty="0"/>
              <a:t>4</a:t>
            </a:r>
            <a:r>
              <a:rPr dirty="0" spc="20"/>
              <a:t> </a:t>
            </a:r>
            <a:r>
              <a:rPr dirty="0" spc="-50">
                <a:latin typeface="黑体"/>
                <a:cs typeface="黑体"/>
              </a:rPr>
              <a:t>日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黑体"/>
                <a:cs typeface="黑体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pc="-30"/>
              <a:t>顾云豪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 spc="-25"/>
              <a:t>#</a:t>
            </a:fld>
            <a:r>
              <a:rPr dirty="0" spc="-65"/>
              <a:t> </a:t>
            </a:r>
            <a:r>
              <a:rPr dirty="0" spc="55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dirty="0" spc="20"/>
              <a:t> </a:t>
            </a:r>
            <a:r>
              <a:rPr dirty="0">
                <a:latin typeface="黑体"/>
                <a:cs typeface="黑体"/>
              </a:rPr>
              <a:t>年</a:t>
            </a:r>
            <a:r>
              <a:rPr dirty="0" spc="40">
                <a:latin typeface="Times New Roman"/>
                <a:cs typeface="Times New Roman"/>
              </a:rPr>
              <a:t> </a:t>
            </a:r>
            <a:r>
              <a:rPr dirty="0"/>
              <a:t>1</a:t>
            </a:r>
            <a:r>
              <a:rPr dirty="0" spc="20"/>
              <a:t> </a:t>
            </a:r>
            <a:r>
              <a:rPr dirty="0">
                <a:latin typeface="黑体"/>
                <a:cs typeface="黑体"/>
              </a:rPr>
              <a:t>月</a:t>
            </a:r>
            <a:r>
              <a:rPr dirty="0" spc="40">
                <a:latin typeface="Times New Roman"/>
                <a:cs typeface="Times New Roman"/>
              </a:rPr>
              <a:t> </a:t>
            </a:r>
            <a:r>
              <a:rPr dirty="0"/>
              <a:t>4</a:t>
            </a:r>
            <a:r>
              <a:rPr dirty="0" spc="20"/>
              <a:t> </a:t>
            </a:r>
            <a:r>
              <a:rPr dirty="0" spc="-50">
                <a:latin typeface="黑体"/>
                <a:cs typeface="黑体"/>
              </a:rPr>
              <a:t>日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黑体"/>
                <a:cs typeface="黑体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pc="-30"/>
              <a:t>顾云豪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 spc="-25"/>
              <a:t>#</a:t>
            </a:fld>
            <a:r>
              <a:rPr dirty="0" spc="-65"/>
              <a:t> </a:t>
            </a:r>
            <a:r>
              <a:rPr dirty="0" spc="55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087" y="3045573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141470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319272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475618" y="303526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412450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772318" y="304796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468341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4759618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5030598" y="3035261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495439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5030598" y="307336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5301577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5603025" y="306574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5575961" y="303924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5481104" y="3035261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7"/>
            <a:ext cx="5575198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8290" y="746315"/>
            <a:ext cx="5189220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411205" y="3128314"/>
            <a:ext cx="629920" cy="109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dirty="0" spc="20"/>
              <a:t> </a:t>
            </a:r>
            <a:r>
              <a:rPr dirty="0">
                <a:latin typeface="黑体"/>
                <a:cs typeface="黑体"/>
              </a:rPr>
              <a:t>年</a:t>
            </a:r>
            <a:r>
              <a:rPr dirty="0" spc="40">
                <a:latin typeface="Times New Roman"/>
                <a:cs typeface="Times New Roman"/>
              </a:rPr>
              <a:t> </a:t>
            </a:r>
            <a:r>
              <a:rPr dirty="0"/>
              <a:t>1</a:t>
            </a:r>
            <a:r>
              <a:rPr dirty="0" spc="20"/>
              <a:t> </a:t>
            </a:r>
            <a:r>
              <a:rPr dirty="0">
                <a:latin typeface="黑体"/>
                <a:cs typeface="黑体"/>
              </a:rPr>
              <a:t>月</a:t>
            </a:r>
            <a:r>
              <a:rPr dirty="0" spc="40">
                <a:latin typeface="Times New Roman"/>
                <a:cs typeface="Times New Roman"/>
              </a:rPr>
              <a:t> </a:t>
            </a:r>
            <a:r>
              <a:rPr dirty="0"/>
              <a:t>4</a:t>
            </a:r>
            <a:r>
              <a:rPr dirty="0" spc="20"/>
              <a:t> </a:t>
            </a:r>
            <a:r>
              <a:rPr dirty="0" spc="-50">
                <a:latin typeface="黑体"/>
                <a:cs typeface="黑体"/>
              </a:rPr>
              <a:t>日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33412" y="3128314"/>
            <a:ext cx="253365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黑体"/>
                <a:cs typeface="黑体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pc="-30"/>
              <a:t>顾云豪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06453" y="3135783"/>
            <a:ext cx="198754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 spc="-25"/>
              <a:t>#</a:t>
            </a:fld>
            <a:r>
              <a:rPr dirty="0" spc="-65"/>
              <a:t> </a:t>
            </a:r>
            <a:r>
              <a:rPr dirty="0" spc="55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8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8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" Target="slide1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" Target="slide1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slide" Target="slide1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slide" Target="slide1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slide" Target="slide1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7743" y="674864"/>
            <a:ext cx="5635625" cy="744220"/>
            <a:chOff x="87743" y="674864"/>
            <a:chExt cx="5635625" cy="744220"/>
          </a:xfrm>
        </p:grpSpPr>
        <p:sp>
          <p:nvSpPr>
            <p:cNvPr id="3" name="object 3" descr=""/>
            <p:cNvSpPr/>
            <p:nvPr/>
          </p:nvSpPr>
          <p:spPr>
            <a:xfrm>
              <a:off x="87743" y="674864"/>
              <a:ext cx="5584825" cy="82550"/>
            </a:xfrm>
            <a:custGeom>
              <a:avLst/>
              <a:gdLst/>
              <a:ahLst/>
              <a:cxnLst/>
              <a:rect l="l" t="t" r="r" b="b"/>
              <a:pathLst>
                <a:path w="5584825" h="82550">
                  <a:moveTo>
                    <a:pt x="5533779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584580" y="82384"/>
                  </a:lnTo>
                  <a:lnTo>
                    <a:pt x="5584580" y="50800"/>
                  </a:lnTo>
                  <a:lnTo>
                    <a:pt x="5580571" y="31075"/>
                  </a:lnTo>
                  <a:lnTo>
                    <a:pt x="5569657" y="14922"/>
                  </a:lnTo>
                  <a:lnTo>
                    <a:pt x="5553504" y="4008"/>
                  </a:lnTo>
                  <a:lnTo>
                    <a:pt x="553377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38544" y="738122"/>
              <a:ext cx="5584825" cy="680720"/>
            </a:xfrm>
            <a:custGeom>
              <a:avLst/>
              <a:gdLst/>
              <a:ahLst/>
              <a:cxnLst/>
              <a:rect l="l" t="t" r="r" b="b"/>
              <a:pathLst>
                <a:path w="5584825" h="680719">
                  <a:moveTo>
                    <a:pt x="5584580" y="0"/>
                  </a:moveTo>
                  <a:lnTo>
                    <a:pt x="0" y="0"/>
                  </a:lnTo>
                  <a:lnTo>
                    <a:pt x="0" y="680430"/>
                  </a:lnTo>
                  <a:lnTo>
                    <a:pt x="5584580" y="680430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7743" y="719285"/>
              <a:ext cx="5584825" cy="648970"/>
            </a:xfrm>
            <a:custGeom>
              <a:avLst/>
              <a:gdLst/>
              <a:ahLst/>
              <a:cxnLst/>
              <a:rect l="l" t="t" r="r" b="b"/>
              <a:pathLst>
                <a:path w="5584825" h="648969">
                  <a:moveTo>
                    <a:pt x="5584580" y="0"/>
                  </a:moveTo>
                  <a:lnTo>
                    <a:pt x="0" y="0"/>
                  </a:lnTo>
                  <a:lnTo>
                    <a:pt x="0" y="597666"/>
                  </a:lnTo>
                  <a:lnTo>
                    <a:pt x="4008" y="617390"/>
                  </a:lnTo>
                  <a:lnTo>
                    <a:pt x="14922" y="633543"/>
                  </a:lnTo>
                  <a:lnTo>
                    <a:pt x="31075" y="644458"/>
                  </a:lnTo>
                  <a:lnTo>
                    <a:pt x="50800" y="648466"/>
                  </a:lnTo>
                  <a:lnTo>
                    <a:pt x="5533779" y="648466"/>
                  </a:lnTo>
                  <a:lnTo>
                    <a:pt x="5553504" y="644458"/>
                  </a:lnTo>
                  <a:lnTo>
                    <a:pt x="5569657" y="633543"/>
                  </a:lnTo>
                  <a:lnTo>
                    <a:pt x="5580571" y="617390"/>
                  </a:lnTo>
                  <a:lnTo>
                    <a:pt x="5584580" y="597666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497241" y="741856"/>
            <a:ext cx="2766060" cy="507365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基</a:t>
            </a: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于</a:t>
            </a:r>
            <a:r>
              <a:rPr dirty="0" sz="1400" spc="-10">
                <a:solidFill>
                  <a:srgbClr val="FFFFFF"/>
                </a:solidFill>
                <a:latin typeface="Lucida Sans"/>
                <a:cs typeface="Lucida Sans"/>
              </a:rPr>
              <a:t>RISC-V</a:t>
            </a: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的</a:t>
            </a: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智</a:t>
            </a: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能</a:t>
            </a: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气</a:t>
            </a: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垫</a:t>
            </a: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船</a:t>
            </a: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控</a:t>
            </a: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制</a:t>
            </a: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系</a:t>
            </a:r>
            <a:r>
              <a:rPr dirty="0" sz="1400" spc="-50">
                <a:solidFill>
                  <a:srgbClr val="FFFFFF"/>
                </a:solidFill>
                <a:latin typeface="黑体"/>
                <a:cs typeface="黑体"/>
              </a:rPr>
              <a:t>统</a:t>
            </a:r>
            <a:endParaRPr sz="1400">
              <a:latin typeface="黑体"/>
              <a:cs typeface="黑体"/>
            </a:endParaRPr>
          </a:p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dirty="0" sz="1100" spc="-20">
                <a:solidFill>
                  <a:srgbClr val="FFFFFF"/>
                </a:solidFill>
                <a:latin typeface="黑体"/>
                <a:cs typeface="黑体"/>
              </a:rPr>
              <a:t>技</a:t>
            </a:r>
            <a:r>
              <a:rPr dirty="0" sz="1100" spc="-20">
                <a:solidFill>
                  <a:srgbClr val="FFFFFF"/>
                </a:solidFill>
                <a:latin typeface="黑体"/>
                <a:cs typeface="黑体"/>
              </a:rPr>
              <a:t>术</a:t>
            </a:r>
            <a:r>
              <a:rPr dirty="0" sz="1100" spc="-20">
                <a:solidFill>
                  <a:srgbClr val="FFFFFF"/>
                </a:solidFill>
                <a:latin typeface="黑体"/>
                <a:cs typeface="黑体"/>
              </a:rPr>
              <a:t>架</a:t>
            </a:r>
            <a:r>
              <a:rPr dirty="0" sz="1100" spc="-20">
                <a:solidFill>
                  <a:srgbClr val="FFFFFF"/>
                </a:solidFill>
                <a:latin typeface="黑体"/>
                <a:cs typeface="黑体"/>
              </a:rPr>
              <a:t>构</a:t>
            </a:r>
            <a:r>
              <a:rPr dirty="0" sz="1100" spc="-20">
                <a:solidFill>
                  <a:srgbClr val="FFFFFF"/>
                </a:solidFill>
                <a:latin typeface="黑体"/>
                <a:cs typeface="黑体"/>
              </a:rPr>
              <a:t>与</a:t>
            </a:r>
            <a:r>
              <a:rPr dirty="0" sz="1100" spc="-20">
                <a:solidFill>
                  <a:srgbClr val="FFFFFF"/>
                </a:solidFill>
                <a:latin typeface="黑体"/>
                <a:cs typeface="黑体"/>
              </a:rPr>
              <a:t>实</a:t>
            </a:r>
            <a:r>
              <a:rPr dirty="0" sz="1100" spc="-50">
                <a:solidFill>
                  <a:srgbClr val="FFFFFF"/>
                </a:solidFill>
                <a:latin typeface="黑体"/>
                <a:cs typeface="黑体"/>
              </a:rPr>
              <a:t>现</a:t>
            </a:r>
            <a:endParaRPr sz="1100">
              <a:latin typeface="黑体"/>
              <a:cs typeface="黑体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336203" y="1592464"/>
            <a:ext cx="1087755" cy="7467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黑体"/>
                <a:cs typeface="黑体"/>
              </a:rPr>
              <a:t>顾</a:t>
            </a:r>
            <a:r>
              <a:rPr dirty="0" sz="1100" spc="-20">
                <a:latin typeface="黑体"/>
                <a:cs typeface="黑体"/>
              </a:rPr>
              <a:t>云</a:t>
            </a:r>
            <a:r>
              <a:rPr dirty="0" sz="1100" spc="-50">
                <a:latin typeface="黑体"/>
                <a:cs typeface="黑体"/>
              </a:rPr>
              <a:t>豪</a:t>
            </a:r>
            <a:endParaRPr sz="1100">
              <a:latin typeface="黑体"/>
              <a:cs typeface="黑体"/>
            </a:endParaRPr>
          </a:p>
          <a:p>
            <a:pPr>
              <a:lnSpc>
                <a:spcPct val="100000"/>
              </a:lnSpc>
            </a:pPr>
            <a:endParaRPr sz="11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黑体"/>
              <a:cs typeface="黑体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100" spc="-50">
                <a:latin typeface="Tahoma"/>
                <a:cs typeface="Tahoma"/>
              </a:rPr>
              <a:t>2026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黑体"/>
                <a:cs typeface="黑体"/>
              </a:rPr>
              <a:t>年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ahoma"/>
                <a:cs typeface="Tahoma"/>
              </a:rPr>
              <a:t>1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黑体"/>
                <a:cs typeface="黑体"/>
              </a:rPr>
              <a:t>月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ahoma"/>
                <a:cs typeface="Tahoma"/>
              </a:rPr>
              <a:t>4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>
                <a:latin typeface="黑体"/>
                <a:cs typeface="黑体"/>
              </a:rPr>
              <a:t>日</a:t>
            </a:r>
            <a:endParaRPr sz="1100">
              <a:latin typeface="黑体"/>
              <a:cs typeface="黑体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9" name="object 9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pc="-30"/>
              <a:t>顾云豪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2285961" y="3128314"/>
            <a:ext cx="1188085" cy="109855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600" spc="-20">
                <a:solidFill>
                  <a:srgbClr val="FFFFFF"/>
                </a:solidFill>
                <a:latin typeface="黑体"/>
                <a:cs typeface="黑体"/>
                <a:hlinkClick r:id="rId2" action="ppaction://hlinksldjump"/>
              </a:rPr>
              <a:t>基于</a:t>
            </a:r>
            <a:r>
              <a:rPr dirty="0" sz="600">
                <a:solidFill>
                  <a:srgbClr val="FFFFFF"/>
                </a:solidFill>
                <a:latin typeface="Century Gothic"/>
                <a:cs typeface="Century Gothic"/>
                <a:hlinkClick r:id="rId2" action="ppaction://hlinksldjump"/>
              </a:rPr>
              <a:t>RISC-V</a:t>
            </a:r>
            <a:r>
              <a:rPr dirty="0" sz="600" spc="-20">
                <a:solidFill>
                  <a:srgbClr val="FFFFFF"/>
                </a:solidFill>
                <a:latin typeface="黑体"/>
                <a:cs typeface="黑体"/>
                <a:hlinkClick r:id="rId2" action="ppaction://hlinksldjump"/>
              </a:rPr>
              <a:t>的智能气垫</a:t>
            </a:r>
            <a:r>
              <a:rPr dirty="0" sz="600" spc="-10">
                <a:solidFill>
                  <a:srgbClr val="FFFFFF"/>
                </a:solidFill>
                <a:latin typeface="黑体"/>
                <a:cs typeface="黑体"/>
                <a:hlinkClick r:id="rId2" action="ppaction://hlinksldjump"/>
              </a:rPr>
              <a:t>船</a:t>
            </a:r>
            <a:r>
              <a:rPr dirty="0" sz="600" spc="-10">
                <a:solidFill>
                  <a:srgbClr val="FFFFFF"/>
                </a:solidFill>
                <a:latin typeface="黑体"/>
                <a:cs typeface="黑体"/>
                <a:hlinkClick r:id="rId2" action="ppaction://hlinksldjump"/>
              </a:rPr>
              <a:t>控</a:t>
            </a:r>
            <a:r>
              <a:rPr dirty="0" sz="600" spc="-20">
                <a:solidFill>
                  <a:srgbClr val="FFFFFF"/>
                </a:solidFill>
                <a:latin typeface="黑体"/>
                <a:cs typeface="黑体"/>
                <a:hlinkClick r:id="rId2" action="ppaction://hlinksldjump"/>
              </a:rPr>
              <a:t>制</a:t>
            </a:r>
            <a:r>
              <a:rPr dirty="0" sz="600" spc="-10">
                <a:solidFill>
                  <a:srgbClr val="FFFFFF"/>
                </a:solidFill>
                <a:latin typeface="黑体"/>
                <a:cs typeface="黑体"/>
                <a:hlinkClick r:id="rId2" action="ppaction://hlinksldjump"/>
              </a:rPr>
              <a:t>系</a:t>
            </a:r>
            <a:r>
              <a:rPr dirty="0" sz="600" spc="-50">
                <a:solidFill>
                  <a:srgbClr val="FFFFFF"/>
                </a:solidFill>
                <a:latin typeface="黑体"/>
                <a:cs typeface="黑体"/>
                <a:hlinkClick r:id="rId2" action="ppaction://hlinksldjump"/>
              </a:rPr>
              <a:t>统</a:t>
            </a:r>
            <a:endParaRPr sz="600">
              <a:latin typeface="黑体"/>
              <a:cs typeface="黑体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dirty="0" spc="20"/>
              <a:t> </a:t>
            </a:r>
            <a:r>
              <a:rPr dirty="0">
                <a:latin typeface="黑体"/>
                <a:cs typeface="黑体"/>
              </a:rPr>
              <a:t>年</a:t>
            </a:r>
            <a:r>
              <a:rPr dirty="0" spc="40">
                <a:latin typeface="Times New Roman"/>
                <a:cs typeface="Times New Roman"/>
              </a:rPr>
              <a:t> </a:t>
            </a:r>
            <a:r>
              <a:rPr dirty="0"/>
              <a:t>1</a:t>
            </a:r>
            <a:r>
              <a:rPr dirty="0" spc="20"/>
              <a:t> </a:t>
            </a:r>
            <a:r>
              <a:rPr dirty="0">
                <a:latin typeface="黑体"/>
                <a:cs typeface="黑体"/>
              </a:rPr>
              <a:t>月</a:t>
            </a:r>
            <a:r>
              <a:rPr dirty="0" spc="40">
                <a:latin typeface="Times New Roman"/>
                <a:cs typeface="Times New Roman"/>
              </a:rPr>
              <a:t> </a:t>
            </a:r>
            <a:r>
              <a:rPr dirty="0"/>
              <a:t>4</a:t>
            </a:r>
            <a:r>
              <a:rPr dirty="0" spc="20"/>
              <a:t> </a:t>
            </a:r>
            <a:r>
              <a:rPr dirty="0" spc="-50">
                <a:latin typeface="黑体"/>
                <a:cs typeface="黑体"/>
              </a:rPr>
              <a:t>日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25"/>
              <a:t>1</a:t>
            </a:fld>
            <a:r>
              <a:rPr dirty="0" spc="-65"/>
              <a:t> </a:t>
            </a:r>
            <a:r>
              <a:rPr dirty="0" spc="55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5300" y="59877"/>
            <a:ext cx="38989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目</a:t>
            </a:r>
            <a:r>
              <a:rPr dirty="0" sz="1400" spc="-50">
                <a:solidFill>
                  <a:srgbClr val="FFFFFF"/>
                </a:solidFill>
                <a:latin typeface="黑体"/>
                <a:cs typeface="黑体"/>
              </a:rPr>
              <a:t>录</a:t>
            </a:r>
            <a:endParaRPr sz="1400">
              <a:latin typeface="黑体"/>
              <a:cs typeface="黑体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809116"/>
            <a:ext cx="160096" cy="16009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280" y="1203553"/>
            <a:ext cx="160096" cy="1600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280" y="1597977"/>
            <a:ext cx="160096" cy="1600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992414"/>
            <a:ext cx="160096" cy="16009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29743" y="781023"/>
            <a:ext cx="745490" cy="1375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7800" indent="-165735">
              <a:lnSpc>
                <a:spcPct val="100000"/>
              </a:lnSpc>
              <a:spcBef>
                <a:spcPts val="90"/>
              </a:spcBef>
              <a:buClr>
                <a:srgbClr val="EAEAF7"/>
              </a:buClr>
              <a:buSzPct val="72727"/>
              <a:buFont typeface="Century Gothic"/>
              <a:buAutoNum type="arabicPlain"/>
              <a:tabLst>
                <a:tab pos="178435" algn="l"/>
              </a:tabLst>
            </a:pPr>
            <a:r>
              <a:rPr dirty="0" sz="1100" spc="-20">
                <a:solidFill>
                  <a:srgbClr val="3333B2"/>
                </a:solidFill>
                <a:latin typeface="黑体"/>
                <a:cs typeface="黑体"/>
                <a:hlinkClick r:id="rId5" action="ppaction://hlinksldjump"/>
              </a:rPr>
              <a:t>项</a:t>
            </a:r>
            <a:r>
              <a:rPr dirty="0" sz="1100" spc="-20">
                <a:solidFill>
                  <a:srgbClr val="3333B2"/>
                </a:solidFill>
                <a:latin typeface="黑体"/>
                <a:cs typeface="黑体"/>
                <a:hlinkClick r:id="rId5" action="ppaction://hlinksldjump"/>
              </a:rPr>
              <a:t>目</a:t>
            </a:r>
            <a:r>
              <a:rPr dirty="0" sz="1100" spc="-20">
                <a:solidFill>
                  <a:srgbClr val="3333B2"/>
                </a:solidFill>
                <a:latin typeface="黑体"/>
                <a:cs typeface="黑体"/>
                <a:hlinkClick r:id="rId5" action="ppaction://hlinksldjump"/>
              </a:rPr>
              <a:t>背</a:t>
            </a:r>
            <a:r>
              <a:rPr dirty="0" sz="1100" spc="-50">
                <a:solidFill>
                  <a:srgbClr val="3333B2"/>
                </a:solidFill>
                <a:latin typeface="黑体"/>
                <a:cs typeface="黑体"/>
                <a:hlinkClick r:id="rId5" action="ppaction://hlinksldjump"/>
              </a:rPr>
              <a:t>景</a:t>
            </a:r>
            <a:endParaRPr sz="11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AEAF7"/>
              </a:buClr>
              <a:buFont typeface="Century Gothic"/>
              <a:buAutoNum type="arabicPlain"/>
            </a:pPr>
            <a:endParaRPr sz="1350">
              <a:latin typeface="黑体"/>
              <a:cs typeface="黑体"/>
            </a:endParaRPr>
          </a:p>
          <a:p>
            <a:pPr marL="177800" indent="-165735">
              <a:lnSpc>
                <a:spcPct val="100000"/>
              </a:lnSpc>
              <a:buClr>
                <a:srgbClr val="EAEAF7"/>
              </a:buClr>
              <a:buSzPct val="72727"/>
              <a:buFont typeface="Century Gothic"/>
              <a:buAutoNum type="arabicPlain"/>
              <a:tabLst>
                <a:tab pos="178435" algn="l"/>
              </a:tabLst>
            </a:pPr>
            <a:r>
              <a:rPr dirty="0" sz="1100" spc="-20">
                <a:solidFill>
                  <a:srgbClr val="3333B2"/>
                </a:solidFill>
                <a:latin typeface="黑体"/>
                <a:cs typeface="黑体"/>
                <a:hlinkClick r:id="rId6" action="ppaction://hlinksldjump"/>
              </a:rPr>
              <a:t>系</a:t>
            </a:r>
            <a:r>
              <a:rPr dirty="0" sz="1100" spc="-20">
                <a:solidFill>
                  <a:srgbClr val="3333B2"/>
                </a:solidFill>
                <a:latin typeface="黑体"/>
                <a:cs typeface="黑体"/>
                <a:hlinkClick r:id="rId6" action="ppaction://hlinksldjump"/>
              </a:rPr>
              <a:t>统</a:t>
            </a:r>
            <a:r>
              <a:rPr dirty="0" sz="1100" spc="-20">
                <a:solidFill>
                  <a:srgbClr val="3333B2"/>
                </a:solidFill>
                <a:latin typeface="黑体"/>
                <a:cs typeface="黑体"/>
                <a:hlinkClick r:id="rId6" action="ppaction://hlinksldjump"/>
              </a:rPr>
              <a:t>架</a:t>
            </a:r>
            <a:r>
              <a:rPr dirty="0" sz="1100" spc="-50">
                <a:solidFill>
                  <a:srgbClr val="3333B2"/>
                </a:solidFill>
                <a:latin typeface="黑体"/>
                <a:cs typeface="黑体"/>
                <a:hlinkClick r:id="rId6" action="ppaction://hlinksldjump"/>
              </a:rPr>
              <a:t>构</a:t>
            </a:r>
            <a:endParaRPr sz="11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AEAF7"/>
              </a:buClr>
              <a:buFont typeface="Century Gothic"/>
              <a:buAutoNum type="arabicPlain"/>
            </a:pPr>
            <a:endParaRPr sz="1350">
              <a:latin typeface="黑体"/>
              <a:cs typeface="黑体"/>
            </a:endParaRPr>
          </a:p>
          <a:p>
            <a:pPr marL="177800" indent="-165735">
              <a:lnSpc>
                <a:spcPct val="100000"/>
              </a:lnSpc>
              <a:buClr>
                <a:srgbClr val="EAEAF7"/>
              </a:buClr>
              <a:buSzPct val="72727"/>
              <a:buFont typeface="Century Gothic"/>
              <a:buAutoNum type="arabicPlain"/>
              <a:tabLst>
                <a:tab pos="178435" algn="l"/>
              </a:tabLst>
            </a:pPr>
            <a:r>
              <a:rPr dirty="0" sz="1100" spc="-20">
                <a:solidFill>
                  <a:srgbClr val="3333B2"/>
                </a:solidFill>
                <a:latin typeface="黑体"/>
                <a:cs typeface="黑体"/>
                <a:hlinkClick r:id="rId7" action="ppaction://hlinksldjump"/>
              </a:rPr>
              <a:t>硬</a:t>
            </a:r>
            <a:r>
              <a:rPr dirty="0" sz="1100" spc="-20">
                <a:solidFill>
                  <a:srgbClr val="3333B2"/>
                </a:solidFill>
                <a:latin typeface="黑体"/>
                <a:cs typeface="黑体"/>
                <a:hlinkClick r:id="rId7" action="ppaction://hlinksldjump"/>
              </a:rPr>
              <a:t>件</a:t>
            </a:r>
            <a:r>
              <a:rPr dirty="0" sz="1100" spc="-20">
                <a:solidFill>
                  <a:srgbClr val="3333B2"/>
                </a:solidFill>
                <a:latin typeface="黑体"/>
                <a:cs typeface="黑体"/>
                <a:hlinkClick r:id="rId7" action="ppaction://hlinksldjump"/>
              </a:rPr>
              <a:t>设</a:t>
            </a:r>
            <a:r>
              <a:rPr dirty="0" sz="1100" spc="-50">
                <a:solidFill>
                  <a:srgbClr val="3333B2"/>
                </a:solidFill>
                <a:latin typeface="黑体"/>
                <a:cs typeface="黑体"/>
                <a:hlinkClick r:id="rId7" action="ppaction://hlinksldjump"/>
              </a:rPr>
              <a:t>计</a:t>
            </a:r>
            <a:endParaRPr sz="11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AEAF7"/>
              </a:buClr>
              <a:buFont typeface="Century Gothic"/>
              <a:buAutoNum type="arabicPlain"/>
            </a:pPr>
            <a:endParaRPr sz="1350">
              <a:latin typeface="黑体"/>
              <a:cs typeface="黑体"/>
            </a:endParaRPr>
          </a:p>
          <a:p>
            <a:pPr marL="177800" indent="-165735">
              <a:lnSpc>
                <a:spcPct val="100000"/>
              </a:lnSpc>
              <a:spcBef>
                <a:spcPts val="5"/>
              </a:spcBef>
              <a:buClr>
                <a:srgbClr val="EAEAF7"/>
              </a:buClr>
              <a:buSzPct val="72727"/>
              <a:buFont typeface="Century Gothic"/>
              <a:buAutoNum type="arabicPlain"/>
              <a:tabLst>
                <a:tab pos="178435" algn="l"/>
              </a:tabLst>
            </a:pPr>
            <a:r>
              <a:rPr dirty="0" sz="1100" spc="-20">
                <a:solidFill>
                  <a:srgbClr val="3333B2"/>
                </a:solidFill>
                <a:latin typeface="黑体"/>
                <a:cs typeface="黑体"/>
                <a:hlinkClick r:id="rId8" action="ppaction://hlinksldjump"/>
              </a:rPr>
              <a:t>软</a:t>
            </a:r>
            <a:r>
              <a:rPr dirty="0" sz="1100" spc="-20">
                <a:solidFill>
                  <a:srgbClr val="3333B2"/>
                </a:solidFill>
                <a:latin typeface="黑体"/>
                <a:cs typeface="黑体"/>
                <a:hlinkClick r:id="rId8" action="ppaction://hlinksldjump"/>
              </a:rPr>
              <a:t>件</a:t>
            </a:r>
            <a:r>
              <a:rPr dirty="0" sz="1100" spc="-20">
                <a:solidFill>
                  <a:srgbClr val="3333B2"/>
                </a:solidFill>
                <a:latin typeface="黑体"/>
                <a:cs typeface="黑体"/>
                <a:hlinkClick r:id="rId8" action="ppaction://hlinksldjump"/>
              </a:rPr>
              <a:t>设</a:t>
            </a:r>
            <a:r>
              <a:rPr dirty="0" sz="1100" spc="-50">
                <a:solidFill>
                  <a:srgbClr val="3333B2"/>
                </a:solidFill>
                <a:latin typeface="黑体"/>
                <a:cs typeface="黑体"/>
                <a:hlinkClick r:id="rId8" action="ppaction://hlinksldjump"/>
              </a:rPr>
              <a:t>计</a:t>
            </a:r>
            <a:endParaRPr sz="1100">
              <a:latin typeface="黑体"/>
              <a:cs typeface="黑体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2386838"/>
            <a:ext cx="160096" cy="16009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29743" y="2386176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>
                <a:solidFill>
                  <a:srgbClr val="EAEAF7"/>
                </a:solidFill>
                <a:latin typeface="Century Gothic"/>
                <a:cs typeface="Century Gothic"/>
              </a:rPr>
              <a:t>5</a:t>
            </a:r>
            <a:endParaRPr sz="800">
              <a:latin typeface="Century Gothic"/>
              <a:cs typeface="Century Gothic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95173" y="2358744"/>
            <a:ext cx="7181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solidFill>
                  <a:srgbClr val="3333B2"/>
                </a:solidFill>
                <a:latin typeface="黑体"/>
                <a:cs typeface="黑体"/>
                <a:hlinkClick r:id="rId9" action="ppaction://hlinksldjump"/>
              </a:rPr>
              <a:t>总</a:t>
            </a:r>
            <a:r>
              <a:rPr dirty="0" sz="1100" spc="-20">
                <a:solidFill>
                  <a:srgbClr val="3333B2"/>
                </a:solidFill>
                <a:latin typeface="黑体"/>
                <a:cs typeface="黑体"/>
                <a:hlinkClick r:id="rId9" action="ppaction://hlinksldjump"/>
              </a:rPr>
              <a:t>结</a:t>
            </a:r>
            <a:r>
              <a:rPr dirty="0" sz="1100" spc="-20">
                <a:solidFill>
                  <a:srgbClr val="3333B2"/>
                </a:solidFill>
                <a:latin typeface="黑体"/>
                <a:cs typeface="黑体"/>
                <a:hlinkClick r:id="rId9" action="ppaction://hlinksldjump"/>
              </a:rPr>
              <a:t>与</a:t>
            </a:r>
            <a:r>
              <a:rPr dirty="0" sz="1100" spc="-20">
                <a:solidFill>
                  <a:srgbClr val="3333B2"/>
                </a:solidFill>
                <a:latin typeface="黑体"/>
                <a:cs typeface="黑体"/>
                <a:hlinkClick r:id="rId9" action="ppaction://hlinksldjump"/>
              </a:rPr>
              <a:t>展</a:t>
            </a:r>
            <a:r>
              <a:rPr dirty="0" sz="1100" spc="-50">
                <a:solidFill>
                  <a:srgbClr val="3333B2"/>
                </a:solidFill>
                <a:latin typeface="黑体"/>
                <a:cs typeface="黑体"/>
                <a:hlinkClick r:id="rId9" action="ppaction://hlinksldjump"/>
              </a:rPr>
              <a:t>望</a:t>
            </a:r>
            <a:endParaRPr sz="1100">
              <a:latin typeface="黑体"/>
              <a:cs typeface="黑体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3" name="object 13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83993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pc="-30"/>
              <a:t>顾云豪</a:t>
            </a:r>
          </a:p>
        </p:txBody>
      </p:sp>
      <p:sp>
        <p:nvSpPr>
          <p:cNvPr id="17" name="object 17" descr=""/>
          <p:cNvSpPr txBox="1"/>
          <p:nvPr/>
        </p:nvSpPr>
        <p:spPr>
          <a:xfrm>
            <a:off x="2285961" y="3128314"/>
            <a:ext cx="1188085" cy="109855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600" spc="-20">
                <a:solidFill>
                  <a:srgbClr val="FFFFFF"/>
                </a:solidFill>
                <a:latin typeface="黑体"/>
                <a:cs typeface="黑体"/>
                <a:hlinkClick r:id="rId9" action="ppaction://hlinksldjump"/>
              </a:rPr>
              <a:t>基于</a:t>
            </a:r>
            <a:r>
              <a:rPr dirty="0" sz="600">
                <a:solidFill>
                  <a:srgbClr val="FFFFFF"/>
                </a:solidFill>
                <a:latin typeface="Century Gothic"/>
                <a:cs typeface="Century Gothic"/>
                <a:hlinkClick r:id="rId9" action="ppaction://hlinksldjump"/>
              </a:rPr>
              <a:t>RISC-V</a:t>
            </a:r>
            <a:r>
              <a:rPr dirty="0" sz="600" spc="-20">
                <a:solidFill>
                  <a:srgbClr val="FFFFFF"/>
                </a:solidFill>
                <a:latin typeface="黑体"/>
                <a:cs typeface="黑体"/>
                <a:hlinkClick r:id="rId9" action="ppaction://hlinksldjump"/>
              </a:rPr>
              <a:t>的智能气垫</a:t>
            </a:r>
            <a:r>
              <a:rPr dirty="0" sz="600" spc="-10">
                <a:solidFill>
                  <a:srgbClr val="FFFFFF"/>
                </a:solidFill>
                <a:latin typeface="黑体"/>
                <a:cs typeface="黑体"/>
                <a:hlinkClick r:id="rId9" action="ppaction://hlinksldjump"/>
              </a:rPr>
              <a:t>船</a:t>
            </a:r>
            <a:r>
              <a:rPr dirty="0" sz="600" spc="-10">
                <a:solidFill>
                  <a:srgbClr val="FFFFFF"/>
                </a:solidFill>
                <a:latin typeface="黑体"/>
                <a:cs typeface="黑体"/>
                <a:hlinkClick r:id="rId9" action="ppaction://hlinksldjump"/>
              </a:rPr>
              <a:t>控</a:t>
            </a:r>
            <a:r>
              <a:rPr dirty="0" sz="600" spc="-20">
                <a:solidFill>
                  <a:srgbClr val="FFFFFF"/>
                </a:solidFill>
                <a:latin typeface="黑体"/>
                <a:cs typeface="黑体"/>
                <a:hlinkClick r:id="rId9" action="ppaction://hlinksldjump"/>
              </a:rPr>
              <a:t>制</a:t>
            </a:r>
            <a:r>
              <a:rPr dirty="0" sz="600" spc="-10">
                <a:solidFill>
                  <a:srgbClr val="FFFFFF"/>
                </a:solidFill>
                <a:latin typeface="黑体"/>
                <a:cs typeface="黑体"/>
                <a:hlinkClick r:id="rId9" action="ppaction://hlinksldjump"/>
              </a:rPr>
              <a:t>系</a:t>
            </a:r>
            <a:r>
              <a:rPr dirty="0" sz="600" spc="-50">
                <a:solidFill>
                  <a:srgbClr val="FFFFFF"/>
                </a:solidFill>
                <a:latin typeface="黑体"/>
                <a:cs typeface="黑体"/>
                <a:hlinkClick r:id="rId9" action="ppaction://hlinksldjump"/>
              </a:rPr>
              <a:t>统</a:t>
            </a:r>
            <a:endParaRPr sz="600">
              <a:latin typeface="黑体"/>
              <a:cs typeface="黑体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dirty="0" spc="20"/>
              <a:t> </a:t>
            </a:r>
            <a:r>
              <a:rPr dirty="0">
                <a:latin typeface="黑体"/>
                <a:cs typeface="黑体"/>
              </a:rPr>
              <a:t>年</a:t>
            </a:r>
            <a:r>
              <a:rPr dirty="0" spc="40">
                <a:latin typeface="Times New Roman"/>
                <a:cs typeface="Times New Roman"/>
              </a:rPr>
              <a:t> </a:t>
            </a:r>
            <a:r>
              <a:rPr dirty="0"/>
              <a:t>1</a:t>
            </a:r>
            <a:r>
              <a:rPr dirty="0" spc="20"/>
              <a:t> </a:t>
            </a:r>
            <a:r>
              <a:rPr dirty="0">
                <a:latin typeface="黑体"/>
                <a:cs typeface="黑体"/>
              </a:rPr>
              <a:t>月</a:t>
            </a:r>
            <a:r>
              <a:rPr dirty="0" spc="40">
                <a:latin typeface="Times New Roman"/>
                <a:cs typeface="Times New Roman"/>
              </a:rPr>
              <a:t> </a:t>
            </a:r>
            <a:r>
              <a:rPr dirty="0"/>
              <a:t>4</a:t>
            </a:r>
            <a:r>
              <a:rPr dirty="0" spc="20"/>
              <a:t> </a:t>
            </a:r>
            <a:r>
              <a:rPr dirty="0" spc="-50">
                <a:latin typeface="黑体"/>
                <a:cs typeface="黑体"/>
              </a:rPr>
              <a:t>日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25"/>
              <a:t>1</a:t>
            </a:fld>
            <a:r>
              <a:rPr dirty="0" spc="-65"/>
              <a:t> </a:t>
            </a:r>
            <a:r>
              <a:rPr dirty="0" spc="55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5300" y="59877"/>
            <a:ext cx="130111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什</a:t>
            </a: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么</a:t>
            </a: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是</a:t>
            </a: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气</a:t>
            </a: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垫</a:t>
            </a: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船</a:t>
            </a:r>
            <a:r>
              <a:rPr dirty="0" sz="1400" spc="-50">
                <a:solidFill>
                  <a:srgbClr val="FFFFFF"/>
                </a:solidFill>
                <a:latin typeface="黑体"/>
                <a:cs typeface="黑体"/>
              </a:rPr>
              <a:t>？</a:t>
            </a:r>
            <a:endParaRPr sz="1400">
              <a:latin typeface="黑体"/>
              <a:cs typeface="黑体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013447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911" y="1223479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911" y="1433512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911" y="2033574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911" y="2243607"/>
            <a:ext cx="65265" cy="6526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4911" y="2453639"/>
            <a:ext cx="65265" cy="65265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83823" y="676183"/>
            <a:ext cx="2653665" cy="188595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>
                <a:latin typeface="黑体"/>
                <a:cs typeface="黑体"/>
              </a:rPr>
              <a:t>工</a:t>
            </a:r>
            <a:r>
              <a:rPr dirty="0" sz="1100">
                <a:latin typeface="黑体"/>
                <a:cs typeface="黑体"/>
              </a:rPr>
              <a:t>作</a:t>
            </a:r>
            <a:r>
              <a:rPr dirty="0" sz="1100">
                <a:latin typeface="黑体"/>
                <a:cs typeface="黑体"/>
              </a:rPr>
              <a:t>原</a:t>
            </a:r>
            <a:r>
              <a:rPr dirty="0" sz="1100" spc="-45">
                <a:latin typeface="黑体"/>
                <a:cs typeface="黑体"/>
              </a:rPr>
              <a:t>理：</a:t>
            </a:r>
            <a:endParaRPr sz="1100">
              <a:latin typeface="黑体"/>
              <a:cs typeface="黑体"/>
            </a:endParaRPr>
          </a:p>
          <a:p>
            <a:pPr marL="285115">
              <a:lnSpc>
                <a:spcPct val="100000"/>
              </a:lnSpc>
              <a:spcBef>
                <a:spcPts val="334"/>
              </a:spcBef>
            </a:pPr>
            <a:r>
              <a:rPr dirty="0" sz="1100" spc="-20">
                <a:latin typeface="黑体"/>
                <a:cs typeface="黑体"/>
              </a:rPr>
              <a:t>通</a:t>
            </a:r>
            <a:r>
              <a:rPr dirty="0" sz="1100" spc="-20">
                <a:latin typeface="黑体"/>
                <a:cs typeface="黑体"/>
              </a:rPr>
              <a:t>过</a:t>
            </a:r>
            <a:r>
              <a:rPr dirty="0" sz="1100" spc="-20">
                <a:latin typeface="黑体"/>
                <a:cs typeface="黑体"/>
              </a:rPr>
              <a:t>风</a:t>
            </a:r>
            <a:r>
              <a:rPr dirty="0" sz="1100" spc="-20">
                <a:latin typeface="黑体"/>
                <a:cs typeface="黑体"/>
              </a:rPr>
              <a:t>机</a:t>
            </a:r>
            <a:r>
              <a:rPr dirty="0" sz="1100" spc="-20">
                <a:latin typeface="黑体"/>
                <a:cs typeface="黑体"/>
              </a:rPr>
              <a:t>产</a:t>
            </a:r>
            <a:r>
              <a:rPr dirty="0" sz="1100" spc="-20">
                <a:latin typeface="黑体"/>
                <a:cs typeface="黑体"/>
              </a:rPr>
              <a:t>生</a:t>
            </a:r>
            <a:r>
              <a:rPr dirty="0" sz="1100" spc="-20">
                <a:latin typeface="黑体"/>
                <a:cs typeface="黑体"/>
              </a:rPr>
              <a:t>高</a:t>
            </a:r>
            <a:r>
              <a:rPr dirty="0" sz="1100" spc="-20">
                <a:latin typeface="黑体"/>
                <a:cs typeface="黑体"/>
              </a:rPr>
              <a:t>压</a:t>
            </a:r>
            <a:r>
              <a:rPr dirty="0" sz="1100" spc="-20">
                <a:latin typeface="黑体"/>
                <a:cs typeface="黑体"/>
              </a:rPr>
              <a:t>气</a:t>
            </a:r>
            <a:r>
              <a:rPr dirty="0" sz="1100" spc="-50">
                <a:latin typeface="黑体"/>
                <a:cs typeface="黑体"/>
              </a:rPr>
              <a:t>垫</a:t>
            </a:r>
            <a:endParaRPr sz="1100">
              <a:latin typeface="黑体"/>
              <a:cs typeface="黑体"/>
            </a:endParaRPr>
          </a:p>
          <a:p>
            <a:pPr marL="285115">
              <a:lnSpc>
                <a:spcPct val="100000"/>
              </a:lnSpc>
              <a:spcBef>
                <a:spcPts val="330"/>
              </a:spcBef>
            </a:pPr>
            <a:r>
              <a:rPr dirty="0" sz="1100" spc="-20">
                <a:latin typeface="黑体"/>
                <a:cs typeface="黑体"/>
              </a:rPr>
              <a:t>托</a:t>
            </a:r>
            <a:r>
              <a:rPr dirty="0" sz="1100" spc="-20">
                <a:latin typeface="黑体"/>
                <a:cs typeface="黑体"/>
              </a:rPr>
              <a:t>起</a:t>
            </a:r>
            <a:r>
              <a:rPr dirty="0" sz="1100" spc="-20">
                <a:latin typeface="黑体"/>
                <a:cs typeface="黑体"/>
              </a:rPr>
              <a:t>船</a:t>
            </a:r>
            <a:r>
              <a:rPr dirty="0" sz="1100" spc="-20">
                <a:latin typeface="黑体"/>
                <a:cs typeface="黑体"/>
              </a:rPr>
              <a:t>体</a:t>
            </a:r>
            <a:r>
              <a:rPr dirty="0" sz="1100" spc="-20">
                <a:latin typeface="黑体"/>
                <a:cs typeface="黑体"/>
              </a:rPr>
              <a:t>，</a:t>
            </a:r>
            <a:r>
              <a:rPr dirty="0" sz="1100" spc="-20">
                <a:latin typeface="黑体"/>
                <a:cs typeface="黑体"/>
              </a:rPr>
              <a:t>实</a:t>
            </a:r>
            <a:r>
              <a:rPr dirty="0" sz="1100" spc="-20">
                <a:latin typeface="黑体"/>
                <a:cs typeface="黑体"/>
              </a:rPr>
              <a:t>现</a:t>
            </a:r>
            <a:r>
              <a:rPr dirty="0" sz="1100" spc="-20">
                <a:latin typeface="黑体"/>
                <a:cs typeface="黑体"/>
              </a:rPr>
              <a:t>低</a:t>
            </a:r>
            <a:r>
              <a:rPr dirty="0" sz="1100" spc="-20">
                <a:latin typeface="黑体"/>
                <a:cs typeface="黑体"/>
              </a:rPr>
              <a:t>摩</a:t>
            </a:r>
            <a:r>
              <a:rPr dirty="0" sz="1100" spc="-20">
                <a:latin typeface="黑体"/>
                <a:cs typeface="黑体"/>
              </a:rPr>
              <a:t>擦</a:t>
            </a:r>
            <a:r>
              <a:rPr dirty="0" sz="1100" spc="-20">
                <a:latin typeface="黑体"/>
                <a:cs typeface="黑体"/>
              </a:rPr>
              <a:t>移</a:t>
            </a:r>
            <a:r>
              <a:rPr dirty="0" sz="1100" spc="-50">
                <a:latin typeface="黑体"/>
                <a:cs typeface="黑体"/>
              </a:rPr>
              <a:t>动</a:t>
            </a:r>
            <a:endParaRPr sz="1100">
              <a:latin typeface="黑体"/>
              <a:cs typeface="黑体"/>
            </a:endParaRPr>
          </a:p>
          <a:p>
            <a:pPr marL="285115">
              <a:lnSpc>
                <a:spcPct val="100000"/>
              </a:lnSpc>
              <a:spcBef>
                <a:spcPts val="335"/>
              </a:spcBef>
            </a:pPr>
            <a:r>
              <a:rPr dirty="0" sz="1100" spc="-20">
                <a:latin typeface="黑体"/>
                <a:cs typeface="黑体"/>
              </a:rPr>
              <a:t>能</a:t>
            </a:r>
            <a:r>
              <a:rPr dirty="0" sz="1100" spc="-20">
                <a:latin typeface="黑体"/>
                <a:cs typeface="黑体"/>
              </a:rPr>
              <a:t>适</a:t>
            </a:r>
            <a:r>
              <a:rPr dirty="0" sz="1100" spc="-20">
                <a:latin typeface="黑体"/>
                <a:cs typeface="黑体"/>
              </a:rPr>
              <a:t>应</a:t>
            </a:r>
            <a:r>
              <a:rPr dirty="0" sz="1100" spc="-20">
                <a:latin typeface="黑体"/>
                <a:cs typeface="黑体"/>
              </a:rPr>
              <a:t>多</a:t>
            </a:r>
            <a:r>
              <a:rPr dirty="0" sz="1100" spc="-20">
                <a:latin typeface="黑体"/>
                <a:cs typeface="黑体"/>
              </a:rPr>
              <a:t>种</a:t>
            </a:r>
            <a:r>
              <a:rPr dirty="0" sz="1100" spc="-20">
                <a:latin typeface="黑体"/>
                <a:cs typeface="黑体"/>
              </a:rPr>
              <a:t>地</a:t>
            </a:r>
            <a:r>
              <a:rPr dirty="0" sz="1100" spc="-20">
                <a:latin typeface="黑体"/>
                <a:cs typeface="黑体"/>
              </a:rPr>
              <a:t>形</a:t>
            </a:r>
            <a:r>
              <a:rPr dirty="0" sz="1100" spc="-20">
                <a:latin typeface="黑体"/>
                <a:cs typeface="黑体"/>
              </a:rPr>
              <a:t>（</a:t>
            </a:r>
            <a:r>
              <a:rPr dirty="0" sz="1100" spc="-20">
                <a:latin typeface="黑体"/>
                <a:cs typeface="黑体"/>
              </a:rPr>
              <a:t>沙</a:t>
            </a:r>
            <a:r>
              <a:rPr dirty="0" sz="1100" spc="-20">
                <a:latin typeface="黑体"/>
                <a:cs typeface="黑体"/>
              </a:rPr>
              <a:t>滩</a:t>
            </a:r>
            <a:r>
              <a:rPr dirty="0" sz="1100" spc="-20">
                <a:latin typeface="黑体"/>
                <a:cs typeface="黑体"/>
              </a:rPr>
              <a:t>、</a:t>
            </a:r>
            <a:r>
              <a:rPr dirty="0" sz="1100" spc="-20">
                <a:latin typeface="黑体"/>
                <a:cs typeface="黑体"/>
              </a:rPr>
              <a:t>冰</a:t>
            </a:r>
            <a:r>
              <a:rPr dirty="0" sz="1100" spc="-20">
                <a:latin typeface="黑体"/>
                <a:cs typeface="黑体"/>
              </a:rPr>
              <a:t>面</a:t>
            </a:r>
            <a:r>
              <a:rPr dirty="0" sz="1100" spc="-20">
                <a:latin typeface="黑体"/>
                <a:cs typeface="黑体"/>
              </a:rPr>
              <a:t>、</a:t>
            </a:r>
            <a:r>
              <a:rPr dirty="0" sz="1100" spc="-20">
                <a:latin typeface="黑体"/>
                <a:cs typeface="黑体"/>
              </a:rPr>
              <a:t>水</a:t>
            </a:r>
            <a:r>
              <a:rPr dirty="0" sz="1100" spc="-20">
                <a:latin typeface="黑体"/>
                <a:cs typeface="黑体"/>
              </a:rPr>
              <a:t>面</a:t>
            </a:r>
            <a:r>
              <a:rPr dirty="0" sz="1100" spc="-50">
                <a:latin typeface="黑体"/>
                <a:cs typeface="黑体"/>
              </a:rPr>
              <a:t>）</a:t>
            </a:r>
            <a:endParaRPr sz="11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黑体"/>
                <a:cs typeface="黑体"/>
              </a:rPr>
              <a:t>控</a:t>
            </a:r>
            <a:r>
              <a:rPr dirty="0" sz="1100">
                <a:latin typeface="黑体"/>
                <a:cs typeface="黑体"/>
              </a:rPr>
              <a:t>制</a:t>
            </a:r>
            <a:r>
              <a:rPr dirty="0" sz="1100">
                <a:latin typeface="黑体"/>
                <a:cs typeface="黑体"/>
              </a:rPr>
              <a:t>挑</a:t>
            </a:r>
            <a:r>
              <a:rPr dirty="0" sz="1100" spc="-45">
                <a:latin typeface="黑体"/>
                <a:cs typeface="黑体"/>
              </a:rPr>
              <a:t>战：</a:t>
            </a:r>
            <a:endParaRPr sz="1100">
              <a:latin typeface="黑体"/>
              <a:cs typeface="黑体"/>
            </a:endParaRPr>
          </a:p>
          <a:p>
            <a:pPr marL="285115">
              <a:lnSpc>
                <a:spcPct val="100000"/>
              </a:lnSpc>
              <a:spcBef>
                <a:spcPts val="335"/>
              </a:spcBef>
            </a:pPr>
            <a:r>
              <a:rPr dirty="0" sz="1100" spc="-20">
                <a:latin typeface="黑体"/>
                <a:cs typeface="黑体"/>
              </a:rPr>
              <a:t>非</a:t>
            </a:r>
            <a:r>
              <a:rPr dirty="0" sz="1100" spc="-20">
                <a:latin typeface="黑体"/>
                <a:cs typeface="黑体"/>
              </a:rPr>
              <a:t>线</a:t>
            </a:r>
            <a:r>
              <a:rPr dirty="0" sz="1100" spc="-20">
                <a:latin typeface="黑体"/>
                <a:cs typeface="黑体"/>
              </a:rPr>
              <a:t>性</a:t>
            </a:r>
            <a:r>
              <a:rPr dirty="0" sz="1100" spc="-20">
                <a:latin typeface="黑体"/>
                <a:cs typeface="黑体"/>
              </a:rPr>
              <a:t>、</a:t>
            </a:r>
            <a:r>
              <a:rPr dirty="0" sz="1100" spc="-20">
                <a:latin typeface="黑体"/>
                <a:cs typeface="黑体"/>
              </a:rPr>
              <a:t>强</a:t>
            </a:r>
            <a:r>
              <a:rPr dirty="0" sz="1100" spc="-20">
                <a:latin typeface="黑体"/>
                <a:cs typeface="黑体"/>
              </a:rPr>
              <a:t>耦</a:t>
            </a:r>
            <a:r>
              <a:rPr dirty="0" sz="1100" spc="-20">
                <a:latin typeface="黑体"/>
                <a:cs typeface="黑体"/>
              </a:rPr>
              <a:t>合</a:t>
            </a:r>
            <a:r>
              <a:rPr dirty="0" sz="1100" spc="-20">
                <a:latin typeface="黑体"/>
                <a:cs typeface="黑体"/>
              </a:rPr>
              <a:t>系</a:t>
            </a:r>
            <a:r>
              <a:rPr dirty="0" sz="1100" spc="-50">
                <a:latin typeface="黑体"/>
                <a:cs typeface="黑体"/>
              </a:rPr>
              <a:t>统</a:t>
            </a:r>
            <a:endParaRPr sz="1100">
              <a:latin typeface="黑体"/>
              <a:cs typeface="黑体"/>
            </a:endParaRPr>
          </a:p>
          <a:p>
            <a:pPr marL="285115">
              <a:lnSpc>
                <a:spcPct val="100000"/>
              </a:lnSpc>
              <a:spcBef>
                <a:spcPts val="335"/>
              </a:spcBef>
            </a:pPr>
            <a:r>
              <a:rPr dirty="0" sz="1100" spc="-20">
                <a:latin typeface="黑体"/>
                <a:cs typeface="黑体"/>
              </a:rPr>
              <a:t>姿</a:t>
            </a:r>
            <a:r>
              <a:rPr dirty="0" sz="1100" spc="-20">
                <a:latin typeface="黑体"/>
                <a:cs typeface="黑体"/>
              </a:rPr>
              <a:t>态</a:t>
            </a:r>
            <a:r>
              <a:rPr dirty="0" sz="1100" spc="-20">
                <a:latin typeface="黑体"/>
                <a:cs typeface="黑体"/>
              </a:rPr>
              <a:t>不</a:t>
            </a:r>
            <a:r>
              <a:rPr dirty="0" sz="1100" spc="-20">
                <a:latin typeface="黑体"/>
                <a:cs typeface="黑体"/>
              </a:rPr>
              <a:t>稳</a:t>
            </a:r>
            <a:r>
              <a:rPr dirty="0" sz="1100" spc="-50">
                <a:latin typeface="黑体"/>
                <a:cs typeface="黑体"/>
              </a:rPr>
              <a:t>定</a:t>
            </a:r>
            <a:endParaRPr sz="1100">
              <a:latin typeface="黑体"/>
              <a:cs typeface="黑体"/>
            </a:endParaRPr>
          </a:p>
          <a:p>
            <a:pPr marL="285115">
              <a:lnSpc>
                <a:spcPct val="100000"/>
              </a:lnSpc>
              <a:spcBef>
                <a:spcPts val="334"/>
              </a:spcBef>
            </a:pPr>
            <a:r>
              <a:rPr dirty="0" sz="1100" spc="-20">
                <a:latin typeface="黑体"/>
                <a:cs typeface="黑体"/>
              </a:rPr>
              <a:t>精</a:t>
            </a:r>
            <a:r>
              <a:rPr dirty="0" sz="1100" spc="-20">
                <a:latin typeface="黑体"/>
                <a:cs typeface="黑体"/>
              </a:rPr>
              <a:t>确</a:t>
            </a:r>
            <a:r>
              <a:rPr dirty="0" sz="1100" spc="-20">
                <a:latin typeface="黑体"/>
                <a:cs typeface="黑体"/>
              </a:rPr>
              <a:t>控</a:t>
            </a:r>
            <a:r>
              <a:rPr dirty="0" sz="1100" spc="-20">
                <a:latin typeface="黑体"/>
                <a:cs typeface="黑体"/>
              </a:rPr>
              <a:t>制</a:t>
            </a:r>
            <a:r>
              <a:rPr dirty="0" sz="1100" spc="-20">
                <a:latin typeface="黑体"/>
                <a:cs typeface="黑体"/>
              </a:rPr>
              <a:t>困</a:t>
            </a:r>
            <a:r>
              <a:rPr dirty="0" sz="1100" spc="-50">
                <a:latin typeface="黑体"/>
                <a:cs typeface="黑体"/>
              </a:rPr>
              <a:t>难</a:t>
            </a:r>
            <a:endParaRPr sz="1100">
              <a:latin typeface="黑体"/>
              <a:cs typeface="黑体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3571832" y="1491290"/>
            <a:ext cx="1450340" cy="358140"/>
            <a:chOff x="3571832" y="1491290"/>
            <a:chExt cx="1450340" cy="358140"/>
          </a:xfrm>
        </p:grpSpPr>
        <p:sp>
          <p:nvSpPr>
            <p:cNvPr id="12" name="object 12" descr=""/>
            <p:cNvSpPr/>
            <p:nvPr/>
          </p:nvSpPr>
          <p:spPr>
            <a:xfrm>
              <a:off x="3576893" y="1637823"/>
              <a:ext cx="1440180" cy="144145"/>
            </a:xfrm>
            <a:custGeom>
              <a:avLst/>
              <a:gdLst/>
              <a:ahLst/>
              <a:cxnLst/>
              <a:rect l="l" t="t" r="r" b="b"/>
              <a:pathLst>
                <a:path w="1440179" h="144144">
                  <a:moveTo>
                    <a:pt x="1296020" y="0"/>
                  </a:moveTo>
                  <a:lnTo>
                    <a:pt x="144002" y="0"/>
                  </a:lnTo>
                  <a:lnTo>
                    <a:pt x="0" y="144002"/>
                  </a:lnTo>
                  <a:lnTo>
                    <a:pt x="1440023" y="144002"/>
                  </a:lnTo>
                  <a:lnTo>
                    <a:pt x="1296020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576893" y="1637823"/>
              <a:ext cx="1440180" cy="144145"/>
            </a:xfrm>
            <a:custGeom>
              <a:avLst/>
              <a:gdLst/>
              <a:ahLst/>
              <a:cxnLst/>
              <a:rect l="l" t="t" r="r" b="b"/>
              <a:pathLst>
                <a:path w="1440179" h="144144">
                  <a:moveTo>
                    <a:pt x="144002" y="0"/>
                  </a:moveTo>
                  <a:lnTo>
                    <a:pt x="1296020" y="0"/>
                  </a:lnTo>
                  <a:lnTo>
                    <a:pt x="1440023" y="144002"/>
                  </a:lnTo>
                  <a:lnTo>
                    <a:pt x="0" y="144002"/>
                  </a:lnTo>
                  <a:lnTo>
                    <a:pt x="144002" y="0"/>
                  </a:lnTo>
                  <a:close/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576893" y="1781825"/>
              <a:ext cx="1440180" cy="65405"/>
            </a:xfrm>
            <a:custGeom>
              <a:avLst/>
              <a:gdLst/>
              <a:ahLst/>
              <a:cxnLst/>
              <a:rect l="l" t="t" r="r" b="b"/>
              <a:pathLst>
                <a:path w="1440179" h="65405">
                  <a:moveTo>
                    <a:pt x="1440023" y="0"/>
                  </a:moveTo>
                  <a:lnTo>
                    <a:pt x="0" y="0"/>
                  </a:lnTo>
                  <a:lnTo>
                    <a:pt x="4130" y="7847"/>
                  </a:lnTo>
                  <a:lnTo>
                    <a:pt x="61875" y="28350"/>
                  </a:lnTo>
                  <a:lnTo>
                    <a:pt x="132892" y="39488"/>
                  </a:lnTo>
                  <a:lnTo>
                    <a:pt x="176575" y="44298"/>
                  </a:lnTo>
                  <a:lnTo>
                    <a:pt x="225003" y="48601"/>
                  </a:lnTo>
                  <a:lnTo>
                    <a:pt x="277650" y="52398"/>
                  </a:lnTo>
                  <a:lnTo>
                    <a:pt x="333989" y="55688"/>
                  </a:lnTo>
                  <a:lnTo>
                    <a:pt x="393492" y="58473"/>
                  </a:lnTo>
                  <a:lnTo>
                    <a:pt x="455632" y="60751"/>
                  </a:lnTo>
                  <a:lnTo>
                    <a:pt x="519881" y="62523"/>
                  </a:lnTo>
                  <a:lnTo>
                    <a:pt x="585712" y="63789"/>
                  </a:lnTo>
                  <a:lnTo>
                    <a:pt x="652598" y="64548"/>
                  </a:lnTo>
                  <a:lnTo>
                    <a:pt x="720011" y="64801"/>
                  </a:lnTo>
                  <a:lnTo>
                    <a:pt x="787424" y="64548"/>
                  </a:lnTo>
                  <a:lnTo>
                    <a:pt x="854310" y="63789"/>
                  </a:lnTo>
                  <a:lnTo>
                    <a:pt x="920141" y="62523"/>
                  </a:lnTo>
                  <a:lnTo>
                    <a:pt x="984390" y="60751"/>
                  </a:lnTo>
                  <a:lnTo>
                    <a:pt x="1046530" y="58473"/>
                  </a:lnTo>
                  <a:lnTo>
                    <a:pt x="1106033" y="55688"/>
                  </a:lnTo>
                  <a:lnTo>
                    <a:pt x="1162372" y="52398"/>
                  </a:lnTo>
                  <a:lnTo>
                    <a:pt x="1215019" y="48601"/>
                  </a:lnTo>
                  <a:lnTo>
                    <a:pt x="1263447" y="44298"/>
                  </a:lnTo>
                  <a:lnTo>
                    <a:pt x="1307130" y="39488"/>
                  </a:lnTo>
                  <a:lnTo>
                    <a:pt x="1345539" y="34172"/>
                  </a:lnTo>
                  <a:lnTo>
                    <a:pt x="1404426" y="22022"/>
                  </a:lnTo>
                  <a:lnTo>
                    <a:pt x="1440023" y="0"/>
                  </a:lnTo>
                  <a:close/>
                </a:path>
              </a:pathLst>
            </a:custGeom>
            <a:solidFill>
              <a:srgbClr val="FFFA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576893" y="1781825"/>
              <a:ext cx="1440180" cy="65405"/>
            </a:xfrm>
            <a:custGeom>
              <a:avLst/>
              <a:gdLst/>
              <a:ahLst/>
              <a:cxnLst/>
              <a:rect l="l" t="t" r="r" b="b"/>
              <a:pathLst>
                <a:path w="1440179" h="65405">
                  <a:moveTo>
                    <a:pt x="0" y="0"/>
                  </a:moveTo>
                  <a:lnTo>
                    <a:pt x="35596" y="22022"/>
                  </a:lnTo>
                  <a:lnTo>
                    <a:pt x="94483" y="34172"/>
                  </a:lnTo>
                  <a:lnTo>
                    <a:pt x="132892" y="39488"/>
                  </a:lnTo>
                  <a:lnTo>
                    <a:pt x="176575" y="44298"/>
                  </a:lnTo>
                  <a:lnTo>
                    <a:pt x="225003" y="48601"/>
                  </a:lnTo>
                  <a:lnTo>
                    <a:pt x="277650" y="52398"/>
                  </a:lnTo>
                  <a:lnTo>
                    <a:pt x="333989" y="55688"/>
                  </a:lnTo>
                  <a:lnTo>
                    <a:pt x="393492" y="58473"/>
                  </a:lnTo>
                  <a:lnTo>
                    <a:pt x="455632" y="60751"/>
                  </a:lnTo>
                  <a:lnTo>
                    <a:pt x="519881" y="62523"/>
                  </a:lnTo>
                  <a:lnTo>
                    <a:pt x="585712" y="63789"/>
                  </a:lnTo>
                  <a:lnTo>
                    <a:pt x="652598" y="64548"/>
                  </a:lnTo>
                  <a:lnTo>
                    <a:pt x="720011" y="64801"/>
                  </a:lnTo>
                  <a:lnTo>
                    <a:pt x="787424" y="64548"/>
                  </a:lnTo>
                  <a:lnTo>
                    <a:pt x="854310" y="63789"/>
                  </a:lnTo>
                  <a:lnTo>
                    <a:pt x="920141" y="62523"/>
                  </a:lnTo>
                  <a:lnTo>
                    <a:pt x="984390" y="60751"/>
                  </a:lnTo>
                  <a:lnTo>
                    <a:pt x="1046530" y="58473"/>
                  </a:lnTo>
                  <a:lnTo>
                    <a:pt x="1106033" y="55688"/>
                  </a:lnTo>
                  <a:lnTo>
                    <a:pt x="1162372" y="52398"/>
                  </a:lnTo>
                  <a:lnTo>
                    <a:pt x="1215019" y="48601"/>
                  </a:lnTo>
                  <a:lnTo>
                    <a:pt x="1263447" y="44298"/>
                  </a:lnTo>
                  <a:lnTo>
                    <a:pt x="1307130" y="39488"/>
                  </a:lnTo>
                  <a:lnTo>
                    <a:pt x="1345539" y="34172"/>
                  </a:lnTo>
                  <a:lnTo>
                    <a:pt x="1404426" y="22022"/>
                  </a:lnTo>
                  <a:lnTo>
                    <a:pt x="1435892" y="7847"/>
                  </a:lnTo>
                  <a:lnTo>
                    <a:pt x="1440023" y="0"/>
                  </a:lnTo>
                </a:path>
              </a:pathLst>
            </a:custGeom>
            <a:ln w="506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152903" y="1493821"/>
              <a:ext cx="288290" cy="144145"/>
            </a:xfrm>
            <a:custGeom>
              <a:avLst/>
              <a:gdLst/>
              <a:ahLst/>
              <a:cxnLst/>
              <a:rect l="l" t="t" r="r" b="b"/>
              <a:pathLst>
                <a:path w="288289" h="144144">
                  <a:moveTo>
                    <a:pt x="0" y="144002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144002"/>
                  </a:lnTo>
                  <a:lnTo>
                    <a:pt x="0" y="144002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152903" y="1493821"/>
              <a:ext cx="288290" cy="144145"/>
            </a:xfrm>
            <a:custGeom>
              <a:avLst/>
              <a:gdLst/>
              <a:ahLst/>
              <a:cxnLst/>
              <a:rect l="l" t="t" r="r" b="b"/>
              <a:pathLst>
                <a:path w="288289" h="144144">
                  <a:moveTo>
                    <a:pt x="0" y="144002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144002"/>
                  </a:lnTo>
                  <a:lnTo>
                    <a:pt x="0" y="1440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864898" y="1580223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w="0" h="163830">
                  <a:moveTo>
                    <a:pt x="0" y="0"/>
                  </a:moveTo>
                  <a:lnTo>
                    <a:pt x="0" y="163816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838581" y="1724302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4" h="24764">
                  <a:moveTo>
                    <a:pt x="52633" y="0"/>
                  </a:moveTo>
                  <a:lnTo>
                    <a:pt x="44589" y="3855"/>
                  </a:lnTo>
                  <a:lnTo>
                    <a:pt x="36391" y="11102"/>
                  </a:lnTo>
                  <a:lnTo>
                    <a:pt x="29734" y="18966"/>
                  </a:lnTo>
                  <a:lnTo>
                    <a:pt x="26316" y="24671"/>
                  </a:lnTo>
                  <a:lnTo>
                    <a:pt x="22898" y="18966"/>
                  </a:lnTo>
                  <a:lnTo>
                    <a:pt x="16242" y="11102"/>
                  </a:lnTo>
                  <a:lnTo>
                    <a:pt x="8044" y="3855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152903" y="1580223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w="0" h="163830">
                  <a:moveTo>
                    <a:pt x="0" y="0"/>
                  </a:moveTo>
                  <a:lnTo>
                    <a:pt x="0" y="163816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126586" y="1724302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4" h="24764">
                  <a:moveTo>
                    <a:pt x="52633" y="0"/>
                  </a:moveTo>
                  <a:lnTo>
                    <a:pt x="44589" y="3855"/>
                  </a:lnTo>
                  <a:lnTo>
                    <a:pt x="36391" y="11102"/>
                  </a:lnTo>
                  <a:lnTo>
                    <a:pt x="29734" y="18966"/>
                  </a:lnTo>
                  <a:lnTo>
                    <a:pt x="26316" y="24671"/>
                  </a:lnTo>
                  <a:lnTo>
                    <a:pt x="22898" y="18966"/>
                  </a:lnTo>
                  <a:lnTo>
                    <a:pt x="16242" y="11102"/>
                  </a:lnTo>
                  <a:lnTo>
                    <a:pt x="8044" y="3855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440907" y="1580223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w="0" h="163830">
                  <a:moveTo>
                    <a:pt x="0" y="0"/>
                  </a:moveTo>
                  <a:lnTo>
                    <a:pt x="0" y="163816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414590" y="1724302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4" h="24764">
                  <a:moveTo>
                    <a:pt x="52633" y="0"/>
                  </a:moveTo>
                  <a:lnTo>
                    <a:pt x="44589" y="3855"/>
                  </a:lnTo>
                  <a:lnTo>
                    <a:pt x="36391" y="11102"/>
                  </a:lnTo>
                  <a:lnTo>
                    <a:pt x="29734" y="18966"/>
                  </a:lnTo>
                  <a:lnTo>
                    <a:pt x="26316" y="24671"/>
                  </a:lnTo>
                  <a:lnTo>
                    <a:pt x="22898" y="18966"/>
                  </a:lnTo>
                  <a:lnTo>
                    <a:pt x="16242" y="11102"/>
                  </a:lnTo>
                  <a:lnTo>
                    <a:pt x="8044" y="3855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728912" y="1580223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w="0" h="163830">
                  <a:moveTo>
                    <a:pt x="0" y="0"/>
                  </a:moveTo>
                  <a:lnTo>
                    <a:pt x="0" y="163816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702595" y="1724302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4" h="24764">
                  <a:moveTo>
                    <a:pt x="52633" y="0"/>
                  </a:moveTo>
                  <a:lnTo>
                    <a:pt x="44589" y="3855"/>
                  </a:lnTo>
                  <a:lnTo>
                    <a:pt x="36391" y="11102"/>
                  </a:lnTo>
                  <a:lnTo>
                    <a:pt x="29734" y="18966"/>
                  </a:lnTo>
                  <a:lnTo>
                    <a:pt x="26316" y="24671"/>
                  </a:lnTo>
                  <a:lnTo>
                    <a:pt x="22898" y="18966"/>
                  </a:lnTo>
                  <a:lnTo>
                    <a:pt x="16242" y="11102"/>
                  </a:lnTo>
                  <a:lnTo>
                    <a:pt x="8044" y="3855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/>
          <p:nvPr/>
        </p:nvSpPr>
        <p:spPr>
          <a:xfrm>
            <a:off x="3432891" y="1925827"/>
            <a:ext cx="1728470" cy="0"/>
          </a:xfrm>
          <a:custGeom>
            <a:avLst/>
            <a:gdLst/>
            <a:ahLst/>
            <a:cxnLst/>
            <a:rect l="l" t="t" r="r" b="b"/>
            <a:pathLst>
              <a:path w="1728470" h="0">
                <a:moveTo>
                  <a:pt x="0" y="0"/>
                </a:moveTo>
                <a:lnTo>
                  <a:pt x="1728028" y="0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7" name="object 27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28" name="object 28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pc="-30"/>
              <a:t>顾云豪</a:t>
            </a:r>
          </a:p>
        </p:txBody>
      </p:sp>
      <p:sp>
        <p:nvSpPr>
          <p:cNvPr id="32" name="object 32" descr=""/>
          <p:cNvSpPr txBox="1"/>
          <p:nvPr/>
        </p:nvSpPr>
        <p:spPr>
          <a:xfrm>
            <a:off x="2285961" y="3128314"/>
            <a:ext cx="1188085" cy="109855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600" spc="-20">
                <a:solidFill>
                  <a:srgbClr val="FFFFFF"/>
                </a:solidFill>
                <a:latin typeface="黑体"/>
                <a:cs typeface="黑体"/>
                <a:hlinkClick r:id="rId6" action="ppaction://hlinksldjump"/>
              </a:rPr>
              <a:t>基于</a:t>
            </a:r>
            <a:r>
              <a:rPr dirty="0" sz="600">
                <a:solidFill>
                  <a:srgbClr val="FFFFFF"/>
                </a:solidFill>
                <a:latin typeface="Century Gothic"/>
                <a:cs typeface="Century Gothic"/>
                <a:hlinkClick r:id="rId6" action="ppaction://hlinksldjump"/>
              </a:rPr>
              <a:t>RISC-V</a:t>
            </a:r>
            <a:r>
              <a:rPr dirty="0" sz="600" spc="-20">
                <a:solidFill>
                  <a:srgbClr val="FFFFFF"/>
                </a:solidFill>
                <a:latin typeface="黑体"/>
                <a:cs typeface="黑体"/>
                <a:hlinkClick r:id="rId6" action="ppaction://hlinksldjump"/>
              </a:rPr>
              <a:t>的智能气垫</a:t>
            </a:r>
            <a:r>
              <a:rPr dirty="0" sz="600" spc="-10">
                <a:solidFill>
                  <a:srgbClr val="FFFFFF"/>
                </a:solidFill>
                <a:latin typeface="黑体"/>
                <a:cs typeface="黑体"/>
                <a:hlinkClick r:id="rId6" action="ppaction://hlinksldjump"/>
              </a:rPr>
              <a:t>船</a:t>
            </a:r>
            <a:r>
              <a:rPr dirty="0" sz="600" spc="-10">
                <a:solidFill>
                  <a:srgbClr val="FFFFFF"/>
                </a:solidFill>
                <a:latin typeface="黑体"/>
                <a:cs typeface="黑体"/>
                <a:hlinkClick r:id="rId6" action="ppaction://hlinksldjump"/>
              </a:rPr>
              <a:t>控</a:t>
            </a:r>
            <a:r>
              <a:rPr dirty="0" sz="600" spc="-20">
                <a:solidFill>
                  <a:srgbClr val="FFFFFF"/>
                </a:solidFill>
                <a:latin typeface="黑体"/>
                <a:cs typeface="黑体"/>
                <a:hlinkClick r:id="rId6" action="ppaction://hlinksldjump"/>
              </a:rPr>
              <a:t>制</a:t>
            </a:r>
            <a:r>
              <a:rPr dirty="0" sz="600" spc="-10">
                <a:solidFill>
                  <a:srgbClr val="FFFFFF"/>
                </a:solidFill>
                <a:latin typeface="黑体"/>
                <a:cs typeface="黑体"/>
                <a:hlinkClick r:id="rId6" action="ppaction://hlinksldjump"/>
              </a:rPr>
              <a:t>系</a:t>
            </a:r>
            <a:r>
              <a:rPr dirty="0" sz="600" spc="-50">
                <a:solidFill>
                  <a:srgbClr val="FFFFFF"/>
                </a:solidFill>
                <a:latin typeface="黑体"/>
                <a:cs typeface="黑体"/>
                <a:hlinkClick r:id="rId6" action="ppaction://hlinksldjump"/>
              </a:rPr>
              <a:t>统</a:t>
            </a:r>
            <a:endParaRPr sz="600">
              <a:latin typeface="黑体"/>
              <a:cs typeface="黑体"/>
            </a:endParaRPr>
          </a:p>
        </p:txBody>
      </p:sp>
      <p:sp>
        <p:nvSpPr>
          <p:cNvPr id="33" name="object 3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dirty="0" spc="20"/>
              <a:t> </a:t>
            </a:r>
            <a:r>
              <a:rPr dirty="0">
                <a:latin typeface="黑体"/>
                <a:cs typeface="黑体"/>
              </a:rPr>
              <a:t>年</a:t>
            </a:r>
            <a:r>
              <a:rPr dirty="0" spc="40">
                <a:latin typeface="Times New Roman"/>
                <a:cs typeface="Times New Roman"/>
              </a:rPr>
              <a:t> </a:t>
            </a:r>
            <a:r>
              <a:rPr dirty="0"/>
              <a:t>1</a:t>
            </a:r>
            <a:r>
              <a:rPr dirty="0" spc="20"/>
              <a:t> </a:t>
            </a:r>
            <a:r>
              <a:rPr dirty="0">
                <a:latin typeface="黑体"/>
                <a:cs typeface="黑体"/>
              </a:rPr>
              <a:t>月</a:t>
            </a:r>
            <a:r>
              <a:rPr dirty="0" spc="40">
                <a:latin typeface="Times New Roman"/>
                <a:cs typeface="Times New Roman"/>
              </a:rPr>
              <a:t> </a:t>
            </a:r>
            <a:r>
              <a:rPr dirty="0"/>
              <a:t>4</a:t>
            </a:r>
            <a:r>
              <a:rPr dirty="0" spc="20"/>
              <a:t> </a:t>
            </a:r>
            <a:r>
              <a:rPr dirty="0" spc="-50">
                <a:latin typeface="黑体"/>
                <a:cs typeface="黑体"/>
              </a:rPr>
              <a:t>日</a:t>
            </a:r>
          </a:p>
        </p:txBody>
      </p:sp>
      <p:sp>
        <p:nvSpPr>
          <p:cNvPr id="34" name="object 3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25"/>
              <a:t>3</a:t>
            </a:fld>
            <a:r>
              <a:rPr dirty="0" spc="-65"/>
              <a:t> </a:t>
            </a:r>
            <a:r>
              <a:rPr dirty="0" spc="55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5300" y="59877"/>
            <a:ext cx="111887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整</a:t>
            </a: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体</a:t>
            </a: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技</a:t>
            </a: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术</a:t>
            </a: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架</a:t>
            </a:r>
            <a:r>
              <a:rPr dirty="0" sz="1400" spc="-50">
                <a:solidFill>
                  <a:srgbClr val="FFFFFF"/>
                </a:solidFill>
                <a:latin typeface="黑体"/>
                <a:cs typeface="黑体"/>
              </a:rPr>
              <a:t>构</a:t>
            </a:r>
            <a:endParaRPr sz="1400">
              <a:latin typeface="黑体"/>
              <a:cs typeface="黑体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1696198" y="862513"/>
          <a:ext cx="2453640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095"/>
                <a:gridCol w="972185"/>
                <a:gridCol w="972184"/>
                <a:gridCol w="252094"/>
              </a:tblGrid>
              <a:tr h="184785">
                <a:tc gridSpan="4">
                  <a:txBody>
                    <a:bodyPr/>
                    <a:lstStyle/>
                    <a:p>
                      <a:pPr marL="394970">
                        <a:lnSpc>
                          <a:spcPts val="800"/>
                        </a:lnSpc>
                        <a:spcBef>
                          <a:spcPts val="560"/>
                        </a:spcBef>
                      </a:pPr>
                      <a:r>
                        <a:rPr dirty="0" sz="900" spc="50">
                          <a:latin typeface="黑体"/>
                          <a:cs typeface="黑体"/>
                        </a:rPr>
                        <a:t>主</a:t>
                      </a:r>
                      <a:r>
                        <a:rPr dirty="0" sz="900" spc="50">
                          <a:latin typeface="黑体"/>
                          <a:cs typeface="黑体"/>
                        </a:rPr>
                        <a:t>控</a:t>
                      </a:r>
                      <a:r>
                        <a:rPr dirty="0" sz="900" spc="50">
                          <a:latin typeface="黑体"/>
                          <a:cs typeface="黑体"/>
                        </a:rPr>
                        <a:t>制</a:t>
                      </a:r>
                      <a:r>
                        <a:rPr dirty="0" sz="900">
                          <a:latin typeface="黑体"/>
                          <a:cs typeface="黑体"/>
                        </a:rPr>
                        <a:t>器</a:t>
                      </a:r>
                      <a:r>
                        <a:rPr dirty="0" sz="90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b="1">
                          <a:latin typeface="Gill Sans MT"/>
                          <a:cs typeface="Gill Sans MT"/>
                        </a:rPr>
                        <a:t>CH32V307</a:t>
                      </a:r>
                      <a:r>
                        <a:rPr dirty="0" sz="900" spc="160" b="1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900" b="1">
                          <a:latin typeface="Gill Sans MT"/>
                          <a:cs typeface="Gill Sans MT"/>
                        </a:rPr>
                        <a:t>(RISC-</a:t>
                      </a:r>
                      <a:r>
                        <a:rPr dirty="0" sz="900" spc="-25" b="1">
                          <a:latin typeface="Gill Sans MT"/>
                          <a:cs typeface="Gill Sans MT"/>
                        </a:rPr>
                        <a:t>V)</a:t>
                      </a:r>
                      <a:endParaRPr sz="900">
                        <a:latin typeface="Gill Sans MT"/>
                        <a:cs typeface="Gill Sans MT"/>
                      </a:endParaRPr>
                    </a:p>
                  </a:txBody>
                  <a:tcPr marL="0" marR="0" marB="0" marT="711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B2B2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00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FF"/>
                    </a:solidFill>
                  </a:tcPr>
                </a:tc>
              </a:tr>
            </a:tbl>
          </a:graphicData>
        </a:graphic>
      </p:graphicFrame>
      <p:sp>
        <p:nvSpPr>
          <p:cNvPr id="5" name="object 5" descr=""/>
          <p:cNvSpPr/>
          <p:nvPr/>
        </p:nvSpPr>
        <p:spPr>
          <a:xfrm>
            <a:off x="1466601" y="1381646"/>
            <a:ext cx="968375" cy="245110"/>
          </a:xfrm>
          <a:custGeom>
            <a:avLst/>
            <a:gdLst/>
            <a:ahLst/>
            <a:cxnLst/>
            <a:rect l="l" t="t" r="r" b="b"/>
            <a:pathLst>
              <a:path w="968375" h="245110">
                <a:moveTo>
                  <a:pt x="968290" y="0"/>
                </a:moveTo>
                <a:lnTo>
                  <a:pt x="0" y="0"/>
                </a:lnTo>
                <a:lnTo>
                  <a:pt x="0" y="244805"/>
                </a:lnTo>
                <a:lnTo>
                  <a:pt x="968290" y="244805"/>
                </a:lnTo>
                <a:lnTo>
                  <a:pt x="968290" y="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469132" y="1384176"/>
            <a:ext cx="977900" cy="240029"/>
          </a:xfrm>
          <a:prstGeom prst="rect">
            <a:avLst/>
          </a:prstGeom>
          <a:solidFill>
            <a:srgbClr val="B2FFB2"/>
          </a:solidFill>
        </p:spPr>
        <p:txBody>
          <a:bodyPr wrap="square" lIns="0" tIns="46355" rIns="0" bIns="0" rtlCol="0" vert="horz">
            <a:spAutoFit/>
          </a:bodyPr>
          <a:lstStyle/>
          <a:p>
            <a:pPr marL="36195">
              <a:lnSpc>
                <a:spcPct val="100000"/>
              </a:lnSpc>
              <a:spcBef>
                <a:spcPts val="365"/>
              </a:spcBef>
            </a:pPr>
            <a:r>
              <a:rPr dirty="0" sz="900">
                <a:latin typeface="黑体"/>
                <a:cs typeface="黑体"/>
              </a:rPr>
              <a:t>摄</a:t>
            </a:r>
            <a:r>
              <a:rPr dirty="0" sz="900">
                <a:latin typeface="黑体"/>
                <a:cs typeface="黑体"/>
              </a:rPr>
              <a:t>像</a:t>
            </a:r>
            <a:r>
              <a:rPr dirty="0" sz="900">
                <a:latin typeface="黑体"/>
                <a:cs typeface="黑体"/>
              </a:rPr>
              <a:t>头</a:t>
            </a:r>
            <a:r>
              <a:rPr dirty="0" sz="900" spc="16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ahoma"/>
                <a:cs typeface="Tahoma"/>
              </a:rPr>
              <a:t>MT9V034</a:t>
            </a:r>
            <a:endParaRPr sz="900">
              <a:latin typeface="Tahoma"/>
              <a:cs typeface="Tahom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2463743" y="1381646"/>
            <a:ext cx="918210" cy="245110"/>
          </a:xfrm>
          <a:custGeom>
            <a:avLst/>
            <a:gdLst/>
            <a:ahLst/>
            <a:cxnLst/>
            <a:rect l="l" t="t" r="r" b="b"/>
            <a:pathLst>
              <a:path w="918210" h="245110">
                <a:moveTo>
                  <a:pt x="918018" y="0"/>
                </a:moveTo>
                <a:lnTo>
                  <a:pt x="0" y="0"/>
                </a:lnTo>
                <a:lnTo>
                  <a:pt x="0" y="244805"/>
                </a:lnTo>
                <a:lnTo>
                  <a:pt x="918018" y="244805"/>
                </a:lnTo>
                <a:lnTo>
                  <a:pt x="918018" y="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2451848" y="1384176"/>
            <a:ext cx="927735" cy="240029"/>
          </a:xfrm>
          <a:prstGeom prst="rect">
            <a:avLst/>
          </a:prstGeom>
          <a:solidFill>
            <a:srgbClr val="B2FFB2"/>
          </a:solidFill>
        </p:spPr>
        <p:txBody>
          <a:bodyPr wrap="square" lIns="0" tIns="46355" rIns="0" bIns="0" rtlCol="0" vert="horz">
            <a:spAutoFit/>
          </a:bodyPr>
          <a:lstStyle/>
          <a:p>
            <a:pPr marL="70485">
              <a:lnSpc>
                <a:spcPct val="100000"/>
              </a:lnSpc>
              <a:spcBef>
                <a:spcPts val="365"/>
              </a:spcBef>
            </a:pPr>
            <a:r>
              <a:rPr dirty="0" sz="900">
                <a:latin typeface="Tahoma"/>
                <a:cs typeface="Tahoma"/>
              </a:rPr>
              <a:t>IMU</a:t>
            </a:r>
            <a:r>
              <a:rPr dirty="0" sz="900" spc="10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ICM-20602</a:t>
            </a:r>
            <a:endParaRPr sz="9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435749" y="1381646"/>
            <a:ext cx="918210" cy="245110"/>
          </a:xfrm>
          <a:prstGeom prst="rect">
            <a:avLst/>
          </a:prstGeom>
          <a:solidFill>
            <a:srgbClr val="B2FFB2"/>
          </a:solidFill>
          <a:ln w="5060">
            <a:solidFill>
              <a:srgbClr val="00000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385"/>
              </a:spcBef>
            </a:pPr>
            <a:r>
              <a:rPr dirty="0" sz="900">
                <a:latin typeface="黑体"/>
                <a:cs typeface="黑体"/>
              </a:rPr>
              <a:t>显</a:t>
            </a:r>
            <a:r>
              <a:rPr dirty="0" sz="900">
                <a:latin typeface="黑体"/>
                <a:cs typeface="黑体"/>
              </a:rPr>
              <a:t>示</a:t>
            </a:r>
            <a:r>
              <a:rPr dirty="0" sz="900">
                <a:latin typeface="黑体"/>
                <a:cs typeface="黑体"/>
              </a:rPr>
              <a:t>屏</a:t>
            </a:r>
            <a:r>
              <a:rPr dirty="0" sz="900" spc="16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ahoma"/>
                <a:cs typeface="Tahoma"/>
              </a:rPr>
              <a:t>2.0”TFT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06239" y="1867648"/>
            <a:ext cx="765175" cy="245110"/>
          </a:xfrm>
          <a:prstGeom prst="rect">
            <a:avLst/>
          </a:prstGeom>
          <a:solidFill>
            <a:srgbClr val="FFD8B2"/>
          </a:solidFill>
          <a:ln w="5060">
            <a:solidFill>
              <a:srgbClr val="00000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385"/>
              </a:spcBef>
            </a:pPr>
            <a:r>
              <a:rPr dirty="0" sz="900">
                <a:latin typeface="黑体"/>
                <a:cs typeface="黑体"/>
              </a:rPr>
              <a:t>悬</a:t>
            </a:r>
            <a:r>
              <a:rPr dirty="0" sz="900">
                <a:latin typeface="黑体"/>
                <a:cs typeface="黑体"/>
              </a:rPr>
              <a:t>浮</a:t>
            </a:r>
            <a:r>
              <a:rPr dirty="0" sz="900">
                <a:latin typeface="黑体"/>
                <a:cs typeface="黑体"/>
              </a:rPr>
              <a:t>电</a:t>
            </a:r>
            <a:r>
              <a:rPr dirty="0" sz="900">
                <a:latin typeface="黑体"/>
                <a:cs typeface="黑体"/>
              </a:rPr>
              <a:t>机</a:t>
            </a:r>
            <a:r>
              <a:rPr dirty="0" sz="900" spc="-25" i="1">
                <a:latin typeface="Verdana"/>
                <a:cs typeface="Verdana"/>
              </a:rPr>
              <a:t>×</a:t>
            </a:r>
            <a:r>
              <a:rPr dirty="0" sz="900" spc="-25"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2378244" y="1867648"/>
            <a:ext cx="765175" cy="245110"/>
          </a:xfrm>
          <a:custGeom>
            <a:avLst/>
            <a:gdLst/>
            <a:ahLst/>
            <a:cxnLst/>
            <a:rect l="l" t="t" r="r" b="b"/>
            <a:pathLst>
              <a:path w="765175" h="245110">
                <a:moveTo>
                  <a:pt x="765014" y="0"/>
                </a:moveTo>
                <a:lnTo>
                  <a:pt x="0" y="0"/>
                </a:lnTo>
                <a:lnTo>
                  <a:pt x="0" y="244805"/>
                </a:lnTo>
                <a:lnTo>
                  <a:pt x="765014" y="244805"/>
                </a:lnTo>
                <a:lnTo>
                  <a:pt x="765014" y="0"/>
                </a:lnTo>
                <a:close/>
              </a:path>
            </a:pathLst>
          </a:custGeom>
          <a:solidFill>
            <a:srgbClr val="FFD8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2378244" y="1867648"/>
            <a:ext cx="765175" cy="245110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385"/>
              </a:spcBef>
            </a:pPr>
            <a:r>
              <a:rPr dirty="0" sz="900">
                <a:latin typeface="黑体"/>
                <a:cs typeface="黑体"/>
              </a:rPr>
              <a:t>推</a:t>
            </a:r>
            <a:r>
              <a:rPr dirty="0" sz="900">
                <a:latin typeface="黑体"/>
                <a:cs typeface="黑体"/>
              </a:rPr>
              <a:t>进</a:t>
            </a:r>
            <a:r>
              <a:rPr dirty="0" sz="900">
                <a:latin typeface="黑体"/>
                <a:cs typeface="黑体"/>
              </a:rPr>
              <a:t>电</a:t>
            </a:r>
            <a:r>
              <a:rPr dirty="0" sz="900">
                <a:latin typeface="黑体"/>
                <a:cs typeface="黑体"/>
              </a:rPr>
              <a:t>机</a:t>
            </a:r>
            <a:r>
              <a:rPr dirty="0" sz="900" spc="-25" i="1">
                <a:latin typeface="Verdana"/>
                <a:cs typeface="Verdana"/>
              </a:rPr>
              <a:t>×</a:t>
            </a:r>
            <a:r>
              <a:rPr dirty="0" sz="900" spc="-25"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350249" y="1867648"/>
            <a:ext cx="765175" cy="245110"/>
          </a:xfrm>
          <a:prstGeom prst="rect">
            <a:avLst/>
          </a:prstGeom>
          <a:solidFill>
            <a:srgbClr val="FFD8B2"/>
          </a:solidFill>
          <a:ln w="5060">
            <a:solidFill>
              <a:srgbClr val="00000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385"/>
              </a:spcBef>
            </a:pPr>
            <a:r>
              <a:rPr dirty="0" sz="900">
                <a:latin typeface="黑体"/>
                <a:cs typeface="黑体"/>
              </a:rPr>
              <a:t>侧</a:t>
            </a:r>
            <a:r>
              <a:rPr dirty="0" sz="900">
                <a:latin typeface="黑体"/>
                <a:cs typeface="黑体"/>
              </a:rPr>
              <a:t>向</a:t>
            </a:r>
            <a:r>
              <a:rPr dirty="0" sz="900">
                <a:latin typeface="黑体"/>
                <a:cs typeface="黑体"/>
              </a:rPr>
              <a:t>电</a:t>
            </a:r>
            <a:r>
              <a:rPr dirty="0" sz="900">
                <a:latin typeface="黑体"/>
                <a:cs typeface="黑体"/>
              </a:rPr>
              <a:t>机</a:t>
            </a:r>
            <a:r>
              <a:rPr dirty="0" sz="900" spc="-25" i="1">
                <a:latin typeface="Verdana"/>
                <a:cs typeface="Verdana"/>
              </a:rPr>
              <a:t>×</a:t>
            </a:r>
            <a:r>
              <a:rPr dirty="0" sz="900" spc="-25"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698728" y="2191650"/>
            <a:ext cx="2448560" cy="245110"/>
          </a:xfrm>
          <a:prstGeom prst="rect">
            <a:avLst/>
          </a:prstGeom>
          <a:solidFill>
            <a:srgbClr val="FFB2B2"/>
          </a:solidFill>
          <a:ln w="5060">
            <a:solidFill>
              <a:srgbClr val="000000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marL="394970">
              <a:lnSpc>
                <a:spcPct val="100000"/>
              </a:lnSpc>
              <a:spcBef>
                <a:spcPts val="315"/>
              </a:spcBef>
            </a:pPr>
            <a:r>
              <a:rPr dirty="0" sz="900">
                <a:latin typeface="黑体"/>
                <a:cs typeface="黑体"/>
              </a:rPr>
              <a:t>电</a:t>
            </a:r>
            <a:r>
              <a:rPr dirty="0" sz="900">
                <a:latin typeface="黑体"/>
                <a:cs typeface="黑体"/>
              </a:rPr>
              <a:t>子</a:t>
            </a:r>
            <a:r>
              <a:rPr dirty="0" sz="900">
                <a:latin typeface="黑体"/>
                <a:cs typeface="黑体"/>
              </a:rPr>
              <a:t>调</a:t>
            </a:r>
            <a:r>
              <a:rPr dirty="0" sz="900">
                <a:latin typeface="黑体"/>
                <a:cs typeface="黑体"/>
              </a:rPr>
              <a:t>速</a:t>
            </a:r>
            <a:r>
              <a:rPr dirty="0" sz="900">
                <a:latin typeface="黑体"/>
                <a:cs typeface="黑体"/>
              </a:rPr>
              <a:t>器</a:t>
            </a:r>
            <a:r>
              <a:rPr dirty="0" sz="900" spc="185">
                <a:latin typeface="Times New Roman"/>
                <a:cs typeface="Times New Roman"/>
              </a:rPr>
              <a:t> </a:t>
            </a:r>
            <a:r>
              <a:rPr dirty="0" sz="900">
                <a:latin typeface="Tahoma"/>
                <a:cs typeface="Tahoma"/>
              </a:rPr>
              <a:t>CH32V203</a:t>
            </a:r>
            <a:r>
              <a:rPr dirty="0" sz="900" spc="13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(RISC-</a:t>
            </a:r>
            <a:r>
              <a:rPr dirty="0" sz="900" spc="-25">
                <a:latin typeface="Tahoma"/>
                <a:cs typeface="Tahoma"/>
              </a:rPr>
              <a:t>V)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920381" y="1050448"/>
            <a:ext cx="60960" cy="194945"/>
            <a:chOff x="1920381" y="1050448"/>
            <a:chExt cx="60960" cy="194945"/>
          </a:xfrm>
        </p:grpSpPr>
        <p:sp>
          <p:nvSpPr>
            <p:cNvPr id="16" name="object 16" descr=""/>
            <p:cNvSpPr/>
            <p:nvPr/>
          </p:nvSpPr>
          <p:spPr>
            <a:xfrm>
              <a:off x="1950747" y="1050448"/>
              <a:ext cx="0" cy="185420"/>
            </a:xfrm>
            <a:custGeom>
              <a:avLst/>
              <a:gdLst/>
              <a:ahLst/>
              <a:cxnLst/>
              <a:rect l="l" t="t" r="r" b="b"/>
              <a:pathLst>
                <a:path w="0" h="185419">
                  <a:moveTo>
                    <a:pt x="0" y="0"/>
                  </a:moveTo>
                  <a:lnTo>
                    <a:pt x="0" y="185414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924430" y="1216125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5" h="24765">
                  <a:moveTo>
                    <a:pt x="52633" y="0"/>
                  </a:moveTo>
                  <a:lnTo>
                    <a:pt x="44589" y="3855"/>
                  </a:lnTo>
                  <a:lnTo>
                    <a:pt x="36391" y="11102"/>
                  </a:lnTo>
                  <a:lnTo>
                    <a:pt x="29734" y="18966"/>
                  </a:lnTo>
                  <a:lnTo>
                    <a:pt x="26316" y="24671"/>
                  </a:lnTo>
                  <a:lnTo>
                    <a:pt x="22898" y="18966"/>
                  </a:lnTo>
                  <a:lnTo>
                    <a:pt x="16242" y="11102"/>
                  </a:lnTo>
                  <a:lnTo>
                    <a:pt x="8044" y="3855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 descr=""/>
          <p:cNvGrpSpPr/>
          <p:nvPr/>
        </p:nvGrpSpPr>
        <p:grpSpPr>
          <a:xfrm>
            <a:off x="2892386" y="1050448"/>
            <a:ext cx="60960" cy="194945"/>
            <a:chOff x="2892386" y="1050448"/>
            <a:chExt cx="60960" cy="194945"/>
          </a:xfrm>
        </p:grpSpPr>
        <p:sp>
          <p:nvSpPr>
            <p:cNvPr id="19" name="object 19" descr=""/>
            <p:cNvSpPr/>
            <p:nvPr/>
          </p:nvSpPr>
          <p:spPr>
            <a:xfrm>
              <a:off x="2922752" y="1050448"/>
              <a:ext cx="0" cy="185420"/>
            </a:xfrm>
            <a:custGeom>
              <a:avLst/>
              <a:gdLst/>
              <a:ahLst/>
              <a:cxnLst/>
              <a:rect l="l" t="t" r="r" b="b"/>
              <a:pathLst>
                <a:path w="0" h="185419">
                  <a:moveTo>
                    <a:pt x="0" y="0"/>
                  </a:moveTo>
                  <a:lnTo>
                    <a:pt x="0" y="185414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896435" y="1216125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5" h="24765">
                  <a:moveTo>
                    <a:pt x="52633" y="0"/>
                  </a:moveTo>
                  <a:lnTo>
                    <a:pt x="44589" y="3855"/>
                  </a:lnTo>
                  <a:lnTo>
                    <a:pt x="36391" y="11102"/>
                  </a:lnTo>
                  <a:lnTo>
                    <a:pt x="29734" y="18966"/>
                  </a:lnTo>
                  <a:lnTo>
                    <a:pt x="26316" y="24671"/>
                  </a:lnTo>
                  <a:lnTo>
                    <a:pt x="22898" y="18966"/>
                  </a:lnTo>
                  <a:lnTo>
                    <a:pt x="16242" y="11102"/>
                  </a:lnTo>
                  <a:lnTo>
                    <a:pt x="8044" y="3855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 descr=""/>
          <p:cNvGrpSpPr/>
          <p:nvPr/>
        </p:nvGrpSpPr>
        <p:grpSpPr>
          <a:xfrm>
            <a:off x="3864392" y="1050448"/>
            <a:ext cx="60960" cy="194945"/>
            <a:chOff x="3864392" y="1050448"/>
            <a:chExt cx="60960" cy="194945"/>
          </a:xfrm>
        </p:grpSpPr>
        <p:sp>
          <p:nvSpPr>
            <p:cNvPr id="22" name="object 22" descr=""/>
            <p:cNvSpPr/>
            <p:nvPr/>
          </p:nvSpPr>
          <p:spPr>
            <a:xfrm>
              <a:off x="3894758" y="1050448"/>
              <a:ext cx="0" cy="185420"/>
            </a:xfrm>
            <a:custGeom>
              <a:avLst/>
              <a:gdLst/>
              <a:ahLst/>
              <a:cxnLst/>
              <a:rect l="l" t="t" r="r" b="b"/>
              <a:pathLst>
                <a:path w="0" h="185419">
                  <a:moveTo>
                    <a:pt x="0" y="0"/>
                  </a:moveTo>
                  <a:lnTo>
                    <a:pt x="0" y="185414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868441" y="1216125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4" h="24765">
                  <a:moveTo>
                    <a:pt x="52633" y="0"/>
                  </a:moveTo>
                  <a:lnTo>
                    <a:pt x="44589" y="3855"/>
                  </a:lnTo>
                  <a:lnTo>
                    <a:pt x="36391" y="11102"/>
                  </a:lnTo>
                  <a:lnTo>
                    <a:pt x="29734" y="18966"/>
                  </a:lnTo>
                  <a:lnTo>
                    <a:pt x="26316" y="24671"/>
                  </a:lnTo>
                  <a:lnTo>
                    <a:pt x="22898" y="18966"/>
                  </a:lnTo>
                  <a:lnTo>
                    <a:pt x="16242" y="11102"/>
                  </a:lnTo>
                  <a:lnTo>
                    <a:pt x="8044" y="3855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 descr=""/>
          <p:cNvGrpSpPr/>
          <p:nvPr/>
        </p:nvGrpSpPr>
        <p:grpSpPr>
          <a:xfrm>
            <a:off x="1758380" y="1721866"/>
            <a:ext cx="60960" cy="41910"/>
            <a:chOff x="1758380" y="1721866"/>
            <a:chExt cx="60960" cy="41910"/>
          </a:xfrm>
        </p:grpSpPr>
        <p:sp>
          <p:nvSpPr>
            <p:cNvPr id="25" name="object 25" descr=""/>
            <p:cNvSpPr/>
            <p:nvPr/>
          </p:nvSpPr>
          <p:spPr>
            <a:xfrm>
              <a:off x="1788746" y="1721866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w="0" h="9525">
                  <a:moveTo>
                    <a:pt x="0" y="8983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762429" y="1734898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5" h="24764">
                  <a:moveTo>
                    <a:pt x="0" y="24671"/>
                  </a:moveTo>
                  <a:lnTo>
                    <a:pt x="8044" y="20816"/>
                  </a:lnTo>
                  <a:lnTo>
                    <a:pt x="16242" y="13569"/>
                  </a:lnTo>
                  <a:lnTo>
                    <a:pt x="22898" y="5705"/>
                  </a:lnTo>
                  <a:lnTo>
                    <a:pt x="26316" y="0"/>
                  </a:lnTo>
                  <a:lnTo>
                    <a:pt x="29734" y="5705"/>
                  </a:lnTo>
                  <a:lnTo>
                    <a:pt x="36391" y="13569"/>
                  </a:lnTo>
                  <a:lnTo>
                    <a:pt x="44589" y="20816"/>
                  </a:lnTo>
                  <a:lnTo>
                    <a:pt x="52633" y="24671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 descr=""/>
          <p:cNvGrpSpPr/>
          <p:nvPr/>
        </p:nvGrpSpPr>
        <p:grpSpPr>
          <a:xfrm>
            <a:off x="2730386" y="1721866"/>
            <a:ext cx="60960" cy="41910"/>
            <a:chOff x="2730386" y="1721866"/>
            <a:chExt cx="60960" cy="41910"/>
          </a:xfrm>
        </p:grpSpPr>
        <p:sp>
          <p:nvSpPr>
            <p:cNvPr id="28" name="object 28" descr=""/>
            <p:cNvSpPr/>
            <p:nvPr/>
          </p:nvSpPr>
          <p:spPr>
            <a:xfrm>
              <a:off x="2760751" y="1721866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w="0" h="9525">
                  <a:moveTo>
                    <a:pt x="0" y="8983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734435" y="1734898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5" h="24764">
                  <a:moveTo>
                    <a:pt x="0" y="24671"/>
                  </a:moveTo>
                  <a:lnTo>
                    <a:pt x="8044" y="20816"/>
                  </a:lnTo>
                  <a:lnTo>
                    <a:pt x="16242" y="13569"/>
                  </a:lnTo>
                  <a:lnTo>
                    <a:pt x="22898" y="5705"/>
                  </a:lnTo>
                  <a:lnTo>
                    <a:pt x="26316" y="0"/>
                  </a:lnTo>
                  <a:lnTo>
                    <a:pt x="29734" y="5705"/>
                  </a:lnTo>
                  <a:lnTo>
                    <a:pt x="36391" y="13569"/>
                  </a:lnTo>
                  <a:lnTo>
                    <a:pt x="44589" y="20816"/>
                  </a:lnTo>
                  <a:lnTo>
                    <a:pt x="52633" y="24671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 descr=""/>
          <p:cNvGrpSpPr/>
          <p:nvPr/>
        </p:nvGrpSpPr>
        <p:grpSpPr>
          <a:xfrm>
            <a:off x="3702391" y="1721866"/>
            <a:ext cx="60960" cy="41910"/>
            <a:chOff x="3702391" y="1721866"/>
            <a:chExt cx="60960" cy="41910"/>
          </a:xfrm>
        </p:grpSpPr>
        <p:sp>
          <p:nvSpPr>
            <p:cNvPr id="31" name="object 31" descr=""/>
            <p:cNvSpPr/>
            <p:nvPr/>
          </p:nvSpPr>
          <p:spPr>
            <a:xfrm>
              <a:off x="3732756" y="1721866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w="0" h="9525">
                  <a:moveTo>
                    <a:pt x="0" y="8983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706439" y="1734898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4" h="24764">
                  <a:moveTo>
                    <a:pt x="0" y="24671"/>
                  </a:moveTo>
                  <a:lnTo>
                    <a:pt x="8044" y="20816"/>
                  </a:lnTo>
                  <a:lnTo>
                    <a:pt x="16242" y="13569"/>
                  </a:lnTo>
                  <a:lnTo>
                    <a:pt x="22898" y="5705"/>
                  </a:lnTo>
                  <a:lnTo>
                    <a:pt x="26316" y="0"/>
                  </a:lnTo>
                  <a:lnTo>
                    <a:pt x="29734" y="5705"/>
                  </a:lnTo>
                  <a:lnTo>
                    <a:pt x="36391" y="13569"/>
                  </a:lnTo>
                  <a:lnTo>
                    <a:pt x="44589" y="20816"/>
                  </a:lnTo>
                  <a:lnTo>
                    <a:pt x="52633" y="24671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 descr=""/>
          <p:cNvGrpSpPr/>
          <p:nvPr/>
        </p:nvGrpSpPr>
        <p:grpSpPr>
          <a:xfrm>
            <a:off x="2892386" y="2054851"/>
            <a:ext cx="60960" cy="130175"/>
            <a:chOff x="2892386" y="2054851"/>
            <a:chExt cx="60960" cy="130175"/>
          </a:xfrm>
        </p:grpSpPr>
        <p:sp>
          <p:nvSpPr>
            <p:cNvPr id="34" name="object 34" descr=""/>
            <p:cNvSpPr/>
            <p:nvPr/>
          </p:nvSpPr>
          <p:spPr>
            <a:xfrm>
              <a:off x="2922752" y="2054851"/>
              <a:ext cx="0" cy="120650"/>
            </a:xfrm>
            <a:custGeom>
              <a:avLst/>
              <a:gdLst/>
              <a:ahLst/>
              <a:cxnLst/>
              <a:rect l="l" t="t" r="r" b="b"/>
              <a:pathLst>
                <a:path w="0" h="120650">
                  <a:moveTo>
                    <a:pt x="0" y="0"/>
                  </a:moveTo>
                  <a:lnTo>
                    <a:pt x="0" y="12062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896435" y="2155733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5" h="24764">
                  <a:moveTo>
                    <a:pt x="52633" y="0"/>
                  </a:moveTo>
                  <a:lnTo>
                    <a:pt x="44589" y="3855"/>
                  </a:lnTo>
                  <a:lnTo>
                    <a:pt x="36391" y="11102"/>
                  </a:lnTo>
                  <a:lnTo>
                    <a:pt x="29734" y="18966"/>
                  </a:lnTo>
                  <a:lnTo>
                    <a:pt x="26316" y="24671"/>
                  </a:lnTo>
                  <a:lnTo>
                    <a:pt x="22898" y="18966"/>
                  </a:lnTo>
                  <a:lnTo>
                    <a:pt x="16242" y="11102"/>
                  </a:lnTo>
                  <a:lnTo>
                    <a:pt x="8044" y="3855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" name="object 36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37" name="object 37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pc="-30"/>
              <a:t>顾云豪</a:t>
            </a:r>
          </a:p>
        </p:txBody>
      </p:sp>
      <p:sp>
        <p:nvSpPr>
          <p:cNvPr id="41" name="object 41" descr=""/>
          <p:cNvSpPr txBox="1"/>
          <p:nvPr/>
        </p:nvSpPr>
        <p:spPr>
          <a:xfrm>
            <a:off x="2285961" y="3128314"/>
            <a:ext cx="1188085" cy="109855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600" spc="-20">
                <a:solidFill>
                  <a:srgbClr val="FFFFFF"/>
                </a:solidFill>
                <a:latin typeface="黑体"/>
                <a:cs typeface="黑体"/>
                <a:hlinkClick r:id="rId2" action="ppaction://hlinksldjump"/>
              </a:rPr>
              <a:t>基于</a:t>
            </a:r>
            <a:r>
              <a:rPr dirty="0" sz="600">
                <a:solidFill>
                  <a:srgbClr val="FFFFFF"/>
                </a:solidFill>
                <a:latin typeface="Century Gothic"/>
                <a:cs typeface="Century Gothic"/>
                <a:hlinkClick r:id="rId2" action="ppaction://hlinksldjump"/>
              </a:rPr>
              <a:t>RISC-V</a:t>
            </a:r>
            <a:r>
              <a:rPr dirty="0" sz="600" spc="-20">
                <a:solidFill>
                  <a:srgbClr val="FFFFFF"/>
                </a:solidFill>
                <a:latin typeface="黑体"/>
                <a:cs typeface="黑体"/>
                <a:hlinkClick r:id="rId2" action="ppaction://hlinksldjump"/>
              </a:rPr>
              <a:t>的智能气垫</a:t>
            </a:r>
            <a:r>
              <a:rPr dirty="0" sz="600" spc="-10">
                <a:solidFill>
                  <a:srgbClr val="FFFFFF"/>
                </a:solidFill>
                <a:latin typeface="黑体"/>
                <a:cs typeface="黑体"/>
                <a:hlinkClick r:id="rId2" action="ppaction://hlinksldjump"/>
              </a:rPr>
              <a:t>船</a:t>
            </a:r>
            <a:r>
              <a:rPr dirty="0" sz="600" spc="-10">
                <a:solidFill>
                  <a:srgbClr val="FFFFFF"/>
                </a:solidFill>
                <a:latin typeface="黑体"/>
                <a:cs typeface="黑体"/>
                <a:hlinkClick r:id="rId2" action="ppaction://hlinksldjump"/>
              </a:rPr>
              <a:t>控</a:t>
            </a:r>
            <a:r>
              <a:rPr dirty="0" sz="600" spc="-20">
                <a:solidFill>
                  <a:srgbClr val="FFFFFF"/>
                </a:solidFill>
                <a:latin typeface="黑体"/>
                <a:cs typeface="黑体"/>
                <a:hlinkClick r:id="rId2" action="ppaction://hlinksldjump"/>
              </a:rPr>
              <a:t>制</a:t>
            </a:r>
            <a:r>
              <a:rPr dirty="0" sz="600" spc="-10">
                <a:solidFill>
                  <a:srgbClr val="FFFFFF"/>
                </a:solidFill>
                <a:latin typeface="黑体"/>
                <a:cs typeface="黑体"/>
                <a:hlinkClick r:id="rId2" action="ppaction://hlinksldjump"/>
              </a:rPr>
              <a:t>系</a:t>
            </a:r>
            <a:r>
              <a:rPr dirty="0" sz="600" spc="-50">
                <a:solidFill>
                  <a:srgbClr val="FFFFFF"/>
                </a:solidFill>
                <a:latin typeface="黑体"/>
                <a:cs typeface="黑体"/>
                <a:hlinkClick r:id="rId2" action="ppaction://hlinksldjump"/>
              </a:rPr>
              <a:t>统</a:t>
            </a:r>
            <a:endParaRPr sz="600">
              <a:latin typeface="黑体"/>
              <a:cs typeface="黑体"/>
            </a:endParaRPr>
          </a:p>
        </p:txBody>
      </p:sp>
      <p:sp>
        <p:nvSpPr>
          <p:cNvPr id="42" name="object 4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dirty="0" spc="20"/>
              <a:t> </a:t>
            </a:r>
            <a:r>
              <a:rPr dirty="0">
                <a:latin typeface="黑体"/>
                <a:cs typeface="黑体"/>
              </a:rPr>
              <a:t>年</a:t>
            </a:r>
            <a:r>
              <a:rPr dirty="0" spc="40">
                <a:latin typeface="Times New Roman"/>
                <a:cs typeface="Times New Roman"/>
              </a:rPr>
              <a:t> </a:t>
            </a:r>
            <a:r>
              <a:rPr dirty="0"/>
              <a:t>1</a:t>
            </a:r>
            <a:r>
              <a:rPr dirty="0" spc="20"/>
              <a:t> </a:t>
            </a:r>
            <a:r>
              <a:rPr dirty="0">
                <a:latin typeface="黑体"/>
                <a:cs typeface="黑体"/>
              </a:rPr>
              <a:t>月</a:t>
            </a:r>
            <a:r>
              <a:rPr dirty="0" spc="40">
                <a:latin typeface="Times New Roman"/>
                <a:cs typeface="Times New Roman"/>
              </a:rPr>
              <a:t> </a:t>
            </a:r>
            <a:r>
              <a:rPr dirty="0"/>
              <a:t>4</a:t>
            </a:r>
            <a:r>
              <a:rPr dirty="0" spc="20"/>
              <a:t> </a:t>
            </a:r>
            <a:r>
              <a:rPr dirty="0" spc="-50">
                <a:latin typeface="黑体"/>
                <a:cs typeface="黑体"/>
              </a:rPr>
              <a:t>日</a:t>
            </a:r>
          </a:p>
        </p:txBody>
      </p:sp>
      <p:sp>
        <p:nvSpPr>
          <p:cNvPr id="43" name="object 4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25"/>
              <a:t>3</a:t>
            </a:fld>
            <a:r>
              <a:rPr dirty="0" spc="-65"/>
              <a:t> </a:t>
            </a:r>
            <a:r>
              <a:rPr dirty="0" spc="55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111887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核</a:t>
            </a:r>
            <a:r>
              <a:rPr dirty="0"/>
              <a:t>心</a:t>
            </a:r>
            <a:r>
              <a:rPr dirty="0"/>
              <a:t>硬</a:t>
            </a:r>
            <a:r>
              <a:rPr dirty="0"/>
              <a:t>件</a:t>
            </a:r>
            <a:r>
              <a:rPr dirty="0"/>
              <a:t>模</a:t>
            </a:r>
            <a:r>
              <a:rPr dirty="0" spc="-50"/>
              <a:t>块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044320"/>
            <a:ext cx="65265" cy="6526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911" y="1254353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911" y="1464386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992452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2202484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2412517"/>
            <a:ext cx="65265" cy="65265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03200" marR="22225" indent="-203200">
              <a:lnSpc>
                <a:spcPct val="125299"/>
              </a:lnSpc>
              <a:spcBef>
                <a:spcPts val="100"/>
              </a:spcBef>
              <a:buFont typeface="Gill Sans MT"/>
              <a:buAutoNum type="arabicPeriod"/>
              <a:tabLst>
                <a:tab pos="203200" algn="l"/>
              </a:tabLst>
            </a:pPr>
            <a:r>
              <a:rPr dirty="0">
                <a:latin typeface="黑体"/>
                <a:cs typeface="黑体"/>
              </a:rPr>
              <a:t>主控制器</a:t>
            </a:r>
            <a:r>
              <a:rPr dirty="0" spc="170">
                <a:latin typeface="Times New Roman"/>
                <a:cs typeface="Times New Roman"/>
              </a:rPr>
              <a:t> </a:t>
            </a:r>
            <a:r>
              <a:rPr dirty="0" spc="-10" b="1">
                <a:latin typeface="Gill Sans MT"/>
                <a:cs typeface="Gill Sans MT"/>
              </a:rPr>
              <a:t>(CH32V307) </a:t>
            </a:r>
            <a:r>
              <a:rPr dirty="0"/>
              <a:t>144MHz</a:t>
            </a:r>
            <a:r>
              <a:rPr dirty="0" spc="-30"/>
              <a:t> </a:t>
            </a:r>
            <a:r>
              <a:rPr dirty="0" spc="-10"/>
              <a:t>RISC-V</a:t>
            </a:r>
            <a:r>
              <a:rPr dirty="0" spc="-20">
                <a:latin typeface="黑体"/>
                <a:cs typeface="黑体"/>
              </a:rPr>
              <a:t>内</a:t>
            </a:r>
            <a:r>
              <a:rPr dirty="0" spc="-50">
                <a:latin typeface="黑体"/>
                <a:cs typeface="黑体"/>
              </a:rPr>
              <a:t>核</a:t>
            </a:r>
            <a:r>
              <a:rPr dirty="0" spc="-50">
                <a:latin typeface="Times New Roman"/>
                <a:cs typeface="Times New Roman"/>
              </a:rPr>
              <a:t> </a:t>
            </a:r>
            <a:r>
              <a:rPr dirty="0"/>
              <a:t>256KB </a:t>
            </a:r>
            <a:r>
              <a:rPr dirty="0" spc="-20"/>
              <a:t>Flash, </a:t>
            </a:r>
            <a:r>
              <a:rPr dirty="0"/>
              <a:t>64KB </a:t>
            </a:r>
            <a:r>
              <a:rPr dirty="0" spc="30"/>
              <a:t>RAM</a:t>
            </a:r>
            <a:r>
              <a:rPr dirty="0" spc="-20">
                <a:latin typeface="黑体"/>
                <a:cs typeface="黑体"/>
              </a:rPr>
              <a:t>浮</a:t>
            </a:r>
            <a:r>
              <a:rPr dirty="0" spc="-20">
                <a:latin typeface="黑体"/>
                <a:cs typeface="黑体"/>
              </a:rPr>
              <a:t>点</a:t>
            </a:r>
            <a:r>
              <a:rPr dirty="0" spc="-20">
                <a:latin typeface="黑体"/>
                <a:cs typeface="黑体"/>
              </a:rPr>
              <a:t>运</a:t>
            </a:r>
            <a:r>
              <a:rPr dirty="0" spc="-20">
                <a:latin typeface="黑体"/>
                <a:cs typeface="黑体"/>
              </a:rPr>
              <a:t>算</a:t>
            </a:r>
            <a:r>
              <a:rPr dirty="0" spc="-20">
                <a:latin typeface="黑体"/>
                <a:cs typeface="黑体"/>
              </a:rPr>
              <a:t>支</a:t>
            </a:r>
            <a:r>
              <a:rPr dirty="0" spc="-50">
                <a:latin typeface="黑体"/>
                <a:cs typeface="黑体"/>
              </a:rPr>
              <a:t>持</a:t>
            </a:r>
          </a:p>
          <a:p>
            <a:pPr>
              <a:lnSpc>
                <a:spcPct val="100000"/>
              </a:lnSpc>
              <a:spcBef>
                <a:spcPts val="30"/>
              </a:spcBef>
              <a:buFont typeface="Gill Sans MT"/>
              <a:buAutoNum type="arabicPeriod"/>
            </a:pPr>
            <a:endParaRPr sz="900">
              <a:latin typeface="黑体"/>
              <a:cs typeface="黑体"/>
            </a:endParaRPr>
          </a:p>
          <a:p>
            <a:pPr marL="202565" indent="-190500">
              <a:lnSpc>
                <a:spcPct val="100000"/>
              </a:lnSpc>
              <a:buFont typeface="Gill Sans MT"/>
              <a:buAutoNum type="arabicPeriod"/>
              <a:tabLst>
                <a:tab pos="203200" algn="l"/>
              </a:tabLst>
            </a:pPr>
            <a:r>
              <a:rPr dirty="0" spc="-10">
                <a:latin typeface="黑体"/>
                <a:cs typeface="黑体"/>
              </a:rPr>
              <a:t>电机驱动系统</a:t>
            </a: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dirty="0" spc="-20">
                <a:latin typeface="黑体"/>
                <a:cs typeface="黑体"/>
              </a:rPr>
              <a:t>无</a:t>
            </a:r>
            <a:r>
              <a:rPr dirty="0" spc="-20">
                <a:latin typeface="黑体"/>
                <a:cs typeface="黑体"/>
              </a:rPr>
              <a:t>刷</a:t>
            </a:r>
            <a:r>
              <a:rPr dirty="0" spc="-20">
                <a:latin typeface="黑体"/>
                <a:cs typeface="黑体"/>
              </a:rPr>
              <a:t>电</a:t>
            </a:r>
            <a:r>
              <a:rPr dirty="0" spc="-35">
                <a:latin typeface="黑体"/>
                <a:cs typeface="黑体"/>
              </a:rPr>
              <a:t>机：</a:t>
            </a:r>
            <a:r>
              <a:rPr dirty="0" spc="-20">
                <a:latin typeface="黑体"/>
                <a:cs typeface="黑体"/>
              </a:rPr>
              <a:t>三</a:t>
            </a:r>
            <a:r>
              <a:rPr dirty="0" spc="-20">
                <a:latin typeface="黑体"/>
                <a:cs typeface="黑体"/>
              </a:rPr>
              <a:t>相</a:t>
            </a:r>
            <a:r>
              <a:rPr dirty="0" spc="-20">
                <a:latin typeface="黑体"/>
                <a:cs typeface="黑体"/>
              </a:rPr>
              <a:t>全</a:t>
            </a:r>
            <a:r>
              <a:rPr dirty="0" spc="-20">
                <a:latin typeface="黑体"/>
                <a:cs typeface="黑体"/>
              </a:rPr>
              <a:t>桥</a:t>
            </a:r>
            <a:r>
              <a:rPr dirty="0" spc="-20">
                <a:latin typeface="黑体"/>
                <a:cs typeface="黑体"/>
              </a:rPr>
              <a:t>驱</a:t>
            </a:r>
            <a:r>
              <a:rPr dirty="0" spc="-50">
                <a:latin typeface="黑体"/>
                <a:cs typeface="黑体"/>
              </a:rPr>
              <a:t>动</a:t>
            </a: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dirty="0" spc="-20">
                <a:latin typeface="黑体"/>
                <a:cs typeface="黑体"/>
              </a:rPr>
              <a:t>有</a:t>
            </a:r>
            <a:r>
              <a:rPr dirty="0" spc="-20">
                <a:latin typeface="黑体"/>
                <a:cs typeface="黑体"/>
              </a:rPr>
              <a:t>刷</a:t>
            </a:r>
            <a:r>
              <a:rPr dirty="0" spc="-20">
                <a:latin typeface="黑体"/>
                <a:cs typeface="黑体"/>
              </a:rPr>
              <a:t>电</a:t>
            </a:r>
            <a:r>
              <a:rPr dirty="0" spc="-35">
                <a:latin typeface="黑体"/>
                <a:cs typeface="黑体"/>
              </a:rPr>
              <a:t>机：</a:t>
            </a:r>
            <a:r>
              <a:rPr dirty="0"/>
              <a:t>H</a:t>
            </a:r>
            <a:r>
              <a:rPr dirty="0" spc="-20">
                <a:latin typeface="黑体"/>
                <a:cs typeface="黑体"/>
              </a:rPr>
              <a:t>桥</a:t>
            </a:r>
            <a:r>
              <a:rPr dirty="0" spc="-20">
                <a:latin typeface="黑体"/>
                <a:cs typeface="黑体"/>
              </a:rPr>
              <a:t>驱</a:t>
            </a:r>
            <a:r>
              <a:rPr dirty="0" spc="-50">
                <a:latin typeface="黑体"/>
                <a:cs typeface="黑体"/>
              </a:rPr>
              <a:t>动</a:t>
            </a: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dirty="0" spc="-20">
                <a:latin typeface="黑体"/>
                <a:cs typeface="黑体"/>
              </a:rPr>
              <a:t>电</a:t>
            </a:r>
            <a:r>
              <a:rPr dirty="0" spc="-20">
                <a:latin typeface="黑体"/>
                <a:cs typeface="黑体"/>
              </a:rPr>
              <a:t>调</a:t>
            </a:r>
            <a:r>
              <a:rPr dirty="0" spc="-20">
                <a:latin typeface="黑体"/>
                <a:cs typeface="黑体"/>
              </a:rPr>
              <a:t>芯</a:t>
            </a:r>
            <a:r>
              <a:rPr dirty="0" spc="-40">
                <a:latin typeface="黑体"/>
                <a:cs typeface="黑体"/>
              </a:rPr>
              <a:t>片：</a:t>
            </a:r>
            <a:r>
              <a:rPr dirty="0" spc="-10"/>
              <a:t>CH32V203</a:t>
            </a:r>
          </a:p>
        </p:txBody>
      </p: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68726" y="1033932"/>
            <a:ext cx="65265" cy="6526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68726" y="1243965"/>
            <a:ext cx="65265" cy="6526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68726" y="1453997"/>
            <a:ext cx="65265" cy="65265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68726" y="1982063"/>
            <a:ext cx="65265" cy="65265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68726" y="2192096"/>
            <a:ext cx="65265" cy="65265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68726" y="2402128"/>
            <a:ext cx="65265" cy="65265"/>
          </a:xfrm>
          <a:prstGeom prst="rect">
            <a:avLst/>
          </a:prstGeom>
        </p:spPr>
      </p:pic>
      <p:sp>
        <p:nvSpPr>
          <p:cNvPr id="16" name="object 16" descr="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55244" rIns="0" bIns="0" rtlCol="0" vert="horz">
            <a:spAutoFit/>
          </a:bodyPr>
          <a:lstStyle/>
          <a:p>
            <a:pPr marL="202565" indent="-190500">
              <a:lnSpc>
                <a:spcPct val="100000"/>
              </a:lnSpc>
              <a:spcBef>
                <a:spcPts val="434"/>
              </a:spcBef>
              <a:buFont typeface="Gill Sans MT"/>
              <a:buAutoNum type="arabicPeriod" startAt="3"/>
              <a:tabLst>
                <a:tab pos="203200" algn="l"/>
              </a:tabLst>
            </a:pPr>
            <a:r>
              <a:rPr dirty="0" spc="-10"/>
              <a:t>传感器系统</a:t>
            </a:r>
          </a:p>
          <a:p>
            <a:pPr marL="289560" marR="705485">
              <a:lnSpc>
                <a:spcPct val="125299"/>
              </a:lnSpc>
            </a:pPr>
            <a:r>
              <a:rPr dirty="0" spc="-30"/>
              <a:t>视觉：</a:t>
            </a:r>
            <a:r>
              <a:rPr dirty="0">
                <a:latin typeface="Tahoma"/>
                <a:cs typeface="Tahoma"/>
              </a:rPr>
              <a:t>MT9V034</a:t>
            </a:r>
            <a:r>
              <a:rPr dirty="0" spc="-20"/>
              <a:t>摄</a:t>
            </a:r>
            <a:r>
              <a:rPr dirty="0" spc="-20"/>
              <a:t>像</a:t>
            </a:r>
            <a:r>
              <a:rPr dirty="0" spc="-50"/>
              <a:t>头</a:t>
            </a:r>
            <a:r>
              <a:rPr dirty="0" spc="-20"/>
              <a:t>姿</a:t>
            </a:r>
            <a:r>
              <a:rPr dirty="0" spc="-50"/>
              <a:t>态：</a:t>
            </a:r>
            <a:r>
              <a:rPr dirty="0" spc="-30">
                <a:latin typeface="Tahoma"/>
                <a:cs typeface="Tahoma"/>
              </a:rPr>
              <a:t>ICM-</a:t>
            </a:r>
            <a:r>
              <a:rPr dirty="0" spc="-20">
                <a:latin typeface="Tahoma"/>
                <a:cs typeface="Tahoma"/>
              </a:rPr>
              <a:t>20602</a:t>
            </a:r>
            <a:r>
              <a:rPr dirty="0" spc="-5">
                <a:latin typeface="Tahoma"/>
                <a:cs typeface="Tahoma"/>
              </a:rPr>
              <a:t> </a:t>
            </a:r>
            <a:r>
              <a:rPr dirty="0" spc="-25">
                <a:latin typeface="Tahoma"/>
                <a:cs typeface="Tahoma"/>
              </a:rPr>
              <a:t>IMU</a:t>
            </a: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dirty="0" spc="-70">
                <a:latin typeface="Tahoma"/>
                <a:cs typeface="Tahoma"/>
              </a:rPr>
              <a:t>6</a:t>
            </a:r>
            <a:r>
              <a:rPr dirty="0" spc="-20"/>
              <a:t>轴</a:t>
            </a:r>
            <a:r>
              <a:rPr dirty="0" spc="-20"/>
              <a:t>数</a:t>
            </a:r>
            <a:r>
              <a:rPr dirty="0" spc="-20"/>
              <a:t>据</a:t>
            </a:r>
            <a:r>
              <a:rPr dirty="0" spc="-45"/>
              <a:t>（</a:t>
            </a:r>
            <a:r>
              <a:rPr dirty="0" spc="-45">
                <a:latin typeface="Tahoma"/>
                <a:cs typeface="Tahoma"/>
              </a:rPr>
              <a:t>3</a:t>
            </a:r>
            <a:r>
              <a:rPr dirty="0" spc="-20"/>
              <a:t>轴</a:t>
            </a:r>
            <a:r>
              <a:rPr dirty="0" spc="-20"/>
              <a:t>加</a:t>
            </a:r>
            <a:r>
              <a:rPr dirty="0" spc="-20"/>
              <a:t>速</a:t>
            </a:r>
            <a:r>
              <a:rPr dirty="0" spc="-20"/>
              <a:t>度</a:t>
            </a:r>
            <a:r>
              <a:rPr dirty="0" spc="-10">
                <a:latin typeface="Tahoma"/>
                <a:cs typeface="Tahoma"/>
              </a:rPr>
              <a:t>+3</a:t>
            </a:r>
            <a:r>
              <a:rPr dirty="0" spc="-20"/>
              <a:t>轴</a:t>
            </a:r>
            <a:r>
              <a:rPr dirty="0" spc="-20"/>
              <a:t>陀</a:t>
            </a:r>
            <a:r>
              <a:rPr dirty="0" spc="-20"/>
              <a:t>螺</a:t>
            </a:r>
            <a:r>
              <a:rPr dirty="0" spc="-20"/>
              <a:t>仪</a:t>
            </a:r>
            <a:r>
              <a:rPr dirty="0" spc="-50"/>
              <a:t>）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00"/>
          </a:p>
          <a:p>
            <a:pPr marL="202565" indent="-190500">
              <a:lnSpc>
                <a:spcPct val="100000"/>
              </a:lnSpc>
              <a:buFont typeface="Gill Sans MT"/>
              <a:buAutoNum type="arabicPeriod" startAt="4"/>
              <a:tabLst>
                <a:tab pos="203200" algn="l"/>
              </a:tabLst>
            </a:pPr>
            <a:r>
              <a:rPr dirty="0" spc="-15"/>
              <a:t>电源管理</a:t>
            </a: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dirty="0" spc="-35">
                <a:latin typeface="Tahoma"/>
                <a:cs typeface="Tahoma"/>
              </a:rPr>
              <a:t>11.1V</a:t>
            </a:r>
            <a:r>
              <a:rPr dirty="0" spc="-20"/>
              <a:t>锂</a:t>
            </a:r>
            <a:r>
              <a:rPr dirty="0" spc="-20"/>
              <a:t>电</a:t>
            </a:r>
            <a:r>
              <a:rPr dirty="0" spc="-50"/>
              <a:t>池</a:t>
            </a: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dirty="0" spc="-20"/>
              <a:t>分</a:t>
            </a:r>
            <a:r>
              <a:rPr dirty="0" spc="-20"/>
              <a:t>级</a:t>
            </a:r>
            <a:r>
              <a:rPr dirty="0" spc="-20"/>
              <a:t>转</a:t>
            </a:r>
            <a:r>
              <a:rPr dirty="0" spc="-35"/>
              <a:t>换：</a:t>
            </a:r>
            <a:r>
              <a:rPr dirty="0">
                <a:latin typeface="Tahoma"/>
                <a:cs typeface="Tahoma"/>
              </a:rPr>
              <a:t>12V</a:t>
            </a:r>
            <a:r>
              <a:rPr dirty="0" spc="55">
                <a:latin typeface="Tahoma"/>
                <a:cs typeface="Tahoma"/>
              </a:rPr>
              <a:t> / </a:t>
            </a:r>
            <a:r>
              <a:rPr dirty="0">
                <a:latin typeface="Tahoma"/>
                <a:cs typeface="Tahoma"/>
              </a:rPr>
              <a:t>5V</a:t>
            </a:r>
            <a:r>
              <a:rPr dirty="0" spc="55">
                <a:latin typeface="Tahoma"/>
                <a:cs typeface="Tahoma"/>
              </a:rPr>
              <a:t> / </a:t>
            </a:r>
            <a:r>
              <a:rPr dirty="0" spc="-20">
                <a:latin typeface="Tahoma"/>
                <a:cs typeface="Tahoma"/>
              </a:rPr>
              <a:t>3.3V</a:t>
            </a: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dirty="0" spc="-20"/>
              <a:t>过</a:t>
            </a:r>
            <a:r>
              <a:rPr dirty="0" spc="-20"/>
              <a:t>压</a:t>
            </a:r>
            <a:r>
              <a:rPr dirty="0" spc="120">
                <a:latin typeface="Tahoma"/>
                <a:cs typeface="Tahoma"/>
              </a:rPr>
              <a:t>/</a:t>
            </a:r>
            <a:r>
              <a:rPr dirty="0" spc="-20"/>
              <a:t>欠</a:t>
            </a:r>
            <a:r>
              <a:rPr dirty="0" spc="-20"/>
              <a:t>压</a:t>
            </a:r>
            <a:r>
              <a:rPr dirty="0" spc="-20"/>
              <a:t>保</a:t>
            </a:r>
            <a:r>
              <a:rPr dirty="0" spc="-50"/>
              <a:t>护</a:t>
            </a:r>
          </a:p>
        </p:txBody>
      </p:sp>
      <p:grpSp>
        <p:nvGrpSpPr>
          <p:cNvPr id="17" name="object 17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8" name="object 18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pc="-30"/>
              <a:t>顾云豪</a:t>
            </a:r>
          </a:p>
        </p:txBody>
      </p:sp>
      <p:sp>
        <p:nvSpPr>
          <p:cNvPr id="22" name="object 22" descr=""/>
          <p:cNvSpPr txBox="1"/>
          <p:nvPr/>
        </p:nvSpPr>
        <p:spPr>
          <a:xfrm>
            <a:off x="2285961" y="3128314"/>
            <a:ext cx="1188085" cy="109855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600" spc="-20">
                <a:solidFill>
                  <a:srgbClr val="FFFFFF"/>
                </a:solidFill>
                <a:latin typeface="黑体"/>
                <a:cs typeface="黑体"/>
                <a:hlinkClick r:id="rId7" action="ppaction://hlinksldjump"/>
              </a:rPr>
              <a:t>基于</a:t>
            </a:r>
            <a:r>
              <a:rPr dirty="0" sz="600">
                <a:solidFill>
                  <a:srgbClr val="FFFFFF"/>
                </a:solidFill>
                <a:latin typeface="Century Gothic"/>
                <a:cs typeface="Century Gothic"/>
                <a:hlinkClick r:id="rId7" action="ppaction://hlinksldjump"/>
              </a:rPr>
              <a:t>RISC-V</a:t>
            </a:r>
            <a:r>
              <a:rPr dirty="0" sz="600" spc="-20">
                <a:solidFill>
                  <a:srgbClr val="FFFFFF"/>
                </a:solidFill>
                <a:latin typeface="黑体"/>
                <a:cs typeface="黑体"/>
                <a:hlinkClick r:id="rId7" action="ppaction://hlinksldjump"/>
              </a:rPr>
              <a:t>的智能气垫</a:t>
            </a:r>
            <a:r>
              <a:rPr dirty="0" sz="600" spc="-10">
                <a:solidFill>
                  <a:srgbClr val="FFFFFF"/>
                </a:solidFill>
                <a:latin typeface="黑体"/>
                <a:cs typeface="黑体"/>
                <a:hlinkClick r:id="rId7" action="ppaction://hlinksldjump"/>
              </a:rPr>
              <a:t>船</a:t>
            </a:r>
            <a:r>
              <a:rPr dirty="0" sz="600" spc="-10">
                <a:solidFill>
                  <a:srgbClr val="FFFFFF"/>
                </a:solidFill>
                <a:latin typeface="黑体"/>
                <a:cs typeface="黑体"/>
                <a:hlinkClick r:id="rId7" action="ppaction://hlinksldjump"/>
              </a:rPr>
              <a:t>控</a:t>
            </a:r>
            <a:r>
              <a:rPr dirty="0" sz="600" spc="-20">
                <a:solidFill>
                  <a:srgbClr val="FFFFFF"/>
                </a:solidFill>
                <a:latin typeface="黑体"/>
                <a:cs typeface="黑体"/>
                <a:hlinkClick r:id="rId7" action="ppaction://hlinksldjump"/>
              </a:rPr>
              <a:t>制</a:t>
            </a:r>
            <a:r>
              <a:rPr dirty="0" sz="600" spc="-10">
                <a:solidFill>
                  <a:srgbClr val="FFFFFF"/>
                </a:solidFill>
                <a:latin typeface="黑体"/>
                <a:cs typeface="黑体"/>
                <a:hlinkClick r:id="rId7" action="ppaction://hlinksldjump"/>
              </a:rPr>
              <a:t>系</a:t>
            </a:r>
            <a:r>
              <a:rPr dirty="0" sz="600" spc="-50">
                <a:solidFill>
                  <a:srgbClr val="FFFFFF"/>
                </a:solidFill>
                <a:latin typeface="黑体"/>
                <a:cs typeface="黑体"/>
                <a:hlinkClick r:id="rId7" action="ppaction://hlinksldjump"/>
              </a:rPr>
              <a:t>统</a:t>
            </a:r>
            <a:endParaRPr sz="600">
              <a:latin typeface="黑体"/>
              <a:cs typeface="黑体"/>
            </a:endParaRPr>
          </a:p>
        </p:txBody>
      </p:sp>
      <p:sp>
        <p:nvSpPr>
          <p:cNvPr id="23" name="object 2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dirty="0" spc="20"/>
              <a:t> </a:t>
            </a:r>
            <a:r>
              <a:rPr dirty="0">
                <a:latin typeface="黑体"/>
                <a:cs typeface="黑体"/>
              </a:rPr>
              <a:t>年</a:t>
            </a:r>
            <a:r>
              <a:rPr dirty="0" spc="40">
                <a:latin typeface="Times New Roman"/>
                <a:cs typeface="Times New Roman"/>
              </a:rPr>
              <a:t> </a:t>
            </a:r>
            <a:r>
              <a:rPr dirty="0"/>
              <a:t>1</a:t>
            </a:r>
            <a:r>
              <a:rPr dirty="0" spc="20"/>
              <a:t> </a:t>
            </a:r>
            <a:r>
              <a:rPr dirty="0">
                <a:latin typeface="黑体"/>
                <a:cs typeface="黑体"/>
              </a:rPr>
              <a:t>月</a:t>
            </a:r>
            <a:r>
              <a:rPr dirty="0" spc="40">
                <a:latin typeface="Times New Roman"/>
                <a:cs typeface="Times New Roman"/>
              </a:rPr>
              <a:t> </a:t>
            </a:r>
            <a:r>
              <a:rPr dirty="0"/>
              <a:t>4</a:t>
            </a:r>
            <a:r>
              <a:rPr dirty="0" spc="20"/>
              <a:t> </a:t>
            </a:r>
            <a:r>
              <a:rPr dirty="0" spc="-50">
                <a:latin typeface="黑体"/>
                <a:cs typeface="黑体"/>
              </a:rPr>
              <a:t>日</a:t>
            </a:r>
          </a:p>
        </p:txBody>
      </p:sp>
      <p:sp>
        <p:nvSpPr>
          <p:cNvPr id="24" name="object 2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25"/>
              <a:t>3</a:t>
            </a:fld>
            <a:r>
              <a:rPr dirty="0" spc="-65"/>
              <a:t> </a:t>
            </a:r>
            <a:r>
              <a:rPr dirty="0" spc="55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166560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软</a:t>
            </a:r>
            <a:r>
              <a:rPr dirty="0"/>
              <a:t>件</a:t>
            </a:r>
            <a:r>
              <a:rPr dirty="0"/>
              <a:t>架</a:t>
            </a:r>
            <a:r>
              <a:rPr dirty="0"/>
              <a:t>构</a:t>
            </a:r>
            <a:r>
              <a:rPr dirty="0"/>
              <a:t>与</a:t>
            </a:r>
            <a:r>
              <a:rPr dirty="0"/>
              <a:t>核</a:t>
            </a:r>
            <a:r>
              <a:rPr dirty="0"/>
              <a:t>心</a:t>
            </a:r>
            <a:r>
              <a:rPr dirty="0"/>
              <a:t>算</a:t>
            </a:r>
            <a:r>
              <a:rPr dirty="0" spc="-50"/>
              <a:t>法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042238"/>
            <a:ext cx="65265" cy="6526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252270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911" y="1462303"/>
            <a:ext cx="65265" cy="6526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83823" y="704987"/>
            <a:ext cx="1737995" cy="86614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>
                <a:latin typeface="黑体"/>
                <a:cs typeface="黑体"/>
              </a:rPr>
              <a:t>操</a:t>
            </a:r>
            <a:r>
              <a:rPr dirty="0" sz="1100">
                <a:latin typeface="黑体"/>
                <a:cs typeface="黑体"/>
              </a:rPr>
              <a:t>作</a:t>
            </a:r>
            <a:r>
              <a:rPr dirty="0" sz="1100">
                <a:latin typeface="黑体"/>
                <a:cs typeface="黑体"/>
              </a:rPr>
              <a:t>系</a:t>
            </a:r>
            <a:r>
              <a:rPr dirty="0" sz="1100" spc="-45">
                <a:latin typeface="黑体"/>
                <a:cs typeface="黑体"/>
              </a:rPr>
              <a:t>统：</a:t>
            </a:r>
            <a:endParaRPr sz="1100">
              <a:latin typeface="黑体"/>
              <a:cs typeface="黑体"/>
            </a:endParaRPr>
          </a:p>
          <a:p>
            <a:pPr marL="285115">
              <a:lnSpc>
                <a:spcPct val="100000"/>
              </a:lnSpc>
              <a:spcBef>
                <a:spcPts val="334"/>
              </a:spcBef>
            </a:pPr>
            <a:r>
              <a:rPr dirty="0" sz="1100" spc="-10">
                <a:latin typeface="Tahoma"/>
                <a:cs typeface="Tahoma"/>
              </a:rPr>
              <a:t>FreeRTOS</a:t>
            </a:r>
            <a:r>
              <a:rPr dirty="0" sz="1100" spc="-20">
                <a:latin typeface="黑体"/>
                <a:cs typeface="黑体"/>
              </a:rPr>
              <a:t>实</a:t>
            </a:r>
            <a:r>
              <a:rPr dirty="0" sz="1100" spc="-20">
                <a:latin typeface="黑体"/>
                <a:cs typeface="黑体"/>
              </a:rPr>
              <a:t>时</a:t>
            </a:r>
            <a:r>
              <a:rPr dirty="0" sz="1100" spc="-20">
                <a:latin typeface="黑体"/>
                <a:cs typeface="黑体"/>
              </a:rPr>
              <a:t>操</a:t>
            </a:r>
            <a:r>
              <a:rPr dirty="0" sz="1100" spc="-20">
                <a:latin typeface="黑体"/>
                <a:cs typeface="黑体"/>
              </a:rPr>
              <a:t>作</a:t>
            </a:r>
            <a:r>
              <a:rPr dirty="0" sz="1100" spc="-20">
                <a:latin typeface="黑体"/>
                <a:cs typeface="黑体"/>
              </a:rPr>
              <a:t>系</a:t>
            </a:r>
            <a:r>
              <a:rPr dirty="0" sz="1100" spc="-50">
                <a:latin typeface="黑体"/>
                <a:cs typeface="黑体"/>
              </a:rPr>
              <a:t>统</a:t>
            </a:r>
            <a:endParaRPr sz="1100">
              <a:latin typeface="黑体"/>
              <a:cs typeface="黑体"/>
            </a:endParaRPr>
          </a:p>
          <a:p>
            <a:pPr marL="285115">
              <a:lnSpc>
                <a:spcPct val="100000"/>
              </a:lnSpc>
              <a:spcBef>
                <a:spcPts val="330"/>
              </a:spcBef>
            </a:pPr>
            <a:r>
              <a:rPr dirty="0" sz="1100" spc="-20">
                <a:latin typeface="黑体"/>
                <a:cs typeface="黑体"/>
              </a:rPr>
              <a:t>多</a:t>
            </a:r>
            <a:r>
              <a:rPr dirty="0" sz="1100" spc="-20">
                <a:latin typeface="黑体"/>
                <a:cs typeface="黑体"/>
              </a:rPr>
              <a:t>任</a:t>
            </a:r>
            <a:r>
              <a:rPr dirty="0" sz="1100" spc="-20">
                <a:latin typeface="黑体"/>
                <a:cs typeface="黑体"/>
              </a:rPr>
              <a:t>务</a:t>
            </a:r>
            <a:r>
              <a:rPr dirty="0" sz="1100" spc="-20">
                <a:latin typeface="黑体"/>
                <a:cs typeface="黑体"/>
              </a:rPr>
              <a:t>调</a:t>
            </a:r>
            <a:r>
              <a:rPr dirty="0" sz="1100" spc="-50">
                <a:latin typeface="黑体"/>
                <a:cs typeface="黑体"/>
              </a:rPr>
              <a:t>度</a:t>
            </a:r>
            <a:endParaRPr sz="1100">
              <a:latin typeface="黑体"/>
              <a:cs typeface="黑体"/>
            </a:endParaRPr>
          </a:p>
          <a:p>
            <a:pPr marL="285115">
              <a:lnSpc>
                <a:spcPct val="100000"/>
              </a:lnSpc>
              <a:spcBef>
                <a:spcPts val="335"/>
              </a:spcBef>
            </a:pPr>
            <a:r>
              <a:rPr dirty="0" sz="1100" spc="-20">
                <a:latin typeface="黑体"/>
                <a:cs typeface="黑体"/>
              </a:rPr>
              <a:t>确</a:t>
            </a:r>
            <a:r>
              <a:rPr dirty="0" sz="1100" spc="-20">
                <a:latin typeface="黑体"/>
                <a:cs typeface="黑体"/>
              </a:rPr>
              <a:t>定</a:t>
            </a:r>
            <a:r>
              <a:rPr dirty="0" sz="1100" spc="-20">
                <a:latin typeface="黑体"/>
                <a:cs typeface="黑体"/>
              </a:rPr>
              <a:t>性</a:t>
            </a:r>
            <a:r>
              <a:rPr dirty="0" sz="1100" spc="-20">
                <a:latin typeface="黑体"/>
                <a:cs typeface="黑体"/>
              </a:rPr>
              <a:t>实</a:t>
            </a:r>
            <a:r>
              <a:rPr dirty="0" sz="1100" spc="-20">
                <a:latin typeface="黑体"/>
                <a:cs typeface="黑体"/>
              </a:rPr>
              <a:t>时</a:t>
            </a:r>
            <a:r>
              <a:rPr dirty="0" sz="1100" spc="-20">
                <a:latin typeface="黑体"/>
                <a:cs typeface="黑体"/>
              </a:rPr>
              <a:t>响</a:t>
            </a:r>
            <a:r>
              <a:rPr dirty="0" sz="1100" spc="-50">
                <a:latin typeface="黑体"/>
                <a:cs typeface="黑体"/>
              </a:rPr>
              <a:t>应</a:t>
            </a:r>
            <a:endParaRPr sz="1100">
              <a:latin typeface="黑体"/>
              <a:cs typeface="黑体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911" y="1990369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2200401"/>
            <a:ext cx="65265" cy="65265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823" y="1653118"/>
            <a:ext cx="2018664" cy="65595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>
                <a:latin typeface="黑体"/>
                <a:cs typeface="黑体"/>
              </a:rPr>
              <a:t>控</a:t>
            </a:r>
            <a:r>
              <a:rPr dirty="0" sz="1100">
                <a:latin typeface="黑体"/>
                <a:cs typeface="黑体"/>
              </a:rPr>
              <a:t>制</a:t>
            </a:r>
            <a:r>
              <a:rPr dirty="0" sz="1100">
                <a:latin typeface="黑体"/>
                <a:cs typeface="黑体"/>
              </a:rPr>
              <a:t>算</a:t>
            </a:r>
            <a:r>
              <a:rPr dirty="0" sz="1100" spc="-45">
                <a:latin typeface="黑体"/>
                <a:cs typeface="黑体"/>
              </a:rPr>
              <a:t>法：</a:t>
            </a:r>
            <a:endParaRPr sz="1100">
              <a:latin typeface="黑体"/>
              <a:cs typeface="黑体"/>
            </a:endParaRPr>
          </a:p>
          <a:p>
            <a:pPr marL="285115">
              <a:lnSpc>
                <a:spcPct val="100000"/>
              </a:lnSpc>
              <a:spcBef>
                <a:spcPts val="334"/>
              </a:spcBef>
            </a:pPr>
            <a:r>
              <a:rPr dirty="0" sz="1100" spc="-20">
                <a:solidFill>
                  <a:srgbClr val="FF0000"/>
                </a:solidFill>
                <a:latin typeface="黑体"/>
                <a:cs typeface="黑体"/>
              </a:rPr>
              <a:t>串</a:t>
            </a:r>
            <a:r>
              <a:rPr dirty="0" sz="1100" spc="-20">
                <a:solidFill>
                  <a:srgbClr val="FF0000"/>
                </a:solidFill>
                <a:latin typeface="黑体"/>
                <a:cs typeface="黑体"/>
              </a:rPr>
              <a:t>级</a:t>
            </a:r>
            <a:r>
              <a:rPr dirty="0" sz="1100">
                <a:solidFill>
                  <a:srgbClr val="FF0000"/>
                </a:solidFill>
                <a:latin typeface="Tahoma"/>
                <a:cs typeface="Tahoma"/>
              </a:rPr>
              <a:t>PID</a:t>
            </a:r>
            <a:r>
              <a:rPr dirty="0" sz="1100">
                <a:latin typeface="黑体"/>
                <a:cs typeface="黑体"/>
              </a:rPr>
              <a:t>：</a:t>
            </a:r>
            <a:r>
              <a:rPr dirty="0" sz="1100" spc="-20">
                <a:latin typeface="黑体"/>
                <a:cs typeface="黑体"/>
              </a:rPr>
              <a:t>角</a:t>
            </a:r>
            <a:r>
              <a:rPr dirty="0" sz="1100" spc="-20">
                <a:latin typeface="黑体"/>
                <a:cs typeface="黑体"/>
              </a:rPr>
              <a:t>度</a:t>
            </a:r>
            <a:r>
              <a:rPr dirty="0" sz="1100" spc="-20">
                <a:latin typeface="黑体"/>
                <a:cs typeface="黑体"/>
              </a:rPr>
              <a:t>环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20">
                <a:latin typeface="黑体"/>
                <a:cs typeface="黑体"/>
              </a:rPr>
              <a:t>角</a:t>
            </a:r>
            <a:r>
              <a:rPr dirty="0" sz="1100" spc="-20">
                <a:latin typeface="黑体"/>
                <a:cs typeface="黑体"/>
              </a:rPr>
              <a:t>速</a:t>
            </a:r>
            <a:r>
              <a:rPr dirty="0" sz="1100" spc="-20">
                <a:latin typeface="黑体"/>
                <a:cs typeface="黑体"/>
              </a:rPr>
              <a:t>度</a:t>
            </a:r>
            <a:r>
              <a:rPr dirty="0" sz="1100" spc="-60">
                <a:latin typeface="黑体"/>
                <a:cs typeface="黑体"/>
              </a:rPr>
              <a:t>环</a:t>
            </a:r>
            <a:endParaRPr sz="1100">
              <a:latin typeface="黑体"/>
              <a:cs typeface="黑体"/>
            </a:endParaRPr>
          </a:p>
          <a:p>
            <a:pPr marL="285115">
              <a:lnSpc>
                <a:spcPct val="100000"/>
              </a:lnSpc>
              <a:spcBef>
                <a:spcPts val="330"/>
              </a:spcBef>
            </a:pPr>
            <a:r>
              <a:rPr dirty="0" sz="1100" spc="-20">
                <a:solidFill>
                  <a:srgbClr val="0000FF"/>
                </a:solidFill>
                <a:latin typeface="黑体"/>
                <a:cs typeface="黑体"/>
              </a:rPr>
              <a:t>并</a:t>
            </a:r>
            <a:r>
              <a:rPr dirty="0" sz="1100" spc="-20">
                <a:solidFill>
                  <a:srgbClr val="0000FF"/>
                </a:solidFill>
                <a:latin typeface="黑体"/>
                <a:cs typeface="黑体"/>
              </a:rPr>
              <a:t>级</a:t>
            </a:r>
            <a:r>
              <a:rPr dirty="0" sz="1100">
                <a:solidFill>
                  <a:srgbClr val="0000FF"/>
                </a:solidFill>
                <a:latin typeface="Tahoma"/>
                <a:cs typeface="Tahoma"/>
              </a:rPr>
              <a:t>PID</a:t>
            </a:r>
            <a:r>
              <a:rPr dirty="0" sz="1100">
                <a:latin typeface="黑体"/>
                <a:cs typeface="黑体"/>
              </a:rPr>
              <a:t>：</a:t>
            </a:r>
            <a:r>
              <a:rPr dirty="0" sz="1100" spc="-20">
                <a:latin typeface="黑体"/>
                <a:cs typeface="黑体"/>
              </a:rPr>
              <a:t>速</a:t>
            </a:r>
            <a:r>
              <a:rPr dirty="0" sz="1100" spc="-20">
                <a:latin typeface="黑体"/>
                <a:cs typeface="黑体"/>
              </a:rPr>
              <a:t>度</a:t>
            </a:r>
            <a:r>
              <a:rPr dirty="0" sz="1100" spc="-20">
                <a:latin typeface="黑体"/>
                <a:cs typeface="黑体"/>
              </a:rPr>
              <a:t>环</a:t>
            </a:r>
            <a:r>
              <a:rPr dirty="0" sz="1100" spc="-20">
                <a:latin typeface="黑体"/>
                <a:cs typeface="黑体"/>
              </a:rPr>
              <a:t>独</a:t>
            </a:r>
            <a:r>
              <a:rPr dirty="0" sz="1100" spc="-20">
                <a:latin typeface="黑体"/>
                <a:cs typeface="黑体"/>
              </a:rPr>
              <a:t>立</a:t>
            </a:r>
            <a:r>
              <a:rPr dirty="0" sz="1100" spc="-20">
                <a:latin typeface="黑体"/>
                <a:cs typeface="黑体"/>
              </a:rPr>
              <a:t>控</a:t>
            </a:r>
            <a:r>
              <a:rPr dirty="0" sz="1100" spc="-50">
                <a:latin typeface="黑体"/>
                <a:cs typeface="黑体"/>
              </a:rPr>
              <a:t>制</a:t>
            </a:r>
            <a:endParaRPr sz="1100">
              <a:latin typeface="黑体"/>
              <a:cs typeface="黑体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911" y="2410434"/>
            <a:ext cx="65265" cy="65265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4002967" y="1173046"/>
            <a:ext cx="5924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黑体"/>
                <a:cs typeface="黑体"/>
              </a:rPr>
              <a:t>控</a:t>
            </a:r>
            <a:r>
              <a:rPr dirty="0" sz="1100">
                <a:latin typeface="黑体"/>
                <a:cs typeface="黑体"/>
              </a:rPr>
              <a:t>制</a:t>
            </a:r>
            <a:r>
              <a:rPr dirty="0" sz="1100">
                <a:latin typeface="黑体"/>
                <a:cs typeface="黑体"/>
              </a:rPr>
              <a:t>框</a:t>
            </a:r>
            <a:r>
              <a:rPr dirty="0" sz="1100" spc="-50">
                <a:latin typeface="黑体"/>
                <a:cs typeface="黑体"/>
              </a:rPr>
              <a:t>图</a:t>
            </a:r>
            <a:endParaRPr sz="1100">
              <a:latin typeface="黑体"/>
              <a:cs typeface="黑体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3093529" y="1471608"/>
            <a:ext cx="273050" cy="273050"/>
          </a:xfrm>
          <a:custGeom>
            <a:avLst/>
            <a:gdLst/>
            <a:ahLst/>
            <a:cxnLst/>
            <a:rect l="l" t="t" r="r" b="b"/>
            <a:pathLst>
              <a:path w="273050" h="273050">
                <a:moveTo>
                  <a:pt x="272490" y="136245"/>
                </a:moveTo>
                <a:lnTo>
                  <a:pt x="265544" y="93180"/>
                </a:lnTo>
                <a:lnTo>
                  <a:pt x="246203" y="55780"/>
                </a:lnTo>
                <a:lnTo>
                  <a:pt x="216710" y="26287"/>
                </a:lnTo>
                <a:lnTo>
                  <a:pt x="179309" y="6945"/>
                </a:lnTo>
                <a:lnTo>
                  <a:pt x="136245" y="0"/>
                </a:lnTo>
                <a:lnTo>
                  <a:pt x="93180" y="6945"/>
                </a:lnTo>
                <a:lnTo>
                  <a:pt x="55780" y="26287"/>
                </a:lnTo>
                <a:lnTo>
                  <a:pt x="26287" y="55780"/>
                </a:lnTo>
                <a:lnTo>
                  <a:pt x="6945" y="93180"/>
                </a:lnTo>
                <a:lnTo>
                  <a:pt x="0" y="136245"/>
                </a:lnTo>
                <a:lnTo>
                  <a:pt x="6945" y="179309"/>
                </a:lnTo>
                <a:lnTo>
                  <a:pt x="26287" y="216710"/>
                </a:lnTo>
                <a:lnTo>
                  <a:pt x="55780" y="246203"/>
                </a:lnTo>
                <a:lnTo>
                  <a:pt x="93180" y="265544"/>
                </a:lnTo>
                <a:lnTo>
                  <a:pt x="136245" y="272490"/>
                </a:lnTo>
                <a:lnTo>
                  <a:pt x="179309" y="265544"/>
                </a:lnTo>
                <a:lnTo>
                  <a:pt x="216710" y="246203"/>
                </a:lnTo>
                <a:lnTo>
                  <a:pt x="246203" y="216710"/>
                </a:lnTo>
                <a:lnTo>
                  <a:pt x="265544" y="179309"/>
                </a:lnTo>
                <a:lnTo>
                  <a:pt x="272490" y="136245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3163189" y="1491245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45">
                <a:latin typeface="Tahoma"/>
                <a:cs typeface="Tahoma"/>
              </a:rPr>
              <a:t>+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3435522" y="1499330"/>
            <a:ext cx="596900" cy="217170"/>
          </a:xfrm>
          <a:custGeom>
            <a:avLst/>
            <a:gdLst/>
            <a:ahLst/>
            <a:cxnLst/>
            <a:rect l="l" t="t" r="r" b="b"/>
            <a:pathLst>
              <a:path w="596900" h="217169">
                <a:moveTo>
                  <a:pt x="0" y="217047"/>
                </a:moveTo>
                <a:lnTo>
                  <a:pt x="596513" y="217047"/>
                </a:lnTo>
                <a:lnTo>
                  <a:pt x="596513" y="0"/>
                </a:lnTo>
                <a:lnTo>
                  <a:pt x="0" y="0"/>
                </a:lnTo>
                <a:lnTo>
                  <a:pt x="0" y="217047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3468992" y="1505101"/>
            <a:ext cx="5302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黑体"/>
                <a:cs typeface="黑体"/>
              </a:rPr>
              <a:t>角</a:t>
            </a:r>
            <a:r>
              <a:rPr dirty="0" sz="1100" spc="-20">
                <a:latin typeface="黑体"/>
                <a:cs typeface="黑体"/>
              </a:rPr>
              <a:t>度</a:t>
            </a:r>
            <a:r>
              <a:rPr dirty="0" sz="1100" spc="-25">
                <a:latin typeface="Tahoma"/>
                <a:cs typeface="Tahoma"/>
              </a:rPr>
              <a:t>PID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4101537" y="1471608"/>
            <a:ext cx="273050" cy="273050"/>
          </a:xfrm>
          <a:custGeom>
            <a:avLst/>
            <a:gdLst/>
            <a:ahLst/>
            <a:cxnLst/>
            <a:rect l="l" t="t" r="r" b="b"/>
            <a:pathLst>
              <a:path w="273050" h="273050">
                <a:moveTo>
                  <a:pt x="272490" y="136245"/>
                </a:moveTo>
                <a:lnTo>
                  <a:pt x="265544" y="93180"/>
                </a:lnTo>
                <a:lnTo>
                  <a:pt x="246203" y="55780"/>
                </a:lnTo>
                <a:lnTo>
                  <a:pt x="216710" y="26287"/>
                </a:lnTo>
                <a:lnTo>
                  <a:pt x="179309" y="6945"/>
                </a:lnTo>
                <a:lnTo>
                  <a:pt x="136245" y="0"/>
                </a:lnTo>
                <a:lnTo>
                  <a:pt x="93180" y="6945"/>
                </a:lnTo>
                <a:lnTo>
                  <a:pt x="55780" y="26287"/>
                </a:lnTo>
                <a:lnTo>
                  <a:pt x="26287" y="55780"/>
                </a:lnTo>
                <a:lnTo>
                  <a:pt x="6945" y="93180"/>
                </a:lnTo>
                <a:lnTo>
                  <a:pt x="0" y="136245"/>
                </a:lnTo>
                <a:lnTo>
                  <a:pt x="6945" y="179309"/>
                </a:lnTo>
                <a:lnTo>
                  <a:pt x="26287" y="216710"/>
                </a:lnTo>
                <a:lnTo>
                  <a:pt x="55780" y="246203"/>
                </a:lnTo>
                <a:lnTo>
                  <a:pt x="93180" y="265544"/>
                </a:lnTo>
                <a:lnTo>
                  <a:pt x="136245" y="272490"/>
                </a:lnTo>
                <a:lnTo>
                  <a:pt x="179309" y="265544"/>
                </a:lnTo>
                <a:lnTo>
                  <a:pt x="216710" y="246203"/>
                </a:lnTo>
                <a:lnTo>
                  <a:pt x="246203" y="216710"/>
                </a:lnTo>
                <a:lnTo>
                  <a:pt x="265544" y="179309"/>
                </a:lnTo>
                <a:lnTo>
                  <a:pt x="272490" y="136245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4171188" y="1491245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45">
                <a:latin typeface="Tahoma"/>
                <a:cs typeface="Tahoma"/>
              </a:rPr>
              <a:t>+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4374256" y="1499330"/>
            <a:ext cx="1056640" cy="217170"/>
          </a:xfrm>
          <a:custGeom>
            <a:avLst/>
            <a:gdLst/>
            <a:ahLst/>
            <a:cxnLst/>
            <a:rect l="l" t="t" r="r" b="b"/>
            <a:pathLst>
              <a:path w="1056639" h="217169">
                <a:moveTo>
                  <a:pt x="0" y="217047"/>
                </a:moveTo>
                <a:lnTo>
                  <a:pt x="735060" y="217047"/>
                </a:lnTo>
                <a:lnTo>
                  <a:pt x="735060" y="0"/>
                </a:lnTo>
                <a:lnTo>
                  <a:pt x="0" y="0"/>
                </a:lnTo>
                <a:lnTo>
                  <a:pt x="0" y="217047"/>
                </a:lnTo>
                <a:close/>
              </a:path>
              <a:path w="1056639" h="217169">
                <a:moveTo>
                  <a:pt x="686809" y="217047"/>
                </a:moveTo>
                <a:lnTo>
                  <a:pt x="1056259" y="217047"/>
                </a:lnTo>
                <a:lnTo>
                  <a:pt x="1056259" y="0"/>
                </a:lnTo>
                <a:lnTo>
                  <a:pt x="686809" y="0"/>
                </a:lnTo>
                <a:lnTo>
                  <a:pt x="686809" y="217047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4407712" y="1505101"/>
            <a:ext cx="9893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黑体"/>
                <a:cs typeface="黑体"/>
              </a:rPr>
              <a:t>角</a:t>
            </a:r>
            <a:r>
              <a:rPr dirty="0" sz="1100" spc="-20">
                <a:latin typeface="黑体"/>
                <a:cs typeface="黑体"/>
              </a:rPr>
              <a:t>速</a:t>
            </a:r>
            <a:r>
              <a:rPr dirty="0" sz="1100" spc="-20">
                <a:latin typeface="黑体"/>
                <a:cs typeface="黑体"/>
              </a:rPr>
              <a:t>度</a:t>
            </a:r>
            <a:r>
              <a:rPr dirty="0" sz="1100">
                <a:latin typeface="Tahoma"/>
                <a:cs typeface="Tahoma"/>
              </a:rPr>
              <a:t>PID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 spc="-20">
                <a:latin typeface="黑体"/>
                <a:cs typeface="黑体"/>
              </a:rPr>
              <a:t>电</a:t>
            </a:r>
            <a:r>
              <a:rPr dirty="0" sz="1100" spc="-50">
                <a:latin typeface="黑体"/>
                <a:cs typeface="黑体"/>
              </a:rPr>
              <a:t>机</a:t>
            </a:r>
            <a:endParaRPr sz="1100">
              <a:latin typeface="黑体"/>
              <a:cs typeface="黑体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3939526" y="2003334"/>
            <a:ext cx="596900" cy="217170"/>
          </a:xfrm>
          <a:custGeom>
            <a:avLst/>
            <a:gdLst/>
            <a:ahLst/>
            <a:cxnLst/>
            <a:rect l="l" t="t" r="r" b="b"/>
            <a:pathLst>
              <a:path w="596900" h="217169">
                <a:moveTo>
                  <a:pt x="0" y="217047"/>
                </a:moveTo>
                <a:lnTo>
                  <a:pt x="596513" y="217047"/>
                </a:lnTo>
                <a:lnTo>
                  <a:pt x="596513" y="0"/>
                </a:lnTo>
                <a:lnTo>
                  <a:pt x="0" y="0"/>
                </a:lnTo>
                <a:lnTo>
                  <a:pt x="0" y="217047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3972991" y="2009100"/>
            <a:ext cx="5302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黑体"/>
                <a:cs typeface="黑体"/>
              </a:rPr>
              <a:t>速</a:t>
            </a:r>
            <a:r>
              <a:rPr dirty="0" sz="1100" spc="-20">
                <a:latin typeface="黑体"/>
                <a:cs typeface="黑体"/>
              </a:rPr>
              <a:t>度</a:t>
            </a:r>
            <a:r>
              <a:rPr dirty="0" sz="1100" spc="-25">
                <a:latin typeface="Tahoma"/>
                <a:cs typeface="Tahoma"/>
              </a:rPr>
              <a:t>PID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3199409" y="1350790"/>
            <a:ext cx="2303780" cy="892175"/>
            <a:chOff x="3199409" y="1350790"/>
            <a:chExt cx="2303780" cy="892175"/>
          </a:xfrm>
        </p:grpSpPr>
        <p:sp>
          <p:nvSpPr>
            <p:cNvPr id="23" name="object 23" descr=""/>
            <p:cNvSpPr/>
            <p:nvPr/>
          </p:nvSpPr>
          <p:spPr>
            <a:xfrm>
              <a:off x="3368551" y="1607834"/>
              <a:ext cx="55880" cy="0"/>
            </a:xfrm>
            <a:custGeom>
              <a:avLst/>
              <a:gdLst/>
              <a:ahLst/>
              <a:cxnLst/>
              <a:rect l="l" t="t" r="r" b="b"/>
              <a:pathLst>
                <a:path w="55879" h="0">
                  <a:moveTo>
                    <a:pt x="0" y="0"/>
                  </a:moveTo>
                  <a:lnTo>
                    <a:pt x="55460" y="5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404274" y="1581523"/>
              <a:ext cx="24765" cy="52705"/>
            </a:xfrm>
            <a:custGeom>
              <a:avLst/>
              <a:gdLst/>
              <a:ahLst/>
              <a:cxnLst/>
              <a:rect l="l" t="t" r="r" b="b"/>
              <a:pathLst>
                <a:path w="24764" h="52705">
                  <a:moveTo>
                    <a:pt x="0" y="0"/>
                  </a:moveTo>
                  <a:lnTo>
                    <a:pt x="3855" y="8044"/>
                  </a:lnTo>
                  <a:lnTo>
                    <a:pt x="11102" y="16242"/>
                  </a:lnTo>
                  <a:lnTo>
                    <a:pt x="18966" y="22898"/>
                  </a:lnTo>
                  <a:lnTo>
                    <a:pt x="24671" y="26316"/>
                  </a:lnTo>
                  <a:lnTo>
                    <a:pt x="18966" y="29734"/>
                  </a:lnTo>
                  <a:lnTo>
                    <a:pt x="11102" y="36391"/>
                  </a:lnTo>
                  <a:lnTo>
                    <a:pt x="3855" y="44589"/>
                  </a:lnTo>
                  <a:lnTo>
                    <a:pt x="0" y="52633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034581" y="1607840"/>
              <a:ext cx="55880" cy="0"/>
            </a:xfrm>
            <a:custGeom>
              <a:avLst/>
              <a:gdLst/>
              <a:ahLst/>
              <a:cxnLst/>
              <a:rect l="l" t="t" r="r" b="b"/>
              <a:pathLst>
                <a:path w="55879" h="0">
                  <a:moveTo>
                    <a:pt x="0" y="0"/>
                  </a:moveTo>
                  <a:lnTo>
                    <a:pt x="55458" y="4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070301" y="1581527"/>
              <a:ext cx="24765" cy="52705"/>
            </a:xfrm>
            <a:custGeom>
              <a:avLst/>
              <a:gdLst/>
              <a:ahLst/>
              <a:cxnLst/>
              <a:rect l="l" t="t" r="r" b="b"/>
              <a:pathLst>
                <a:path w="24764" h="52705">
                  <a:moveTo>
                    <a:pt x="0" y="0"/>
                  </a:moveTo>
                  <a:lnTo>
                    <a:pt x="3855" y="8044"/>
                  </a:lnTo>
                  <a:lnTo>
                    <a:pt x="11102" y="16242"/>
                  </a:lnTo>
                  <a:lnTo>
                    <a:pt x="18966" y="22898"/>
                  </a:lnTo>
                  <a:lnTo>
                    <a:pt x="24671" y="26316"/>
                  </a:lnTo>
                  <a:lnTo>
                    <a:pt x="18966" y="29734"/>
                  </a:lnTo>
                  <a:lnTo>
                    <a:pt x="11102" y="36391"/>
                  </a:lnTo>
                  <a:lnTo>
                    <a:pt x="3855" y="44589"/>
                  </a:lnTo>
                  <a:lnTo>
                    <a:pt x="0" y="52633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376577" y="1607831"/>
              <a:ext cx="4445" cy="635"/>
            </a:xfrm>
            <a:custGeom>
              <a:avLst/>
              <a:gdLst/>
              <a:ahLst/>
              <a:cxnLst/>
              <a:rect l="l" t="t" r="r" b="b"/>
              <a:pathLst>
                <a:path w="4445" h="634">
                  <a:moveTo>
                    <a:pt x="0" y="0"/>
                  </a:moveTo>
                  <a:lnTo>
                    <a:pt x="4152" y="6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375796" y="1581521"/>
              <a:ext cx="24765" cy="52705"/>
            </a:xfrm>
            <a:custGeom>
              <a:avLst/>
              <a:gdLst/>
              <a:ahLst/>
              <a:cxnLst/>
              <a:rect l="l" t="t" r="r" b="b"/>
              <a:pathLst>
                <a:path w="24764" h="52705">
                  <a:moveTo>
                    <a:pt x="24671" y="52633"/>
                  </a:moveTo>
                  <a:lnTo>
                    <a:pt x="20816" y="44589"/>
                  </a:lnTo>
                  <a:lnTo>
                    <a:pt x="13569" y="36391"/>
                  </a:lnTo>
                  <a:lnTo>
                    <a:pt x="5705" y="29734"/>
                  </a:lnTo>
                  <a:lnTo>
                    <a:pt x="0" y="26316"/>
                  </a:lnTo>
                  <a:lnTo>
                    <a:pt x="5705" y="22898"/>
                  </a:lnTo>
                  <a:lnTo>
                    <a:pt x="13569" y="16242"/>
                  </a:lnTo>
                  <a:lnTo>
                    <a:pt x="20816" y="8044"/>
                  </a:lnTo>
                  <a:lnTo>
                    <a:pt x="24671" y="0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067553" y="1607833"/>
              <a:ext cx="44450" cy="635"/>
            </a:xfrm>
            <a:custGeom>
              <a:avLst/>
              <a:gdLst/>
              <a:ahLst/>
              <a:cxnLst/>
              <a:rect l="l" t="t" r="r" b="b"/>
              <a:pathLst>
                <a:path w="44450" h="634">
                  <a:moveTo>
                    <a:pt x="44329" y="0"/>
                  </a:moveTo>
                  <a:lnTo>
                    <a:pt x="0" y="8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062619" y="1581524"/>
              <a:ext cx="24765" cy="52705"/>
            </a:xfrm>
            <a:custGeom>
              <a:avLst/>
              <a:gdLst/>
              <a:ahLst/>
              <a:cxnLst/>
              <a:rect l="l" t="t" r="r" b="b"/>
              <a:pathLst>
                <a:path w="24764" h="52705">
                  <a:moveTo>
                    <a:pt x="24671" y="52633"/>
                  </a:moveTo>
                  <a:lnTo>
                    <a:pt x="20816" y="44589"/>
                  </a:lnTo>
                  <a:lnTo>
                    <a:pt x="13569" y="36391"/>
                  </a:lnTo>
                  <a:lnTo>
                    <a:pt x="5705" y="29734"/>
                  </a:lnTo>
                  <a:lnTo>
                    <a:pt x="0" y="26316"/>
                  </a:lnTo>
                  <a:lnTo>
                    <a:pt x="5705" y="22898"/>
                  </a:lnTo>
                  <a:lnTo>
                    <a:pt x="13569" y="16242"/>
                  </a:lnTo>
                  <a:lnTo>
                    <a:pt x="20816" y="8044"/>
                  </a:lnTo>
                  <a:lnTo>
                    <a:pt x="24671" y="0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538594" y="1742838"/>
              <a:ext cx="707390" cy="369570"/>
            </a:xfrm>
            <a:custGeom>
              <a:avLst/>
              <a:gdLst/>
              <a:ahLst/>
              <a:cxnLst/>
              <a:rect l="l" t="t" r="r" b="b"/>
              <a:pathLst>
                <a:path w="707389" h="369569">
                  <a:moveTo>
                    <a:pt x="0" y="369019"/>
                  </a:moveTo>
                  <a:lnTo>
                    <a:pt x="707196" y="369019"/>
                  </a:lnTo>
                  <a:lnTo>
                    <a:pt x="707196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219474" y="1737904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4" h="24764">
                  <a:moveTo>
                    <a:pt x="0" y="24671"/>
                  </a:moveTo>
                  <a:lnTo>
                    <a:pt x="8044" y="20816"/>
                  </a:lnTo>
                  <a:lnTo>
                    <a:pt x="16242" y="13569"/>
                  </a:lnTo>
                  <a:lnTo>
                    <a:pt x="22898" y="5705"/>
                  </a:lnTo>
                  <a:lnTo>
                    <a:pt x="26316" y="0"/>
                  </a:lnTo>
                  <a:lnTo>
                    <a:pt x="29734" y="5705"/>
                  </a:lnTo>
                  <a:lnTo>
                    <a:pt x="36391" y="13569"/>
                  </a:lnTo>
                  <a:lnTo>
                    <a:pt x="44589" y="20816"/>
                  </a:lnTo>
                  <a:lnTo>
                    <a:pt x="52633" y="24671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4237783" y="1355851"/>
              <a:ext cx="1008380" cy="252095"/>
            </a:xfrm>
            <a:custGeom>
              <a:avLst/>
              <a:gdLst/>
              <a:ahLst/>
              <a:cxnLst/>
              <a:rect l="l" t="t" r="r" b="b"/>
              <a:pathLst>
                <a:path w="1008379" h="252094">
                  <a:moveTo>
                    <a:pt x="1008008" y="252001"/>
                  </a:moveTo>
                  <a:lnTo>
                    <a:pt x="1008008" y="0"/>
                  </a:lnTo>
                  <a:lnTo>
                    <a:pt x="0" y="0"/>
                  </a:lnTo>
                  <a:lnTo>
                    <a:pt x="17" y="104231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211481" y="1440341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4" h="24765">
                  <a:moveTo>
                    <a:pt x="52632" y="0"/>
                  </a:moveTo>
                  <a:lnTo>
                    <a:pt x="44589" y="3856"/>
                  </a:lnTo>
                  <a:lnTo>
                    <a:pt x="36392" y="11104"/>
                  </a:lnTo>
                  <a:lnTo>
                    <a:pt x="29737" y="18969"/>
                  </a:lnTo>
                  <a:lnTo>
                    <a:pt x="26319" y="24675"/>
                  </a:lnTo>
                  <a:lnTo>
                    <a:pt x="22901" y="18970"/>
                  </a:lnTo>
                  <a:lnTo>
                    <a:pt x="16243" y="11107"/>
                  </a:lnTo>
                  <a:lnTo>
                    <a:pt x="8044" y="3861"/>
                  </a:lnTo>
                  <a:lnTo>
                    <a:pt x="0" y="7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229775" y="1607844"/>
              <a:ext cx="2268220" cy="630555"/>
            </a:xfrm>
            <a:custGeom>
              <a:avLst/>
              <a:gdLst/>
              <a:ahLst/>
              <a:cxnLst/>
              <a:rect l="l" t="t" r="r" b="b"/>
              <a:pathLst>
                <a:path w="2268220" h="630555">
                  <a:moveTo>
                    <a:pt x="2203312" y="0"/>
                  </a:moveTo>
                  <a:lnTo>
                    <a:pt x="2268018" y="9"/>
                  </a:lnTo>
                  <a:lnTo>
                    <a:pt x="2268018" y="630013"/>
                  </a:lnTo>
                  <a:lnTo>
                    <a:pt x="0" y="630013"/>
                  </a:lnTo>
                  <a:lnTo>
                    <a:pt x="0" y="147761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203458" y="1750672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4" h="24764">
                  <a:moveTo>
                    <a:pt x="0" y="24671"/>
                  </a:moveTo>
                  <a:lnTo>
                    <a:pt x="8044" y="20816"/>
                  </a:lnTo>
                  <a:lnTo>
                    <a:pt x="16242" y="13569"/>
                  </a:lnTo>
                  <a:lnTo>
                    <a:pt x="22898" y="5705"/>
                  </a:lnTo>
                  <a:lnTo>
                    <a:pt x="26316" y="0"/>
                  </a:lnTo>
                  <a:lnTo>
                    <a:pt x="29734" y="5705"/>
                  </a:lnTo>
                  <a:lnTo>
                    <a:pt x="36391" y="13569"/>
                  </a:lnTo>
                  <a:lnTo>
                    <a:pt x="44589" y="20816"/>
                  </a:lnTo>
                  <a:lnTo>
                    <a:pt x="52633" y="24671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" name="object 37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38" name="object 38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356755" y="2346477"/>
            <a:ext cx="1688464" cy="1644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60"/>
              </a:lnSpc>
            </a:pPr>
            <a:r>
              <a:rPr dirty="0" sz="1100" spc="-20">
                <a:latin typeface="黑体"/>
                <a:cs typeface="黑体"/>
              </a:rPr>
              <a:t>卡</a:t>
            </a:r>
            <a:r>
              <a:rPr dirty="0" sz="1100" spc="-20">
                <a:latin typeface="黑体"/>
                <a:cs typeface="黑体"/>
              </a:rPr>
              <a:t>尔</a:t>
            </a:r>
            <a:r>
              <a:rPr dirty="0" sz="1100" spc="-20">
                <a:latin typeface="黑体"/>
                <a:cs typeface="黑体"/>
              </a:rPr>
              <a:t>曼</a:t>
            </a:r>
            <a:r>
              <a:rPr dirty="0" sz="1100" spc="-20">
                <a:latin typeface="黑体"/>
                <a:cs typeface="黑体"/>
              </a:rPr>
              <a:t>滤</a:t>
            </a:r>
            <a:r>
              <a:rPr dirty="0" sz="1100" spc="-35">
                <a:latin typeface="黑体"/>
                <a:cs typeface="黑体"/>
              </a:rPr>
              <a:t>波：</a:t>
            </a:r>
            <a:r>
              <a:rPr dirty="0" sz="1100" spc="-20">
                <a:latin typeface="黑体"/>
                <a:cs typeface="黑体"/>
              </a:rPr>
              <a:t>姿</a:t>
            </a:r>
            <a:r>
              <a:rPr dirty="0" sz="1100" spc="-20">
                <a:latin typeface="黑体"/>
                <a:cs typeface="黑体"/>
              </a:rPr>
              <a:t>态</a:t>
            </a:r>
            <a:r>
              <a:rPr dirty="0" sz="1100" spc="-20">
                <a:latin typeface="黑体"/>
                <a:cs typeface="黑体"/>
              </a:rPr>
              <a:t>数</a:t>
            </a:r>
            <a:r>
              <a:rPr dirty="0" sz="1100" spc="-20">
                <a:latin typeface="黑体"/>
                <a:cs typeface="黑体"/>
              </a:rPr>
              <a:t>据</a:t>
            </a:r>
            <a:r>
              <a:rPr dirty="0" sz="1100" spc="-20">
                <a:latin typeface="黑体"/>
                <a:cs typeface="黑体"/>
              </a:rPr>
              <a:t>融</a:t>
            </a:r>
            <a:r>
              <a:rPr dirty="0" sz="1100" spc="-50">
                <a:latin typeface="黑体"/>
                <a:cs typeface="黑体"/>
              </a:rPr>
              <a:t>合</a:t>
            </a:r>
            <a:endParaRPr sz="1100">
              <a:latin typeface="黑体"/>
              <a:cs typeface="黑体"/>
            </a:endParaRPr>
          </a:p>
        </p:txBody>
      </p:sp>
      <p:sp>
        <p:nvSpPr>
          <p:cNvPr id="42" name="object 4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pc="-30"/>
              <a:t>顾云豪</a:t>
            </a:r>
          </a:p>
        </p:txBody>
      </p:sp>
      <p:sp>
        <p:nvSpPr>
          <p:cNvPr id="43" name="object 43" descr=""/>
          <p:cNvSpPr txBox="1"/>
          <p:nvPr/>
        </p:nvSpPr>
        <p:spPr>
          <a:xfrm>
            <a:off x="2285961" y="3128314"/>
            <a:ext cx="1188085" cy="109855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600" spc="-20">
                <a:solidFill>
                  <a:srgbClr val="FFFFFF"/>
                </a:solidFill>
                <a:latin typeface="黑体"/>
                <a:cs typeface="黑体"/>
                <a:hlinkClick r:id="rId5" action="ppaction://hlinksldjump"/>
              </a:rPr>
              <a:t>基于</a:t>
            </a:r>
            <a:r>
              <a:rPr dirty="0" sz="600">
                <a:solidFill>
                  <a:srgbClr val="FFFFFF"/>
                </a:solidFill>
                <a:latin typeface="Century Gothic"/>
                <a:cs typeface="Century Gothic"/>
                <a:hlinkClick r:id="rId5" action="ppaction://hlinksldjump"/>
              </a:rPr>
              <a:t>RISC-V</a:t>
            </a:r>
            <a:r>
              <a:rPr dirty="0" sz="600" spc="-20">
                <a:solidFill>
                  <a:srgbClr val="FFFFFF"/>
                </a:solidFill>
                <a:latin typeface="黑体"/>
                <a:cs typeface="黑体"/>
                <a:hlinkClick r:id="rId5" action="ppaction://hlinksldjump"/>
              </a:rPr>
              <a:t>的智能气垫</a:t>
            </a:r>
            <a:r>
              <a:rPr dirty="0" sz="600" spc="-10">
                <a:solidFill>
                  <a:srgbClr val="FFFFFF"/>
                </a:solidFill>
                <a:latin typeface="黑体"/>
                <a:cs typeface="黑体"/>
                <a:hlinkClick r:id="rId5" action="ppaction://hlinksldjump"/>
              </a:rPr>
              <a:t>船</a:t>
            </a:r>
            <a:r>
              <a:rPr dirty="0" sz="600" spc="-10">
                <a:solidFill>
                  <a:srgbClr val="FFFFFF"/>
                </a:solidFill>
                <a:latin typeface="黑体"/>
                <a:cs typeface="黑体"/>
                <a:hlinkClick r:id="rId5" action="ppaction://hlinksldjump"/>
              </a:rPr>
              <a:t>控</a:t>
            </a:r>
            <a:r>
              <a:rPr dirty="0" sz="600" spc="-20">
                <a:solidFill>
                  <a:srgbClr val="FFFFFF"/>
                </a:solidFill>
                <a:latin typeface="黑体"/>
                <a:cs typeface="黑体"/>
                <a:hlinkClick r:id="rId5" action="ppaction://hlinksldjump"/>
              </a:rPr>
              <a:t>制</a:t>
            </a:r>
            <a:r>
              <a:rPr dirty="0" sz="600" spc="-10">
                <a:solidFill>
                  <a:srgbClr val="FFFFFF"/>
                </a:solidFill>
                <a:latin typeface="黑体"/>
                <a:cs typeface="黑体"/>
                <a:hlinkClick r:id="rId5" action="ppaction://hlinksldjump"/>
              </a:rPr>
              <a:t>系</a:t>
            </a:r>
            <a:r>
              <a:rPr dirty="0" sz="600" spc="-50">
                <a:solidFill>
                  <a:srgbClr val="FFFFFF"/>
                </a:solidFill>
                <a:latin typeface="黑体"/>
                <a:cs typeface="黑体"/>
                <a:hlinkClick r:id="rId5" action="ppaction://hlinksldjump"/>
              </a:rPr>
              <a:t>统</a:t>
            </a:r>
            <a:endParaRPr sz="600">
              <a:latin typeface="黑体"/>
              <a:cs typeface="黑体"/>
            </a:endParaRPr>
          </a:p>
        </p:txBody>
      </p:sp>
      <p:sp>
        <p:nvSpPr>
          <p:cNvPr id="44" name="object 4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dirty="0" spc="20"/>
              <a:t> </a:t>
            </a:r>
            <a:r>
              <a:rPr dirty="0">
                <a:latin typeface="黑体"/>
                <a:cs typeface="黑体"/>
              </a:rPr>
              <a:t>年</a:t>
            </a:r>
            <a:r>
              <a:rPr dirty="0" spc="40">
                <a:latin typeface="Times New Roman"/>
                <a:cs typeface="Times New Roman"/>
              </a:rPr>
              <a:t> </a:t>
            </a:r>
            <a:r>
              <a:rPr dirty="0"/>
              <a:t>1</a:t>
            </a:r>
            <a:r>
              <a:rPr dirty="0" spc="20"/>
              <a:t> </a:t>
            </a:r>
            <a:r>
              <a:rPr dirty="0">
                <a:latin typeface="黑体"/>
                <a:cs typeface="黑体"/>
              </a:rPr>
              <a:t>月</a:t>
            </a:r>
            <a:r>
              <a:rPr dirty="0" spc="40">
                <a:latin typeface="Times New Roman"/>
                <a:cs typeface="Times New Roman"/>
              </a:rPr>
              <a:t> </a:t>
            </a:r>
            <a:r>
              <a:rPr dirty="0"/>
              <a:t>4</a:t>
            </a:r>
            <a:r>
              <a:rPr dirty="0" spc="20"/>
              <a:t> </a:t>
            </a:r>
            <a:r>
              <a:rPr dirty="0" spc="-50">
                <a:latin typeface="黑体"/>
                <a:cs typeface="黑体"/>
              </a:rPr>
              <a:t>日</a:t>
            </a:r>
          </a:p>
        </p:txBody>
      </p:sp>
      <p:sp>
        <p:nvSpPr>
          <p:cNvPr id="45" name="object 4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25"/>
              <a:t>6</a:t>
            </a:fld>
            <a:r>
              <a:rPr dirty="0" spc="-65"/>
              <a:t> </a:t>
            </a:r>
            <a:r>
              <a:rPr dirty="0" spc="55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5300" y="59877"/>
            <a:ext cx="239458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关</a:t>
            </a: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键</a:t>
            </a: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技</a:t>
            </a:r>
            <a:r>
              <a:rPr dirty="0" sz="1400" spc="20">
                <a:solidFill>
                  <a:srgbClr val="FFFFFF"/>
                </a:solidFill>
                <a:latin typeface="黑体"/>
                <a:cs typeface="黑体"/>
              </a:rPr>
              <a:t>术：</a:t>
            </a: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无</a:t>
            </a: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感</a:t>
            </a: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无</a:t>
            </a: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刷</a:t>
            </a: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电</a:t>
            </a: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机</a:t>
            </a:r>
            <a:r>
              <a:rPr dirty="0" sz="1400">
                <a:solidFill>
                  <a:srgbClr val="FFFFFF"/>
                </a:solidFill>
                <a:latin typeface="黑体"/>
                <a:cs typeface="黑体"/>
              </a:rPr>
              <a:t>控</a:t>
            </a:r>
            <a:r>
              <a:rPr dirty="0" sz="1400" spc="-50">
                <a:solidFill>
                  <a:srgbClr val="FFFFFF"/>
                </a:solidFill>
                <a:latin typeface="黑体"/>
                <a:cs typeface="黑体"/>
              </a:rPr>
              <a:t>制</a:t>
            </a:r>
            <a:endParaRPr sz="1400">
              <a:latin typeface="黑体"/>
              <a:cs typeface="黑体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042238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252270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911" y="1462303"/>
            <a:ext cx="65265" cy="6526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3823" y="704987"/>
            <a:ext cx="1476375" cy="86614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>
                <a:latin typeface="黑体"/>
                <a:cs typeface="黑体"/>
              </a:rPr>
              <a:t>六</a:t>
            </a:r>
            <a:r>
              <a:rPr dirty="0" sz="1100">
                <a:latin typeface="黑体"/>
                <a:cs typeface="黑体"/>
              </a:rPr>
              <a:t>步</a:t>
            </a:r>
            <a:r>
              <a:rPr dirty="0" sz="1100">
                <a:latin typeface="黑体"/>
                <a:cs typeface="黑体"/>
              </a:rPr>
              <a:t>换</a:t>
            </a:r>
            <a:r>
              <a:rPr dirty="0" sz="1100">
                <a:latin typeface="黑体"/>
                <a:cs typeface="黑体"/>
              </a:rPr>
              <a:t>相</a:t>
            </a:r>
            <a:r>
              <a:rPr dirty="0" sz="1100" spc="-45">
                <a:latin typeface="黑体"/>
                <a:cs typeface="黑体"/>
              </a:rPr>
              <a:t>法：</a:t>
            </a:r>
            <a:endParaRPr sz="1100">
              <a:latin typeface="黑体"/>
              <a:cs typeface="黑体"/>
            </a:endParaRPr>
          </a:p>
          <a:p>
            <a:pPr marL="285115" marR="5080">
              <a:lnSpc>
                <a:spcPct val="125299"/>
              </a:lnSpc>
            </a:pPr>
            <a:r>
              <a:rPr dirty="0" sz="1100" spc="-20">
                <a:latin typeface="黑体"/>
                <a:cs typeface="黑体"/>
              </a:rPr>
              <a:t>每</a:t>
            </a:r>
            <a:r>
              <a:rPr dirty="0" sz="1100" spc="-20">
                <a:latin typeface="黑体"/>
                <a:cs typeface="黑体"/>
              </a:rPr>
              <a:t>个</a:t>
            </a:r>
            <a:r>
              <a:rPr dirty="0" sz="1100" spc="-20">
                <a:latin typeface="黑体"/>
                <a:cs typeface="黑体"/>
              </a:rPr>
              <a:t>周</a:t>
            </a:r>
            <a:r>
              <a:rPr dirty="0" sz="1100" spc="-20">
                <a:latin typeface="黑体"/>
                <a:cs typeface="黑体"/>
              </a:rPr>
              <a:t>期</a:t>
            </a:r>
            <a:r>
              <a:rPr dirty="0" sz="1100" spc="-20">
                <a:latin typeface="黑体"/>
                <a:cs typeface="黑体"/>
              </a:rPr>
              <a:t>分</a:t>
            </a:r>
            <a:r>
              <a:rPr dirty="0" sz="1100" spc="-70">
                <a:latin typeface="Tahoma"/>
                <a:cs typeface="Tahoma"/>
              </a:rPr>
              <a:t>6</a:t>
            </a:r>
            <a:r>
              <a:rPr dirty="0" sz="1100" spc="-20">
                <a:latin typeface="黑体"/>
                <a:cs typeface="黑体"/>
              </a:rPr>
              <a:t>个</a:t>
            </a:r>
            <a:r>
              <a:rPr dirty="0" sz="1100" spc="-20">
                <a:latin typeface="黑体"/>
                <a:cs typeface="黑体"/>
              </a:rPr>
              <a:t>步</a:t>
            </a:r>
            <a:r>
              <a:rPr dirty="0" sz="1100" spc="-50">
                <a:latin typeface="黑体"/>
                <a:cs typeface="黑体"/>
              </a:rPr>
              <a:t>骤</a:t>
            </a:r>
            <a:r>
              <a:rPr dirty="0" sz="1100" spc="-20">
                <a:latin typeface="黑体"/>
                <a:cs typeface="黑体"/>
              </a:rPr>
              <a:t>顺</a:t>
            </a:r>
            <a:r>
              <a:rPr dirty="0" sz="1100" spc="-20">
                <a:latin typeface="黑体"/>
                <a:cs typeface="黑体"/>
              </a:rPr>
              <a:t>序</a:t>
            </a:r>
            <a:r>
              <a:rPr dirty="0" sz="1100" spc="-20">
                <a:latin typeface="黑体"/>
                <a:cs typeface="黑体"/>
              </a:rPr>
              <a:t>激</a:t>
            </a:r>
            <a:r>
              <a:rPr dirty="0" sz="1100" spc="-20">
                <a:latin typeface="黑体"/>
                <a:cs typeface="黑体"/>
              </a:rPr>
              <a:t>活</a:t>
            </a:r>
            <a:r>
              <a:rPr dirty="0" sz="1100" spc="-20">
                <a:latin typeface="黑体"/>
                <a:cs typeface="黑体"/>
              </a:rPr>
              <a:t>不</a:t>
            </a:r>
            <a:r>
              <a:rPr dirty="0" sz="1100" spc="-20">
                <a:latin typeface="黑体"/>
                <a:cs typeface="黑体"/>
              </a:rPr>
              <a:t>同</a:t>
            </a:r>
            <a:r>
              <a:rPr dirty="0" sz="1100" spc="-20">
                <a:latin typeface="黑体"/>
                <a:cs typeface="黑体"/>
              </a:rPr>
              <a:t>绕</a:t>
            </a:r>
            <a:r>
              <a:rPr dirty="0" sz="1100" spc="-50">
                <a:latin typeface="黑体"/>
                <a:cs typeface="黑体"/>
              </a:rPr>
              <a:t>组</a:t>
            </a:r>
            <a:r>
              <a:rPr dirty="0" sz="1100" spc="-20">
                <a:latin typeface="黑体"/>
                <a:cs typeface="黑体"/>
              </a:rPr>
              <a:t>产</a:t>
            </a:r>
            <a:r>
              <a:rPr dirty="0" sz="1100" spc="-20">
                <a:latin typeface="黑体"/>
                <a:cs typeface="黑体"/>
              </a:rPr>
              <a:t>生</a:t>
            </a:r>
            <a:r>
              <a:rPr dirty="0" sz="1100" spc="-20">
                <a:latin typeface="黑体"/>
                <a:cs typeface="黑体"/>
              </a:rPr>
              <a:t>旋</a:t>
            </a:r>
            <a:r>
              <a:rPr dirty="0" sz="1100" spc="-20">
                <a:latin typeface="黑体"/>
                <a:cs typeface="黑体"/>
              </a:rPr>
              <a:t>转</a:t>
            </a:r>
            <a:r>
              <a:rPr dirty="0" sz="1100" spc="-20">
                <a:latin typeface="黑体"/>
                <a:cs typeface="黑体"/>
              </a:rPr>
              <a:t>磁</a:t>
            </a:r>
            <a:r>
              <a:rPr dirty="0" sz="1100" spc="-50">
                <a:latin typeface="黑体"/>
                <a:cs typeface="黑体"/>
              </a:rPr>
              <a:t>场</a:t>
            </a:r>
            <a:endParaRPr sz="1100">
              <a:latin typeface="黑体"/>
              <a:cs typeface="黑体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911" y="1990369"/>
            <a:ext cx="65265" cy="6526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2200401"/>
            <a:ext cx="65265" cy="65265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83823" y="1653118"/>
            <a:ext cx="1268730" cy="655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marR="5080" indent="-273050">
              <a:lnSpc>
                <a:spcPct val="125299"/>
              </a:lnSpc>
              <a:spcBef>
                <a:spcPts val="100"/>
              </a:spcBef>
            </a:pPr>
            <a:r>
              <a:rPr dirty="0" sz="1100" spc="15">
                <a:latin typeface="黑体"/>
                <a:cs typeface="黑体"/>
              </a:rPr>
              <a:t>反</a:t>
            </a:r>
            <a:r>
              <a:rPr dirty="0" sz="1100" spc="15">
                <a:latin typeface="黑体"/>
                <a:cs typeface="黑体"/>
              </a:rPr>
              <a:t>电</a:t>
            </a:r>
            <a:r>
              <a:rPr dirty="0" sz="1100" spc="15">
                <a:latin typeface="黑体"/>
                <a:cs typeface="黑体"/>
              </a:rPr>
              <a:t>势</a:t>
            </a:r>
            <a:r>
              <a:rPr dirty="0" sz="1100" spc="15">
                <a:latin typeface="黑体"/>
                <a:cs typeface="黑体"/>
              </a:rPr>
              <a:t>过</a:t>
            </a:r>
            <a:r>
              <a:rPr dirty="0" sz="1100" spc="15">
                <a:latin typeface="黑体"/>
                <a:cs typeface="黑体"/>
              </a:rPr>
              <a:t>零</a:t>
            </a:r>
            <a:r>
              <a:rPr dirty="0" sz="1100" spc="15">
                <a:latin typeface="黑体"/>
                <a:cs typeface="黑体"/>
              </a:rPr>
              <a:t>检</a:t>
            </a:r>
            <a:r>
              <a:rPr dirty="0" sz="1100" spc="-25">
                <a:latin typeface="黑体"/>
                <a:cs typeface="黑体"/>
              </a:rPr>
              <a:t>测：</a:t>
            </a:r>
            <a:r>
              <a:rPr dirty="0" sz="1100" spc="-15">
                <a:latin typeface="黑体"/>
                <a:cs typeface="黑体"/>
              </a:rPr>
              <a:t>检</a:t>
            </a:r>
            <a:r>
              <a:rPr dirty="0" sz="1100" spc="-15">
                <a:latin typeface="黑体"/>
                <a:cs typeface="黑体"/>
              </a:rPr>
              <a:t>测</a:t>
            </a:r>
            <a:r>
              <a:rPr dirty="0" sz="1100" spc="-15">
                <a:latin typeface="黑体"/>
                <a:cs typeface="黑体"/>
              </a:rPr>
              <a:t>悬</a:t>
            </a:r>
            <a:r>
              <a:rPr dirty="0" sz="1100" spc="-15">
                <a:latin typeface="黑体"/>
                <a:cs typeface="黑体"/>
              </a:rPr>
              <a:t>空</a:t>
            </a:r>
            <a:r>
              <a:rPr dirty="0" sz="1100" spc="-15">
                <a:latin typeface="黑体"/>
                <a:cs typeface="黑体"/>
              </a:rPr>
              <a:t>相</a:t>
            </a:r>
            <a:r>
              <a:rPr dirty="0" sz="1100" spc="-15">
                <a:latin typeface="黑体"/>
                <a:cs typeface="黑体"/>
              </a:rPr>
              <a:t>电</a:t>
            </a:r>
            <a:r>
              <a:rPr dirty="0" sz="1100" spc="-15">
                <a:latin typeface="黑体"/>
                <a:cs typeface="黑体"/>
              </a:rPr>
              <a:t>压</a:t>
            </a:r>
            <a:r>
              <a:rPr dirty="0" sz="1100" spc="-15">
                <a:latin typeface="黑体"/>
                <a:cs typeface="黑体"/>
              </a:rPr>
              <a:t>判</a:t>
            </a:r>
            <a:r>
              <a:rPr dirty="0" sz="1100" spc="-15">
                <a:latin typeface="黑体"/>
                <a:cs typeface="黑体"/>
              </a:rPr>
              <a:t>断</a:t>
            </a:r>
            <a:r>
              <a:rPr dirty="0" sz="1100" spc="-15">
                <a:latin typeface="黑体"/>
                <a:cs typeface="黑体"/>
              </a:rPr>
              <a:t>换</a:t>
            </a:r>
            <a:r>
              <a:rPr dirty="0" sz="1100" spc="-15">
                <a:latin typeface="黑体"/>
                <a:cs typeface="黑体"/>
              </a:rPr>
              <a:t>相</a:t>
            </a:r>
            <a:r>
              <a:rPr dirty="0" sz="1100" spc="-15">
                <a:latin typeface="黑体"/>
                <a:cs typeface="黑体"/>
              </a:rPr>
              <a:t>时</a:t>
            </a:r>
            <a:r>
              <a:rPr dirty="0" sz="1100" spc="-15">
                <a:latin typeface="黑体"/>
                <a:cs typeface="黑体"/>
              </a:rPr>
              <a:t>机</a:t>
            </a:r>
            <a:endParaRPr sz="1100">
              <a:latin typeface="黑体"/>
              <a:cs typeface="黑体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911" y="2410434"/>
            <a:ext cx="65265" cy="65265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3837168" y="993481"/>
            <a:ext cx="87756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黑体"/>
                <a:cs typeface="黑体"/>
              </a:rPr>
              <a:t>三</a:t>
            </a:r>
            <a:r>
              <a:rPr dirty="0" sz="1100">
                <a:latin typeface="黑体"/>
                <a:cs typeface="黑体"/>
              </a:rPr>
              <a:t>相</a:t>
            </a:r>
            <a:r>
              <a:rPr dirty="0" sz="1100">
                <a:latin typeface="黑体"/>
                <a:cs typeface="黑体"/>
              </a:rPr>
              <a:t>逆</a:t>
            </a:r>
            <a:r>
              <a:rPr dirty="0" sz="1100">
                <a:latin typeface="黑体"/>
                <a:cs typeface="黑体"/>
              </a:rPr>
              <a:t>变</a:t>
            </a:r>
            <a:r>
              <a:rPr dirty="0" sz="1100">
                <a:latin typeface="黑体"/>
                <a:cs typeface="黑体"/>
              </a:rPr>
              <a:t>电</a:t>
            </a:r>
            <a:r>
              <a:rPr dirty="0" sz="1100" spc="-50">
                <a:latin typeface="黑体"/>
                <a:cs typeface="黑体"/>
              </a:rPr>
              <a:t>路</a:t>
            </a:r>
            <a:endParaRPr sz="1100">
              <a:latin typeface="黑体"/>
              <a:cs typeface="黑体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151439" y="1270379"/>
            <a:ext cx="291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Tahoma"/>
                <a:cs typeface="Tahoma"/>
              </a:rPr>
              <a:t>VCC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3829597" y="1822125"/>
            <a:ext cx="52705" cy="24765"/>
          </a:xfrm>
          <a:custGeom>
            <a:avLst/>
            <a:gdLst/>
            <a:ahLst/>
            <a:cxnLst/>
            <a:rect l="l" t="t" r="r" b="b"/>
            <a:pathLst>
              <a:path w="52704" h="24764">
                <a:moveTo>
                  <a:pt x="52633" y="0"/>
                </a:moveTo>
                <a:lnTo>
                  <a:pt x="44589" y="3855"/>
                </a:lnTo>
                <a:lnTo>
                  <a:pt x="36391" y="11102"/>
                </a:lnTo>
                <a:lnTo>
                  <a:pt x="29734" y="18966"/>
                </a:lnTo>
                <a:lnTo>
                  <a:pt x="26316" y="24671"/>
                </a:lnTo>
                <a:lnTo>
                  <a:pt x="22898" y="18966"/>
                </a:lnTo>
                <a:lnTo>
                  <a:pt x="16242" y="11102"/>
                </a:lnTo>
                <a:lnTo>
                  <a:pt x="8044" y="3855"/>
                </a:lnTo>
                <a:lnTo>
                  <a:pt x="0" y="0"/>
                </a:lnTo>
              </a:path>
            </a:pathLst>
          </a:custGeom>
          <a:ln w="80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4333601" y="1822125"/>
            <a:ext cx="52705" cy="24765"/>
          </a:xfrm>
          <a:custGeom>
            <a:avLst/>
            <a:gdLst/>
            <a:ahLst/>
            <a:cxnLst/>
            <a:rect l="l" t="t" r="r" b="b"/>
            <a:pathLst>
              <a:path w="52704" h="24764">
                <a:moveTo>
                  <a:pt x="52633" y="0"/>
                </a:moveTo>
                <a:lnTo>
                  <a:pt x="44589" y="3855"/>
                </a:lnTo>
                <a:lnTo>
                  <a:pt x="36391" y="11102"/>
                </a:lnTo>
                <a:lnTo>
                  <a:pt x="29734" y="18966"/>
                </a:lnTo>
                <a:lnTo>
                  <a:pt x="26316" y="24671"/>
                </a:lnTo>
                <a:lnTo>
                  <a:pt x="22898" y="18966"/>
                </a:lnTo>
                <a:lnTo>
                  <a:pt x="16242" y="11102"/>
                </a:lnTo>
                <a:lnTo>
                  <a:pt x="8044" y="3855"/>
                </a:lnTo>
                <a:lnTo>
                  <a:pt x="0" y="0"/>
                </a:lnTo>
              </a:path>
            </a:pathLst>
          </a:custGeom>
          <a:ln w="80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4837605" y="1822125"/>
            <a:ext cx="52705" cy="24765"/>
          </a:xfrm>
          <a:custGeom>
            <a:avLst/>
            <a:gdLst/>
            <a:ahLst/>
            <a:cxnLst/>
            <a:rect l="l" t="t" r="r" b="b"/>
            <a:pathLst>
              <a:path w="52704" h="24764">
                <a:moveTo>
                  <a:pt x="52633" y="0"/>
                </a:moveTo>
                <a:lnTo>
                  <a:pt x="44589" y="3855"/>
                </a:lnTo>
                <a:lnTo>
                  <a:pt x="36391" y="11102"/>
                </a:lnTo>
                <a:lnTo>
                  <a:pt x="29734" y="18966"/>
                </a:lnTo>
                <a:lnTo>
                  <a:pt x="26316" y="24671"/>
                </a:lnTo>
                <a:lnTo>
                  <a:pt x="22898" y="18966"/>
                </a:lnTo>
                <a:lnTo>
                  <a:pt x="16242" y="11102"/>
                </a:lnTo>
                <a:lnTo>
                  <a:pt x="8044" y="3855"/>
                </a:lnTo>
                <a:lnTo>
                  <a:pt x="0" y="0"/>
                </a:lnTo>
              </a:path>
            </a:pathLst>
          </a:custGeom>
          <a:ln w="80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7" name="object 17" descr=""/>
          <p:cNvGraphicFramePr>
            <a:graphicFrameLocks noGrp="1"/>
          </p:cNvGraphicFramePr>
          <p:nvPr/>
        </p:nvGraphicFramePr>
        <p:xfrm>
          <a:off x="3540912" y="1465252"/>
          <a:ext cx="1512570" cy="757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095"/>
                <a:gridCol w="62864"/>
                <a:gridCol w="62864"/>
                <a:gridCol w="377825"/>
                <a:gridCol w="62865"/>
                <a:gridCol w="62865"/>
                <a:gridCol w="377825"/>
                <a:gridCol w="62865"/>
                <a:gridCol w="62865"/>
                <a:gridCol w="125730"/>
              </a:tblGrid>
              <a:tr h="1282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600">
                          <a:latin typeface="Century Gothic"/>
                          <a:cs typeface="Century Gothic"/>
                        </a:rPr>
                        <a:t>Q</a:t>
                      </a:r>
                      <a:endParaRPr sz="600">
                        <a:latin typeface="Century Gothic"/>
                        <a:cs typeface="Century Gothic"/>
                      </a:endParaRPr>
                    </a:p>
                  </a:txBody>
                  <a:tcPr marL="0" marR="0" marB="0" marT="107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B2B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600">
                          <a:latin typeface="Century Gothic"/>
                          <a:cs typeface="Century Gothic"/>
                        </a:rPr>
                        <a:t>Q</a:t>
                      </a:r>
                      <a:endParaRPr sz="600">
                        <a:latin typeface="Century Gothic"/>
                        <a:cs typeface="Century Gothic"/>
                      </a:endParaRPr>
                    </a:p>
                  </a:txBody>
                  <a:tcPr marL="0" marR="0" marB="0" marT="107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B2B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600">
                          <a:latin typeface="Century Gothic"/>
                          <a:cs typeface="Century Gothic"/>
                        </a:rPr>
                        <a:t>Q</a:t>
                      </a:r>
                      <a:endParaRPr sz="600">
                        <a:latin typeface="Century Gothic"/>
                        <a:cs typeface="Century Gothic"/>
                      </a:endParaRPr>
                    </a:p>
                  </a:txBody>
                  <a:tcPr marL="0" marR="0" marB="0" marT="107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B2B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50355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00">
                          <a:latin typeface="Tahoma"/>
                          <a:cs typeface="Tahoma"/>
                        </a:rPr>
                        <a:t>A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00">
                          <a:latin typeface="Tahoma"/>
                          <a:cs typeface="Tahoma"/>
                        </a:rPr>
                        <a:t>B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00">
                          <a:latin typeface="Tahoma"/>
                          <a:cs typeface="Tahoma"/>
                        </a:rPr>
                        <a:t>C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57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600">
                          <a:latin typeface="Century Gothic"/>
                          <a:cs typeface="Century Gothic"/>
                        </a:rPr>
                        <a:t>Q</a:t>
                      </a:r>
                      <a:endParaRPr sz="600">
                        <a:latin typeface="Century Gothic"/>
                        <a:cs typeface="Century Gothic"/>
                      </a:endParaRPr>
                    </a:p>
                  </a:txBody>
                  <a:tcPr marL="0" marR="0" marB="0" marT="82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600">
                          <a:latin typeface="Century Gothic"/>
                          <a:cs typeface="Century Gothic"/>
                        </a:rPr>
                        <a:t>Q</a:t>
                      </a:r>
                      <a:endParaRPr sz="600">
                        <a:latin typeface="Century Gothic"/>
                        <a:cs typeface="Century Gothic"/>
                      </a:endParaRPr>
                    </a:p>
                  </a:txBody>
                  <a:tcPr marL="0" marR="0" marB="0" marT="82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2B2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600">
                          <a:latin typeface="Century Gothic"/>
                          <a:cs typeface="Century Gothic"/>
                        </a:rPr>
                        <a:t>Q</a:t>
                      </a:r>
                      <a:endParaRPr sz="600">
                        <a:latin typeface="Century Gothic"/>
                        <a:cs typeface="Century Gothic"/>
                      </a:endParaRPr>
                    </a:p>
                  </a:txBody>
                  <a:tcPr marL="0" marR="0" marB="0" marT="82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2B2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8" name="object 18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9" name="object 19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4138929" y="2258453"/>
            <a:ext cx="31623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spc="-25">
                <a:latin typeface="Tahoma"/>
                <a:cs typeface="Tahoma"/>
              </a:rPr>
              <a:t>GND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56755" y="2346477"/>
            <a:ext cx="995680" cy="1644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60"/>
              </a:lnSpc>
            </a:pPr>
            <a:r>
              <a:rPr dirty="0" sz="1100" spc="-20">
                <a:latin typeface="黑体"/>
                <a:cs typeface="黑体"/>
              </a:rPr>
              <a:t>无</a:t>
            </a:r>
            <a:r>
              <a:rPr dirty="0" sz="1100" spc="-20">
                <a:latin typeface="黑体"/>
                <a:cs typeface="黑体"/>
              </a:rPr>
              <a:t>需</a:t>
            </a:r>
            <a:r>
              <a:rPr dirty="0" sz="1100" spc="-20">
                <a:latin typeface="黑体"/>
                <a:cs typeface="黑体"/>
              </a:rPr>
              <a:t>霍</a:t>
            </a:r>
            <a:r>
              <a:rPr dirty="0" sz="1100" spc="-20">
                <a:latin typeface="黑体"/>
                <a:cs typeface="黑体"/>
              </a:rPr>
              <a:t>尔</a:t>
            </a:r>
            <a:r>
              <a:rPr dirty="0" sz="1100" spc="-20">
                <a:latin typeface="黑体"/>
                <a:cs typeface="黑体"/>
              </a:rPr>
              <a:t>传</a:t>
            </a:r>
            <a:r>
              <a:rPr dirty="0" sz="1100" spc="-20">
                <a:latin typeface="黑体"/>
                <a:cs typeface="黑体"/>
              </a:rPr>
              <a:t>感</a:t>
            </a:r>
            <a:r>
              <a:rPr dirty="0" sz="1100" spc="-50">
                <a:latin typeface="黑体"/>
                <a:cs typeface="黑体"/>
              </a:rPr>
              <a:t>器</a:t>
            </a:r>
            <a:endParaRPr sz="1100">
              <a:latin typeface="黑体"/>
              <a:cs typeface="黑体"/>
            </a:endParaRPr>
          </a:p>
        </p:txBody>
      </p:sp>
      <p:sp>
        <p:nvSpPr>
          <p:cNvPr id="24" name="object 2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pc="-30"/>
              <a:t>顾云豪</a:t>
            </a:r>
          </a:p>
        </p:txBody>
      </p:sp>
      <p:sp>
        <p:nvSpPr>
          <p:cNvPr id="25" name="object 25" descr=""/>
          <p:cNvSpPr txBox="1"/>
          <p:nvPr/>
        </p:nvSpPr>
        <p:spPr>
          <a:xfrm>
            <a:off x="2285961" y="3128314"/>
            <a:ext cx="1188085" cy="109855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600" spc="-20">
                <a:solidFill>
                  <a:srgbClr val="FFFFFF"/>
                </a:solidFill>
                <a:latin typeface="黑体"/>
                <a:cs typeface="黑体"/>
                <a:hlinkClick r:id="rId5" action="ppaction://hlinksldjump"/>
              </a:rPr>
              <a:t>基于</a:t>
            </a:r>
            <a:r>
              <a:rPr dirty="0" sz="600">
                <a:solidFill>
                  <a:srgbClr val="FFFFFF"/>
                </a:solidFill>
                <a:latin typeface="Century Gothic"/>
                <a:cs typeface="Century Gothic"/>
                <a:hlinkClick r:id="rId5" action="ppaction://hlinksldjump"/>
              </a:rPr>
              <a:t>RISC-V</a:t>
            </a:r>
            <a:r>
              <a:rPr dirty="0" sz="600" spc="-20">
                <a:solidFill>
                  <a:srgbClr val="FFFFFF"/>
                </a:solidFill>
                <a:latin typeface="黑体"/>
                <a:cs typeface="黑体"/>
                <a:hlinkClick r:id="rId5" action="ppaction://hlinksldjump"/>
              </a:rPr>
              <a:t>的智能气垫</a:t>
            </a:r>
            <a:r>
              <a:rPr dirty="0" sz="600" spc="-10">
                <a:solidFill>
                  <a:srgbClr val="FFFFFF"/>
                </a:solidFill>
                <a:latin typeface="黑体"/>
                <a:cs typeface="黑体"/>
                <a:hlinkClick r:id="rId5" action="ppaction://hlinksldjump"/>
              </a:rPr>
              <a:t>船</a:t>
            </a:r>
            <a:r>
              <a:rPr dirty="0" sz="600" spc="-10">
                <a:solidFill>
                  <a:srgbClr val="FFFFFF"/>
                </a:solidFill>
                <a:latin typeface="黑体"/>
                <a:cs typeface="黑体"/>
                <a:hlinkClick r:id="rId5" action="ppaction://hlinksldjump"/>
              </a:rPr>
              <a:t>控</a:t>
            </a:r>
            <a:r>
              <a:rPr dirty="0" sz="600" spc="-20">
                <a:solidFill>
                  <a:srgbClr val="FFFFFF"/>
                </a:solidFill>
                <a:latin typeface="黑体"/>
                <a:cs typeface="黑体"/>
                <a:hlinkClick r:id="rId5" action="ppaction://hlinksldjump"/>
              </a:rPr>
              <a:t>制</a:t>
            </a:r>
            <a:r>
              <a:rPr dirty="0" sz="600" spc="-10">
                <a:solidFill>
                  <a:srgbClr val="FFFFFF"/>
                </a:solidFill>
                <a:latin typeface="黑体"/>
                <a:cs typeface="黑体"/>
                <a:hlinkClick r:id="rId5" action="ppaction://hlinksldjump"/>
              </a:rPr>
              <a:t>系</a:t>
            </a:r>
            <a:r>
              <a:rPr dirty="0" sz="600" spc="-50">
                <a:solidFill>
                  <a:srgbClr val="FFFFFF"/>
                </a:solidFill>
                <a:latin typeface="黑体"/>
                <a:cs typeface="黑体"/>
                <a:hlinkClick r:id="rId5" action="ppaction://hlinksldjump"/>
              </a:rPr>
              <a:t>统</a:t>
            </a:r>
            <a:endParaRPr sz="600">
              <a:latin typeface="黑体"/>
              <a:cs typeface="黑体"/>
            </a:endParaRPr>
          </a:p>
        </p:txBody>
      </p:sp>
      <p:sp>
        <p:nvSpPr>
          <p:cNvPr id="26" name="object 2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dirty="0" spc="20"/>
              <a:t> </a:t>
            </a:r>
            <a:r>
              <a:rPr dirty="0">
                <a:latin typeface="黑体"/>
                <a:cs typeface="黑体"/>
              </a:rPr>
              <a:t>年</a:t>
            </a:r>
            <a:r>
              <a:rPr dirty="0" spc="40">
                <a:latin typeface="Times New Roman"/>
                <a:cs typeface="Times New Roman"/>
              </a:rPr>
              <a:t> </a:t>
            </a:r>
            <a:r>
              <a:rPr dirty="0"/>
              <a:t>1</a:t>
            </a:r>
            <a:r>
              <a:rPr dirty="0" spc="20"/>
              <a:t> </a:t>
            </a:r>
            <a:r>
              <a:rPr dirty="0">
                <a:latin typeface="黑体"/>
                <a:cs typeface="黑体"/>
              </a:rPr>
              <a:t>月</a:t>
            </a:r>
            <a:r>
              <a:rPr dirty="0" spc="40">
                <a:latin typeface="Times New Roman"/>
                <a:cs typeface="Times New Roman"/>
              </a:rPr>
              <a:t> </a:t>
            </a:r>
            <a:r>
              <a:rPr dirty="0"/>
              <a:t>4</a:t>
            </a:r>
            <a:r>
              <a:rPr dirty="0" spc="20"/>
              <a:t> </a:t>
            </a:r>
            <a:r>
              <a:rPr dirty="0" spc="-50">
                <a:latin typeface="黑体"/>
                <a:cs typeface="黑体"/>
              </a:rPr>
              <a:t>日</a:t>
            </a:r>
          </a:p>
        </p:txBody>
      </p:sp>
      <p:sp>
        <p:nvSpPr>
          <p:cNvPr id="27" name="object 2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25"/>
              <a:t>7</a:t>
            </a:fld>
            <a:r>
              <a:rPr dirty="0" spc="-65"/>
              <a:t> </a:t>
            </a:r>
            <a:r>
              <a:rPr dirty="0" spc="55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130111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系</a:t>
            </a:r>
            <a:r>
              <a:rPr dirty="0"/>
              <a:t>统</a:t>
            </a:r>
            <a:r>
              <a:rPr dirty="0"/>
              <a:t>特</a:t>
            </a:r>
            <a:r>
              <a:rPr dirty="0"/>
              <a:t>点</a:t>
            </a:r>
            <a:r>
              <a:rPr dirty="0"/>
              <a:t>与</a:t>
            </a:r>
            <a:r>
              <a:rPr dirty="0"/>
              <a:t>创</a:t>
            </a:r>
            <a:r>
              <a:rPr dirty="0" spc="-50"/>
              <a:t>新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947724"/>
            <a:ext cx="65265" cy="6526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157757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911" y="1367790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911" y="1577822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911" y="1787855"/>
            <a:ext cx="65265" cy="6526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83823" y="610461"/>
            <a:ext cx="1700530" cy="128587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>
                <a:latin typeface="黑体"/>
                <a:cs typeface="黑体"/>
              </a:rPr>
              <a:t>技</a:t>
            </a:r>
            <a:r>
              <a:rPr dirty="0" sz="1100">
                <a:latin typeface="黑体"/>
                <a:cs typeface="黑体"/>
              </a:rPr>
              <a:t>术</a:t>
            </a:r>
            <a:r>
              <a:rPr dirty="0" sz="1100">
                <a:latin typeface="黑体"/>
                <a:cs typeface="黑体"/>
              </a:rPr>
              <a:t>特</a:t>
            </a:r>
            <a:r>
              <a:rPr dirty="0" sz="1100" spc="-45">
                <a:latin typeface="黑体"/>
                <a:cs typeface="黑体"/>
              </a:rPr>
              <a:t>点：</a:t>
            </a:r>
            <a:endParaRPr sz="1100">
              <a:latin typeface="黑体"/>
              <a:cs typeface="黑体"/>
            </a:endParaRPr>
          </a:p>
          <a:p>
            <a:pPr marL="424815" indent="-139700">
              <a:lnSpc>
                <a:spcPct val="100000"/>
              </a:lnSpc>
              <a:spcBef>
                <a:spcPts val="334"/>
              </a:spcBef>
              <a:buSzPct val="90909"/>
              <a:buChar char="✓"/>
              <a:tabLst>
                <a:tab pos="424815" algn="l"/>
              </a:tabLst>
            </a:pPr>
            <a:r>
              <a:rPr dirty="0" sz="1100" spc="-20">
                <a:latin typeface="黑体"/>
                <a:cs typeface="黑体"/>
              </a:rPr>
              <a:t>采</a:t>
            </a:r>
            <a:r>
              <a:rPr dirty="0" sz="1100" spc="-20">
                <a:latin typeface="黑体"/>
                <a:cs typeface="黑体"/>
              </a:rPr>
              <a:t>用</a:t>
            </a:r>
            <a:r>
              <a:rPr dirty="0" sz="1100" spc="-20">
                <a:latin typeface="黑体"/>
                <a:cs typeface="黑体"/>
              </a:rPr>
              <a:t>国</a:t>
            </a:r>
            <a:r>
              <a:rPr dirty="0" sz="1100" spc="-20">
                <a:latin typeface="黑体"/>
                <a:cs typeface="黑体"/>
              </a:rPr>
              <a:t>产</a:t>
            </a:r>
            <a:r>
              <a:rPr dirty="0" sz="1100" spc="-10">
                <a:latin typeface="Tahoma"/>
                <a:cs typeface="Tahoma"/>
              </a:rPr>
              <a:t>RISC-</a:t>
            </a:r>
            <a:r>
              <a:rPr dirty="0" sz="1100" spc="-20">
                <a:latin typeface="Tahoma"/>
                <a:cs typeface="Tahoma"/>
              </a:rPr>
              <a:t>V</a:t>
            </a:r>
            <a:r>
              <a:rPr dirty="0" sz="1100" spc="-20">
                <a:latin typeface="黑体"/>
                <a:cs typeface="黑体"/>
              </a:rPr>
              <a:t>架</a:t>
            </a:r>
            <a:r>
              <a:rPr dirty="0" sz="1100" spc="-50">
                <a:latin typeface="黑体"/>
                <a:cs typeface="黑体"/>
              </a:rPr>
              <a:t>构</a:t>
            </a:r>
            <a:endParaRPr sz="1100">
              <a:latin typeface="黑体"/>
              <a:cs typeface="黑体"/>
            </a:endParaRPr>
          </a:p>
          <a:p>
            <a:pPr marL="424815" indent="-139700">
              <a:lnSpc>
                <a:spcPct val="100000"/>
              </a:lnSpc>
              <a:spcBef>
                <a:spcPts val="330"/>
              </a:spcBef>
              <a:buSzPct val="90909"/>
              <a:buChar char="✓"/>
              <a:tabLst>
                <a:tab pos="424815" algn="l"/>
              </a:tabLst>
            </a:pPr>
            <a:r>
              <a:rPr dirty="0" sz="1100" spc="-20">
                <a:latin typeface="黑体"/>
                <a:cs typeface="黑体"/>
              </a:rPr>
              <a:t>多</a:t>
            </a:r>
            <a:r>
              <a:rPr dirty="0" sz="1100" spc="-20">
                <a:latin typeface="黑体"/>
                <a:cs typeface="黑体"/>
              </a:rPr>
              <a:t>传</a:t>
            </a:r>
            <a:r>
              <a:rPr dirty="0" sz="1100" spc="-20">
                <a:latin typeface="黑体"/>
                <a:cs typeface="黑体"/>
              </a:rPr>
              <a:t>感</a:t>
            </a:r>
            <a:r>
              <a:rPr dirty="0" sz="1100" spc="-20">
                <a:latin typeface="黑体"/>
                <a:cs typeface="黑体"/>
              </a:rPr>
              <a:t>器</a:t>
            </a:r>
            <a:r>
              <a:rPr dirty="0" sz="1100" spc="-20">
                <a:latin typeface="黑体"/>
                <a:cs typeface="黑体"/>
              </a:rPr>
              <a:t>融</a:t>
            </a:r>
            <a:r>
              <a:rPr dirty="0" sz="1100" spc="-20">
                <a:latin typeface="黑体"/>
                <a:cs typeface="黑体"/>
              </a:rPr>
              <a:t>合</a:t>
            </a:r>
            <a:r>
              <a:rPr dirty="0" sz="1100" spc="-20">
                <a:latin typeface="黑体"/>
                <a:cs typeface="黑体"/>
              </a:rPr>
              <a:t>控</a:t>
            </a:r>
            <a:r>
              <a:rPr dirty="0" sz="1100" spc="-50">
                <a:latin typeface="黑体"/>
                <a:cs typeface="黑体"/>
              </a:rPr>
              <a:t>制</a:t>
            </a:r>
            <a:endParaRPr sz="1100">
              <a:latin typeface="黑体"/>
              <a:cs typeface="黑体"/>
            </a:endParaRPr>
          </a:p>
          <a:p>
            <a:pPr marL="424815" indent="-139700">
              <a:lnSpc>
                <a:spcPct val="100000"/>
              </a:lnSpc>
              <a:spcBef>
                <a:spcPts val="335"/>
              </a:spcBef>
              <a:buSzPct val="90909"/>
              <a:buChar char="✓"/>
              <a:tabLst>
                <a:tab pos="424815" algn="l"/>
              </a:tabLst>
            </a:pPr>
            <a:r>
              <a:rPr dirty="0" sz="1100" spc="-20">
                <a:latin typeface="黑体"/>
                <a:cs typeface="黑体"/>
              </a:rPr>
              <a:t>实</a:t>
            </a:r>
            <a:r>
              <a:rPr dirty="0" sz="1100" spc="-20">
                <a:latin typeface="黑体"/>
                <a:cs typeface="黑体"/>
              </a:rPr>
              <a:t>时</a:t>
            </a:r>
            <a:r>
              <a:rPr dirty="0" sz="1100" spc="-20">
                <a:latin typeface="黑体"/>
                <a:cs typeface="黑体"/>
              </a:rPr>
              <a:t>操</a:t>
            </a:r>
            <a:r>
              <a:rPr dirty="0" sz="1100" spc="-20">
                <a:latin typeface="黑体"/>
                <a:cs typeface="黑体"/>
              </a:rPr>
              <a:t>作</a:t>
            </a:r>
            <a:r>
              <a:rPr dirty="0" sz="1100" spc="-20">
                <a:latin typeface="黑体"/>
                <a:cs typeface="黑体"/>
              </a:rPr>
              <a:t>系</a:t>
            </a:r>
            <a:r>
              <a:rPr dirty="0" sz="1100" spc="-20">
                <a:latin typeface="黑体"/>
                <a:cs typeface="黑体"/>
              </a:rPr>
              <a:t>统</a:t>
            </a:r>
            <a:r>
              <a:rPr dirty="0" sz="1100" spc="-20">
                <a:latin typeface="黑体"/>
                <a:cs typeface="黑体"/>
              </a:rPr>
              <a:t>支</a:t>
            </a:r>
            <a:r>
              <a:rPr dirty="0" sz="1100" spc="-50">
                <a:latin typeface="黑体"/>
                <a:cs typeface="黑体"/>
              </a:rPr>
              <a:t>持</a:t>
            </a:r>
            <a:endParaRPr sz="1100">
              <a:latin typeface="黑体"/>
              <a:cs typeface="黑体"/>
            </a:endParaRPr>
          </a:p>
          <a:p>
            <a:pPr marL="424815" indent="-139700">
              <a:lnSpc>
                <a:spcPct val="100000"/>
              </a:lnSpc>
              <a:spcBef>
                <a:spcPts val="335"/>
              </a:spcBef>
              <a:buSzPct val="90909"/>
              <a:buChar char="✓"/>
              <a:tabLst>
                <a:tab pos="424815" algn="l"/>
              </a:tabLst>
            </a:pPr>
            <a:r>
              <a:rPr dirty="0" sz="1100" spc="-20">
                <a:latin typeface="黑体"/>
                <a:cs typeface="黑体"/>
              </a:rPr>
              <a:t>串</a:t>
            </a:r>
            <a:r>
              <a:rPr dirty="0" sz="1100" spc="-20">
                <a:latin typeface="黑体"/>
                <a:cs typeface="黑体"/>
              </a:rPr>
              <a:t>级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20">
                <a:latin typeface="黑体"/>
                <a:cs typeface="黑体"/>
              </a:rPr>
              <a:t>并</a:t>
            </a:r>
            <a:r>
              <a:rPr dirty="0" sz="1100" spc="-20">
                <a:latin typeface="黑体"/>
                <a:cs typeface="黑体"/>
              </a:rPr>
              <a:t>级</a:t>
            </a:r>
            <a:r>
              <a:rPr dirty="0" sz="1100">
                <a:latin typeface="Tahoma"/>
                <a:cs typeface="Tahoma"/>
              </a:rPr>
              <a:t>PID</a:t>
            </a:r>
            <a:r>
              <a:rPr dirty="0" sz="1100" spc="-20">
                <a:latin typeface="黑体"/>
                <a:cs typeface="黑体"/>
              </a:rPr>
              <a:t>控</a:t>
            </a:r>
            <a:r>
              <a:rPr dirty="0" sz="1100" spc="-50">
                <a:latin typeface="黑体"/>
                <a:cs typeface="黑体"/>
              </a:rPr>
              <a:t>制</a:t>
            </a:r>
            <a:endParaRPr sz="1100">
              <a:latin typeface="黑体"/>
              <a:cs typeface="黑体"/>
            </a:endParaRPr>
          </a:p>
          <a:p>
            <a:pPr marL="424815" indent="-139700">
              <a:lnSpc>
                <a:spcPct val="100000"/>
              </a:lnSpc>
              <a:spcBef>
                <a:spcPts val="334"/>
              </a:spcBef>
              <a:buSzPct val="90909"/>
              <a:buChar char="✓"/>
              <a:tabLst>
                <a:tab pos="424815" algn="l"/>
              </a:tabLst>
            </a:pPr>
            <a:r>
              <a:rPr dirty="0" sz="1100" spc="-20">
                <a:latin typeface="黑体"/>
                <a:cs typeface="黑体"/>
              </a:rPr>
              <a:t>无</a:t>
            </a:r>
            <a:r>
              <a:rPr dirty="0" sz="1100" spc="-20">
                <a:latin typeface="黑体"/>
                <a:cs typeface="黑体"/>
              </a:rPr>
              <a:t>感</a:t>
            </a:r>
            <a:r>
              <a:rPr dirty="0" sz="1100" spc="-20">
                <a:latin typeface="黑体"/>
                <a:cs typeface="黑体"/>
              </a:rPr>
              <a:t>无</a:t>
            </a:r>
            <a:r>
              <a:rPr dirty="0" sz="1100" spc="-20">
                <a:latin typeface="黑体"/>
                <a:cs typeface="黑体"/>
              </a:rPr>
              <a:t>刷</a:t>
            </a:r>
            <a:r>
              <a:rPr dirty="0" sz="1100" spc="-20">
                <a:latin typeface="黑体"/>
                <a:cs typeface="黑体"/>
              </a:rPr>
              <a:t>电</a:t>
            </a:r>
            <a:r>
              <a:rPr dirty="0" sz="1100" spc="-20">
                <a:latin typeface="黑体"/>
                <a:cs typeface="黑体"/>
              </a:rPr>
              <a:t>机</a:t>
            </a:r>
            <a:r>
              <a:rPr dirty="0" sz="1100" spc="-20">
                <a:latin typeface="黑体"/>
                <a:cs typeface="黑体"/>
              </a:rPr>
              <a:t>驱</a:t>
            </a:r>
            <a:r>
              <a:rPr dirty="0" sz="1100" spc="-50">
                <a:latin typeface="黑体"/>
                <a:cs typeface="黑体"/>
              </a:rPr>
              <a:t>动</a:t>
            </a:r>
            <a:endParaRPr sz="1100">
              <a:latin typeface="黑体"/>
              <a:cs typeface="黑体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68726" y="1052741"/>
            <a:ext cx="65265" cy="6526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68726" y="1262773"/>
            <a:ext cx="65265" cy="6526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68726" y="1472806"/>
            <a:ext cx="65265" cy="6526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68726" y="1682838"/>
            <a:ext cx="65265" cy="65265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2917637" y="715477"/>
            <a:ext cx="2004695" cy="107569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>
                <a:latin typeface="黑体"/>
                <a:cs typeface="黑体"/>
              </a:rPr>
              <a:t>未</a:t>
            </a:r>
            <a:r>
              <a:rPr dirty="0" sz="1100">
                <a:latin typeface="黑体"/>
                <a:cs typeface="黑体"/>
              </a:rPr>
              <a:t>来</a:t>
            </a:r>
            <a:r>
              <a:rPr dirty="0" sz="1100">
                <a:latin typeface="黑体"/>
                <a:cs typeface="黑体"/>
              </a:rPr>
              <a:t>改</a:t>
            </a:r>
            <a:r>
              <a:rPr dirty="0" sz="1100">
                <a:latin typeface="黑体"/>
                <a:cs typeface="黑体"/>
              </a:rPr>
              <a:t>进</a:t>
            </a:r>
            <a:r>
              <a:rPr dirty="0" sz="1100">
                <a:latin typeface="黑体"/>
                <a:cs typeface="黑体"/>
              </a:rPr>
              <a:t>方</a:t>
            </a:r>
            <a:r>
              <a:rPr dirty="0" sz="1100" spc="-45">
                <a:latin typeface="黑体"/>
                <a:cs typeface="黑体"/>
              </a:rPr>
              <a:t>向：</a:t>
            </a:r>
            <a:endParaRPr sz="1100">
              <a:latin typeface="黑体"/>
              <a:cs typeface="黑体"/>
            </a:endParaRPr>
          </a:p>
          <a:p>
            <a:pPr marL="285115" marR="5080">
              <a:lnSpc>
                <a:spcPct val="125299"/>
              </a:lnSpc>
            </a:pPr>
            <a:r>
              <a:rPr dirty="0" sz="1100" spc="-20">
                <a:latin typeface="黑体"/>
                <a:cs typeface="黑体"/>
              </a:rPr>
              <a:t>优</a:t>
            </a:r>
            <a:r>
              <a:rPr dirty="0" sz="1100" spc="-20">
                <a:latin typeface="黑体"/>
                <a:cs typeface="黑体"/>
              </a:rPr>
              <a:t>化</a:t>
            </a:r>
            <a:r>
              <a:rPr dirty="0" sz="1100" spc="-20">
                <a:latin typeface="黑体"/>
                <a:cs typeface="黑体"/>
              </a:rPr>
              <a:t>启</a:t>
            </a:r>
            <a:r>
              <a:rPr dirty="0" sz="1100" spc="-20">
                <a:latin typeface="黑体"/>
                <a:cs typeface="黑体"/>
              </a:rPr>
              <a:t>动</a:t>
            </a:r>
            <a:r>
              <a:rPr dirty="0" sz="1100" spc="-20">
                <a:latin typeface="黑体"/>
                <a:cs typeface="黑体"/>
              </a:rPr>
              <a:t>算</a:t>
            </a:r>
            <a:r>
              <a:rPr dirty="0" sz="1100" spc="-20">
                <a:latin typeface="黑体"/>
                <a:cs typeface="黑体"/>
              </a:rPr>
              <a:t>法</a:t>
            </a:r>
            <a:r>
              <a:rPr dirty="0" sz="1100" spc="-20">
                <a:latin typeface="黑体"/>
                <a:cs typeface="黑体"/>
              </a:rPr>
              <a:t>（</a:t>
            </a:r>
            <a:r>
              <a:rPr dirty="0" sz="1100" spc="-20">
                <a:latin typeface="黑体"/>
                <a:cs typeface="黑体"/>
              </a:rPr>
              <a:t>正</a:t>
            </a:r>
            <a:r>
              <a:rPr dirty="0" sz="1100" spc="-20">
                <a:latin typeface="黑体"/>
                <a:cs typeface="黑体"/>
              </a:rPr>
              <a:t>弦</a:t>
            </a:r>
            <a:r>
              <a:rPr dirty="0" sz="1100" spc="-20">
                <a:latin typeface="黑体"/>
                <a:cs typeface="黑体"/>
              </a:rPr>
              <a:t>启</a:t>
            </a:r>
            <a:r>
              <a:rPr dirty="0" sz="1100" spc="-20">
                <a:latin typeface="黑体"/>
                <a:cs typeface="黑体"/>
              </a:rPr>
              <a:t>动</a:t>
            </a:r>
            <a:r>
              <a:rPr dirty="0" sz="1100" spc="-50">
                <a:latin typeface="黑体"/>
                <a:cs typeface="黑体"/>
              </a:rPr>
              <a:t>）</a:t>
            </a:r>
            <a:r>
              <a:rPr dirty="0" sz="1100" spc="-20">
                <a:latin typeface="黑体"/>
                <a:cs typeface="黑体"/>
              </a:rPr>
              <a:t>改</a:t>
            </a:r>
            <a:r>
              <a:rPr dirty="0" sz="1100" spc="-20">
                <a:latin typeface="黑体"/>
                <a:cs typeface="黑体"/>
              </a:rPr>
              <a:t>进</a:t>
            </a:r>
            <a:r>
              <a:rPr dirty="0" sz="1100" spc="-20">
                <a:latin typeface="黑体"/>
                <a:cs typeface="黑体"/>
              </a:rPr>
              <a:t>滤</a:t>
            </a:r>
            <a:r>
              <a:rPr dirty="0" sz="1100" spc="-20">
                <a:latin typeface="黑体"/>
                <a:cs typeface="黑体"/>
              </a:rPr>
              <a:t>波</a:t>
            </a:r>
            <a:r>
              <a:rPr dirty="0" sz="1100" spc="-20">
                <a:latin typeface="黑体"/>
                <a:cs typeface="黑体"/>
              </a:rPr>
              <a:t>算</a:t>
            </a:r>
            <a:r>
              <a:rPr dirty="0" sz="1100" spc="-20">
                <a:latin typeface="黑体"/>
                <a:cs typeface="黑体"/>
              </a:rPr>
              <a:t>法</a:t>
            </a:r>
            <a:r>
              <a:rPr dirty="0" sz="1100" spc="-10">
                <a:latin typeface="黑体"/>
                <a:cs typeface="黑体"/>
              </a:rPr>
              <a:t>（</a:t>
            </a:r>
            <a:r>
              <a:rPr dirty="0" sz="1100" spc="-10">
                <a:latin typeface="Tahoma"/>
                <a:cs typeface="Tahoma"/>
              </a:rPr>
              <a:t>EKF/UKF</a:t>
            </a:r>
            <a:r>
              <a:rPr dirty="0" sz="1100" spc="-10">
                <a:latin typeface="黑体"/>
                <a:cs typeface="黑体"/>
              </a:rPr>
              <a:t>）</a:t>
            </a:r>
            <a:r>
              <a:rPr dirty="0" sz="1100" spc="-20">
                <a:latin typeface="黑体"/>
                <a:cs typeface="黑体"/>
              </a:rPr>
              <a:t>简</a:t>
            </a:r>
            <a:r>
              <a:rPr dirty="0" sz="1100" spc="-20">
                <a:latin typeface="黑体"/>
                <a:cs typeface="黑体"/>
              </a:rPr>
              <a:t>化</a:t>
            </a:r>
            <a:r>
              <a:rPr dirty="0" sz="1100" spc="-20">
                <a:latin typeface="黑体"/>
                <a:cs typeface="黑体"/>
              </a:rPr>
              <a:t>过</a:t>
            </a:r>
            <a:r>
              <a:rPr dirty="0" sz="1100" spc="-20">
                <a:latin typeface="黑体"/>
                <a:cs typeface="黑体"/>
              </a:rPr>
              <a:t>零</a:t>
            </a:r>
            <a:r>
              <a:rPr dirty="0" sz="1100" spc="-20">
                <a:latin typeface="黑体"/>
                <a:cs typeface="黑体"/>
              </a:rPr>
              <a:t>检</a:t>
            </a:r>
            <a:r>
              <a:rPr dirty="0" sz="1100" spc="-20">
                <a:latin typeface="黑体"/>
                <a:cs typeface="黑体"/>
              </a:rPr>
              <a:t>测</a:t>
            </a:r>
            <a:r>
              <a:rPr dirty="0" sz="1100" spc="-20">
                <a:latin typeface="黑体"/>
                <a:cs typeface="黑体"/>
              </a:rPr>
              <a:t>电</a:t>
            </a:r>
            <a:r>
              <a:rPr dirty="0" sz="1100" spc="-50">
                <a:latin typeface="黑体"/>
                <a:cs typeface="黑体"/>
              </a:rPr>
              <a:t>路</a:t>
            </a:r>
            <a:endParaRPr sz="1100">
              <a:latin typeface="黑体"/>
              <a:cs typeface="黑体"/>
            </a:endParaRPr>
          </a:p>
          <a:p>
            <a:pPr marL="285115">
              <a:lnSpc>
                <a:spcPct val="100000"/>
              </a:lnSpc>
              <a:spcBef>
                <a:spcPts val="334"/>
              </a:spcBef>
            </a:pPr>
            <a:r>
              <a:rPr dirty="0" sz="1100" spc="-20">
                <a:latin typeface="黑体"/>
                <a:cs typeface="黑体"/>
              </a:rPr>
              <a:t>增</a:t>
            </a:r>
            <a:r>
              <a:rPr dirty="0" sz="1100" spc="-20">
                <a:latin typeface="黑体"/>
                <a:cs typeface="黑体"/>
              </a:rPr>
              <a:t>强</a:t>
            </a:r>
            <a:r>
              <a:rPr dirty="0" sz="1100" spc="-20">
                <a:latin typeface="黑体"/>
                <a:cs typeface="黑体"/>
              </a:rPr>
              <a:t>环</a:t>
            </a:r>
            <a:r>
              <a:rPr dirty="0" sz="1100" spc="-20">
                <a:latin typeface="黑体"/>
                <a:cs typeface="黑体"/>
              </a:rPr>
              <a:t>境</a:t>
            </a:r>
            <a:r>
              <a:rPr dirty="0" sz="1100" spc="-20">
                <a:latin typeface="黑体"/>
                <a:cs typeface="黑体"/>
              </a:rPr>
              <a:t>适</a:t>
            </a:r>
            <a:r>
              <a:rPr dirty="0" sz="1100" spc="-20">
                <a:latin typeface="黑体"/>
                <a:cs typeface="黑体"/>
              </a:rPr>
              <a:t>应</a:t>
            </a:r>
            <a:r>
              <a:rPr dirty="0" sz="1100" spc="-20">
                <a:latin typeface="黑体"/>
                <a:cs typeface="黑体"/>
              </a:rPr>
              <a:t>能</a:t>
            </a:r>
            <a:r>
              <a:rPr dirty="0" sz="1100" spc="-50">
                <a:latin typeface="黑体"/>
                <a:cs typeface="黑体"/>
              </a:rPr>
              <a:t>力</a:t>
            </a:r>
            <a:endParaRPr sz="1100">
              <a:latin typeface="黑体"/>
              <a:cs typeface="黑体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5" name="object 15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2403606" y="2332510"/>
            <a:ext cx="940435" cy="207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400" spc="65">
                <a:solidFill>
                  <a:srgbClr val="0000FF"/>
                </a:solidFill>
                <a:latin typeface="黑体"/>
                <a:cs typeface="黑体"/>
              </a:rPr>
              <a:t>谢</a:t>
            </a:r>
            <a:r>
              <a:rPr dirty="0" sz="1400" spc="65">
                <a:solidFill>
                  <a:srgbClr val="0000FF"/>
                </a:solidFill>
                <a:latin typeface="黑体"/>
                <a:cs typeface="黑体"/>
              </a:rPr>
              <a:t>谢</a:t>
            </a:r>
            <a:r>
              <a:rPr dirty="0" sz="1400" spc="65">
                <a:solidFill>
                  <a:srgbClr val="0000FF"/>
                </a:solidFill>
                <a:latin typeface="黑体"/>
                <a:cs typeface="黑体"/>
              </a:rPr>
              <a:t>聆</a:t>
            </a:r>
            <a:r>
              <a:rPr dirty="0" sz="1400" spc="-70">
                <a:solidFill>
                  <a:srgbClr val="0000FF"/>
                </a:solidFill>
                <a:latin typeface="黑体"/>
                <a:cs typeface="黑体"/>
              </a:rPr>
              <a:t>听！</a:t>
            </a:r>
            <a:endParaRPr sz="1400">
              <a:latin typeface="黑体"/>
              <a:cs typeface="黑体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pc="-30"/>
              <a:t>顾云豪</a:t>
            </a:r>
          </a:p>
        </p:txBody>
      </p:sp>
      <p:sp>
        <p:nvSpPr>
          <p:cNvPr id="20" name="object 20" descr=""/>
          <p:cNvSpPr txBox="1"/>
          <p:nvPr/>
        </p:nvSpPr>
        <p:spPr>
          <a:xfrm>
            <a:off x="2285961" y="3128314"/>
            <a:ext cx="1188085" cy="109855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600" spc="-20">
                <a:solidFill>
                  <a:srgbClr val="FFFFFF"/>
                </a:solidFill>
                <a:latin typeface="黑体"/>
                <a:cs typeface="黑体"/>
                <a:hlinkClick r:id="rId8" action="ppaction://hlinksldjump"/>
              </a:rPr>
              <a:t>基于</a:t>
            </a:r>
            <a:r>
              <a:rPr dirty="0" sz="600">
                <a:solidFill>
                  <a:srgbClr val="FFFFFF"/>
                </a:solidFill>
                <a:latin typeface="Century Gothic"/>
                <a:cs typeface="Century Gothic"/>
                <a:hlinkClick r:id="rId8" action="ppaction://hlinksldjump"/>
              </a:rPr>
              <a:t>RISC-V</a:t>
            </a:r>
            <a:r>
              <a:rPr dirty="0" sz="600" spc="-20">
                <a:solidFill>
                  <a:srgbClr val="FFFFFF"/>
                </a:solidFill>
                <a:latin typeface="黑体"/>
                <a:cs typeface="黑体"/>
                <a:hlinkClick r:id="rId8" action="ppaction://hlinksldjump"/>
              </a:rPr>
              <a:t>的智能气垫</a:t>
            </a:r>
            <a:r>
              <a:rPr dirty="0" sz="600" spc="-10">
                <a:solidFill>
                  <a:srgbClr val="FFFFFF"/>
                </a:solidFill>
                <a:latin typeface="黑体"/>
                <a:cs typeface="黑体"/>
                <a:hlinkClick r:id="rId8" action="ppaction://hlinksldjump"/>
              </a:rPr>
              <a:t>船</a:t>
            </a:r>
            <a:r>
              <a:rPr dirty="0" sz="600" spc="-10">
                <a:solidFill>
                  <a:srgbClr val="FFFFFF"/>
                </a:solidFill>
                <a:latin typeface="黑体"/>
                <a:cs typeface="黑体"/>
                <a:hlinkClick r:id="rId8" action="ppaction://hlinksldjump"/>
              </a:rPr>
              <a:t>控</a:t>
            </a:r>
            <a:r>
              <a:rPr dirty="0" sz="600" spc="-20">
                <a:solidFill>
                  <a:srgbClr val="FFFFFF"/>
                </a:solidFill>
                <a:latin typeface="黑体"/>
                <a:cs typeface="黑体"/>
                <a:hlinkClick r:id="rId8" action="ppaction://hlinksldjump"/>
              </a:rPr>
              <a:t>制</a:t>
            </a:r>
            <a:r>
              <a:rPr dirty="0" sz="600" spc="-10">
                <a:solidFill>
                  <a:srgbClr val="FFFFFF"/>
                </a:solidFill>
                <a:latin typeface="黑体"/>
                <a:cs typeface="黑体"/>
                <a:hlinkClick r:id="rId8" action="ppaction://hlinksldjump"/>
              </a:rPr>
              <a:t>系</a:t>
            </a:r>
            <a:r>
              <a:rPr dirty="0" sz="600" spc="-50">
                <a:solidFill>
                  <a:srgbClr val="FFFFFF"/>
                </a:solidFill>
                <a:latin typeface="黑体"/>
                <a:cs typeface="黑体"/>
                <a:hlinkClick r:id="rId8" action="ppaction://hlinksldjump"/>
              </a:rPr>
              <a:t>统</a:t>
            </a:r>
            <a:endParaRPr sz="600">
              <a:latin typeface="黑体"/>
              <a:cs typeface="黑体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2026</a:t>
            </a:r>
            <a:r>
              <a:rPr dirty="0" spc="20"/>
              <a:t> </a:t>
            </a:r>
            <a:r>
              <a:rPr dirty="0">
                <a:latin typeface="黑体"/>
                <a:cs typeface="黑体"/>
              </a:rPr>
              <a:t>年</a:t>
            </a:r>
            <a:r>
              <a:rPr dirty="0" spc="40">
                <a:latin typeface="Times New Roman"/>
                <a:cs typeface="Times New Roman"/>
              </a:rPr>
              <a:t> </a:t>
            </a:r>
            <a:r>
              <a:rPr dirty="0"/>
              <a:t>1</a:t>
            </a:r>
            <a:r>
              <a:rPr dirty="0" spc="20"/>
              <a:t> </a:t>
            </a:r>
            <a:r>
              <a:rPr dirty="0">
                <a:latin typeface="黑体"/>
                <a:cs typeface="黑体"/>
              </a:rPr>
              <a:t>月</a:t>
            </a:r>
            <a:r>
              <a:rPr dirty="0" spc="40">
                <a:latin typeface="Times New Roman"/>
                <a:cs typeface="Times New Roman"/>
              </a:rPr>
              <a:t> </a:t>
            </a:r>
            <a:r>
              <a:rPr dirty="0"/>
              <a:t>4</a:t>
            </a:r>
            <a:r>
              <a:rPr dirty="0" spc="20"/>
              <a:t> </a:t>
            </a:r>
            <a:r>
              <a:rPr dirty="0" spc="-50">
                <a:latin typeface="黑体"/>
                <a:cs typeface="黑体"/>
              </a:rPr>
              <a:t>日</a:t>
            </a: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25"/>
              <a:t>8</a:t>
            </a:fld>
            <a:r>
              <a:rPr dirty="0" spc="-65"/>
              <a:t> </a:t>
            </a:r>
            <a:r>
              <a:rPr dirty="0" spc="55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顾云豪</dc:creator>
  <dc:title>基于RISC-V的智能气垫船控制系统 - 技术架构与实现</dc:title>
  <dcterms:created xsi:type="dcterms:W3CDTF">2026-01-04T16:05:03Z</dcterms:created>
  <dcterms:modified xsi:type="dcterms:W3CDTF">2026-01-04T16:05:03Z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2026-01-04T00:00:00Z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2026-01-04T00:00:00Z</vt:filetime>
  </property>
</Properties>
</file>